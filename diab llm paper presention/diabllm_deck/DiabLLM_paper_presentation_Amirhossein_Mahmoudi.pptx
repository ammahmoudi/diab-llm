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Observed CGM</c:v>
                </c:pt>
              </c:strCache>
            </c:strRef>
          </c:tx>
          <c:spPr>
            <a:solidFill>
              <a:srgbClr val="007C83"/>
            </a:solidFill>
            <a:ln w="31750" cap="flat">
              <a:solidFill>
                <a:srgbClr val="007C8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7C83"/>
              </a:solidFill>
              <a:ln w="9525" cap="flat">
                <a:solidFill>
                  <a:srgbClr val="007C83"/>
                </a:solidFill>
                <a:prstDash val="solid"/>
                <a:round/>
              </a:ln>
              <a:effectLst/>
            </c:spPr>
          </c:marker>
          <c:cat>
            <c:multiLvlStrRef>
              <c:f>Sheet1!$A$2:$A$7</c:f>
              <c:multiLvlStrCache>
                <c:ptCount val="6"/>
                <c:lvl>
                  <c:pt idx="0">
                    <c:v>-30</c:v>
                  </c:pt>
                  <c:pt idx="1">
                    <c:v>-25</c:v>
                  </c:pt>
                  <c:pt idx="2">
                    <c:v>-20</c:v>
                  </c:pt>
                  <c:pt idx="3">
                    <c:v>-15</c:v>
                  </c:pt>
                  <c:pt idx="4">
                    <c:v>-10</c:v>
                  </c:pt>
                  <c:pt idx="5">
                    <c:v>-5</c:v>
                  </c:pt>
                </c:lvl>
              </c:multiLvlStrCache>
            </c:multiLvlStrRef>
          </c:cat>
          <c:val>
            <c:numRef>
              <c:f>Sheet1!$B$2:$B$7</c:f>
              <c:numCache>
                <c:formatCode>General</c:formatCode>
                <c:ptCount val="6"/>
                <c:pt idx="0">
                  <c:v>155</c:v>
                </c:pt>
                <c:pt idx="1">
                  <c:v>149</c:v>
                </c:pt>
                <c:pt idx="2">
                  <c:v>142</c:v>
                </c:pt>
                <c:pt idx="3">
                  <c:v>151</c:v>
                </c:pt>
                <c:pt idx="4">
                  <c:v>160</c:v>
                </c:pt>
                <c:pt idx="5">
                  <c:v>166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2647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DE5EA"/>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BG (mg/dL)</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2647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Predicted BG</c:v>
                </c:pt>
              </c:strCache>
            </c:strRef>
          </c:tx>
          <c:spPr>
            <a:solidFill>
              <a:srgbClr val="E76F51"/>
            </a:solidFill>
            <a:ln w="317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76F51"/>
              </a:solidFill>
              <a:ln w="9525" cap="flat">
                <a:solidFill>
                  <a:srgbClr val="E76F51"/>
                </a:solidFill>
                <a:prstDash val="solid"/>
                <a:round/>
              </a:ln>
              <a:effectLst/>
            </c:spPr>
          </c:marker>
          <c:cat>
            <c:multiLvlStrRef>
              <c:f>Sheet1!$A$2:$A$10</c:f>
              <c:multiLvlStrCache>
                <c:ptCount val="9"/>
                <c:lvl>
                  <c:pt idx="0">
                    <c:v>+5</c:v>
                  </c:pt>
                  <c:pt idx="1">
                    <c:v>+10</c:v>
                  </c:pt>
                  <c:pt idx="2">
                    <c:v>+15</c:v>
                  </c:pt>
                  <c:pt idx="3">
                    <c:v>+20</c:v>
                  </c:pt>
                  <c:pt idx="4">
                    <c:v>+25</c:v>
                  </c:pt>
                  <c:pt idx="5">
                    <c:v>+30</c:v>
                  </c:pt>
                  <c:pt idx="6">
                    <c:v>+35</c:v>
                  </c:pt>
                  <c:pt idx="7">
                    <c:v>+40</c:v>
                  </c:pt>
                  <c:pt idx="8">
                    <c:v>+45</c:v>
                  </c:pt>
                </c:lvl>
              </c:multiLvlStrCache>
            </c:multiLvlStrRef>
          </c:cat>
          <c:val>
            <c:numRef>
              <c:f>Sheet1!$B$2:$B$10</c:f>
              <c:numCache>
                <c:formatCode>General</c:formatCode>
                <c:ptCount val="9"/>
                <c:pt idx="0">
                  <c:v>171</c:v>
                </c:pt>
                <c:pt idx="1">
                  <c:v>178</c:v>
                </c:pt>
                <c:pt idx="2">
                  <c:v>186</c:v>
                </c:pt>
                <c:pt idx="3">
                  <c:v>193</c:v>
                </c:pt>
                <c:pt idx="4">
                  <c:v>201</c:v>
                </c:pt>
                <c:pt idx="5">
                  <c:v>207</c:v>
                </c:pt>
                <c:pt idx="6">
                  <c:v>211</c:v>
                </c:pt>
                <c:pt idx="7">
                  <c:v>214</c:v>
                </c:pt>
                <c:pt idx="8">
                  <c:v>218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2647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DE5EA"/>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BG (mg/dL)</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2647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Zero-shot</c:v>
                </c:pt>
              </c:strCache>
            </c:strRef>
          </c:tx>
          <c:spPr>
            <a:solidFill>
              <a:srgbClr val="9CB6C3"/>
            </a:solidFill>
            <a:effectLst/>
          </c:spPr>
          <c:invertIfNegative val="0"/>
          <c:dLbls>
            <c:numFmt formatCode="0.00" sourceLinked="0"/>
            <c:txPr>
              <a:bodyPr/>
              <a:lstStyle/>
              <a:p>
                <a:pPr>
                  <a:defRPr b="0" i="0" strike="noStrike" sz="1200" u="none">
                    <a:solidFill>
                      <a:srgbClr val="14213D"/>
                    </a:solidFill>
                    <a:latin typeface="Arial"/>
                  </a:defRPr>
                </a:pPr>
              </a:p>
            </c:txPr>
            <c:showLegendKey val="0"/>
            <c:showVal val="1"/>
            <c:showCatName val="0"/>
            <c:showSerName val="0"/>
            <c:showPercent val="0"/>
            <c:showBubbleSize val="0"/>
            <c:showLeaderLines val="0"/>
          </c:dLbls>
          <c:cat>
            <c:multiLvlStrRef>
              <c:f>Sheet1!$A$2:$A$3</c:f>
              <c:multiLvlStrCache>
                <c:ptCount val="2"/>
                <c:lvl>
                  <c:pt idx="0">
                    <c:v>Time-LLM
LLaMA-8</c:v>
                  </c:pt>
                  <c:pt idx="1">
                    <c:v>Chronos
Base</c:v>
                  </c:pt>
                </c:lvl>
              </c:multiLvlStrCache>
            </c:multiLvlStrRef>
          </c:cat>
          <c:val>
            <c:numRef>
              <c:f>Sheet1!$B$2:$B$3</c:f>
              <c:numCache>
                <c:formatCode>General</c:formatCode>
                <c:ptCount val="2"/>
                <c:pt idx="0">
                  <c:v>24.44</c:v>
                </c:pt>
                <c:pt idx="1">
                  <c:v>22.29</c:v>
                </c:pt>
              </c:numCache>
            </c:numRef>
          </c:val>
        </c:ser>
        <c:ser>
          <c:idx val="1"/>
          <c:order val="1"/>
          <c:tx>
            <c:strRef>
              <c:f>Sheet1!$C$1</c:f>
              <c:strCache>
                <c:ptCount val="1"/>
                <c:pt idx="0">
                  <c:v>Fine-tuned</c:v>
                </c:pt>
              </c:strCache>
            </c:strRef>
          </c:tx>
          <c:spPr>
            <a:solidFill>
              <a:srgbClr val="E76F51"/>
            </a:solidFill>
            <a:effectLst/>
          </c:spPr>
          <c:invertIfNegative val="0"/>
          <c:dLbls>
            <c:numFmt formatCode="0.00" sourceLinked="0"/>
            <c:txPr>
              <a:bodyPr/>
              <a:lstStyle/>
              <a:p>
                <a:pPr>
                  <a:defRPr b="0" i="0" strike="noStrike" sz="1200" u="none">
                    <a:solidFill>
                      <a:srgbClr val="14213D"/>
                    </a:solidFill>
                    <a:latin typeface="Arial"/>
                  </a:defRPr>
                </a:pPr>
              </a:p>
            </c:txPr>
            <c:showLegendKey val="0"/>
            <c:showVal val="1"/>
            <c:showCatName val="0"/>
            <c:showSerName val="0"/>
            <c:showPercent val="0"/>
            <c:showBubbleSize val="0"/>
            <c:showLeaderLines val="0"/>
          </c:dLbls>
          <c:cat>
            <c:multiLvlStrRef>
              <c:f>Sheet1!$A$2:$A$3</c:f>
              <c:multiLvlStrCache>
                <c:ptCount val="2"/>
                <c:lvl>
                  <c:pt idx="0">
                    <c:v>Time-LLM
LLaMA-8</c:v>
                  </c:pt>
                  <c:pt idx="1">
                    <c:v>Chronos
Base</c:v>
                  </c:pt>
                </c:lvl>
              </c:multiLvlStrCache>
            </c:multiLvlStrRef>
          </c:cat>
          <c:val>
            <c:numRef>
              <c:f>Sheet1!$C$2:$C$3</c:f>
              <c:numCache>
                <c:formatCode>General</c:formatCode>
                <c:ptCount val="2"/>
                <c:pt idx="0">
                  <c:v>16.1</c:v>
                </c:pt>
                <c:pt idx="1">
                  <c:v>20.89</c:v>
                </c:pt>
              </c:numCache>
            </c:numRef>
          </c:val>
        </c:ser>
        <c:dLbls>
          <c:numFmt formatCode="0.00" sourceLinked="0"/>
          <c:txPr>
            <a:bodyPr/>
            <a:lstStyle/>
            <a:p>
              <a:pPr>
                <a:defRPr b="0" i="0" strike="noStrike" sz="1200" u="none">
                  <a:solidFill>
                    <a:srgbClr val="14213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4213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DE5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2647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Average RMSE</c:v>
                </c:pt>
              </c:strCache>
            </c:strRef>
          </c:tx>
          <c:spPr>
            <a:solidFill>
              <a:srgbClr val="007C83"/>
            </a:solidFill>
            <a:effectLst/>
          </c:spPr>
          <c:invertIfNegative val="0"/>
          <c:dLbls>
            <c:numFmt formatCode="0.00" sourceLinked="0"/>
            <c:txPr>
              <a:bodyPr/>
              <a:lstStyle/>
              <a:p>
                <a:pPr>
                  <a:defRPr b="0" i="0" strike="noStrike" sz="1200" u="none">
                    <a:solidFill>
                      <a:srgbClr val="14213D"/>
                    </a:solidFill>
                    <a:latin typeface="Arial"/>
                  </a:defRPr>
                </a:pPr>
              </a:p>
            </c:txPr>
            <c:showLegendKey val="0"/>
            <c:showVal val="1"/>
            <c:showCatName val="0"/>
            <c:showSerName val="0"/>
            <c:showPercent val="0"/>
            <c:showBubbleSize val="0"/>
            <c:showLeaderLines val="0"/>
          </c:dLbls>
          <c:cat>
            <c:multiLvlStrRef>
              <c:f>Sheet1!$A$2:$A$6</c:f>
              <c:multiLvlStrCache>
                <c:ptCount val="5"/>
                <c:lvl>
                  <c:pt idx="0">
                    <c:v>Time-LLM
LLaMA-8</c:v>
                  </c:pt>
                  <c:pt idx="1">
                    <c:v>Time-LLM
GPT-2</c:v>
                  </c:pt>
                  <c:pt idx="2">
                    <c:v>Deep RL</c:v>
                  </c:pt>
                  <c:pt idx="3">
                    <c:v>Chronos
Base</c:v>
                  </c:pt>
                  <c:pt idx="4">
                    <c:v>LSTM +
WaveNet + GRU</c:v>
                  </c:pt>
                </c:lvl>
              </c:multiLvlStrCache>
            </c:multiLvlStrRef>
          </c:cat>
          <c:val>
            <c:numRef>
              <c:f>Sheet1!$B$2:$B$6</c:f>
              <c:numCache>
                <c:formatCode>General</c:formatCode>
                <c:ptCount val="5"/>
                <c:pt idx="0">
                  <c:v>16.1</c:v>
                </c:pt>
                <c:pt idx="1">
                  <c:v>16.34</c:v>
                </c:pt>
                <c:pt idx="2">
                  <c:v>18.32</c:v>
                </c:pt>
                <c:pt idx="3">
                  <c:v>20.89</c:v>
                </c:pt>
                <c:pt idx="4">
                  <c:v>21.9</c:v>
                </c:pt>
              </c:numCache>
            </c:numRef>
          </c:val>
        </c:ser>
        <c:dLbls>
          <c:numFmt formatCode="0.00" sourceLinked="0"/>
          <c:txPr>
            <a:bodyPr/>
            <a:lstStyle/>
            <a:p>
              <a:pPr>
                <a:defRPr b="0" i="0" strike="noStrike" sz="1200" u="none">
                  <a:solidFill>
                    <a:srgbClr val="14213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4213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DE5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2647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Noisy input</c:v>
                </c:pt>
              </c:strCache>
            </c:strRef>
          </c:tx>
          <c:spPr>
            <a:solidFill>
              <a:srgbClr val="C94747"/>
            </a:solidFill>
            <a:effectLst/>
          </c:spPr>
          <c:invertIfNegative val="0"/>
          <c:dLbls>
            <c:numFmt formatCode="0.0" sourceLinked="0"/>
            <c:txPr>
              <a:bodyPr/>
              <a:lstStyle/>
              <a:p>
                <a:pPr>
                  <a:defRPr b="0" i="0" strike="noStrike" sz="1200" u="none">
                    <a:solidFill>
                      <a:srgbClr val="14213D"/>
                    </a:solidFill>
                    <a:latin typeface="Arial"/>
                  </a:defRPr>
                </a:pPr>
              </a:p>
            </c:txPr>
            <c:showLegendKey val="0"/>
            <c:showVal val="1"/>
            <c:showCatName val="0"/>
            <c:showSerName val="0"/>
            <c:showPercent val="0"/>
            <c:showBubbleSize val="0"/>
            <c:showLeaderLines val="0"/>
          </c:dLbls>
          <c:cat>
            <c:multiLvlStrRef>
              <c:f>Sheet1!$A$2:$A$3</c:f>
              <c:multiLvlStrCache>
                <c:ptCount val="2"/>
                <c:lvl>
                  <c:pt idx="0">
                    <c:v>Chronos Base</c:v>
                  </c:pt>
                  <c:pt idx="1">
                    <c:v>Time-LLM LLaMA-8</c:v>
                  </c:pt>
                </c:lvl>
              </c:multiLvlStrCache>
            </c:multiLvlStrRef>
          </c:cat>
          <c:val>
            <c:numRef>
              <c:f>Sheet1!$B$2:$B$3</c:f>
              <c:numCache>
                <c:formatCode>General</c:formatCode>
                <c:ptCount val="2"/>
                <c:pt idx="0">
                  <c:v>47.453</c:v>
                </c:pt>
                <c:pt idx="1">
                  <c:v>51.067</c:v>
                </c:pt>
              </c:numCache>
            </c:numRef>
          </c:val>
        </c:ser>
        <c:ser>
          <c:idx val="1"/>
          <c:order val="1"/>
          <c:tx>
            <c:strRef>
              <c:f>Sheet1!$C$1</c:f>
              <c:strCache>
                <c:ptCount val="1"/>
                <c:pt idx="0">
                  <c:v>After denoising</c:v>
                </c:pt>
              </c:strCache>
            </c:strRef>
          </c:tx>
          <c:spPr>
            <a:solidFill>
              <a:srgbClr val="007C83"/>
            </a:solidFill>
            <a:effectLst/>
          </c:spPr>
          <c:invertIfNegative val="0"/>
          <c:dLbls>
            <c:numFmt formatCode="0.0" sourceLinked="0"/>
            <c:txPr>
              <a:bodyPr/>
              <a:lstStyle/>
              <a:p>
                <a:pPr>
                  <a:defRPr b="0" i="0" strike="noStrike" sz="1200" u="none">
                    <a:solidFill>
                      <a:srgbClr val="14213D"/>
                    </a:solidFill>
                    <a:latin typeface="Arial"/>
                  </a:defRPr>
                </a:pPr>
              </a:p>
            </c:txPr>
            <c:showLegendKey val="0"/>
            <c:showVal val="1"/>
            <c:showCatName val="0"/>
            <c:showSerName val="0"/>
            <c:showPercent val="0"/>
            <c:showBubbleSize val="0"/>
            <c:showLeaderLines val="0"/>
          </c:dLbls>
          <c:cat>
            <c:multiLvlStrRef>
              <c:f>Sheet1!$A$2:$A$3</c:f>
              <c:multiLvlStrCache>
                <c:ptCount val="2"/>
                <c:lvl>
                  <c:pt idx="0">
                    <c:v>Chronos Base</c:v>
                  </c:pt>
                  <c:pt idx="1">
                    <c:v>Time-LLM LLaMA-8</c:v>
                  </c:pt>
                </c:lvl>
              </c:multiLvlStrCache>
            </c:multiLvlStrRef>
          </c:cat>
          <c:val>
            <c:numRef>
              <c:f>Sheet1!$C$2:$C$3</c:f>
              <c:numCache>
                <c:formatCode>General</c:formatCode>
                <c:ptCount val="2"/>
                <c:pt idx="0">
                  <c:v>25.963</c:v>
                </c:pt>
                <c:pt idx="1">
                  <c:v>19.119</c:v>
                </c:pt>
              </c:numCache>
            </c:numRef>
          </c:val>
        </c:ser>
        <c:dLbls>
          <c:numFmt formatCode="0.0" sourceLinked="0"/>
          <c:txPr>
            <a:bodyPr/>
            <a:lstStyle/>
            <a:p>
              <a:pPr>
                <a:defRPr b="0" i="0" strike="noStrike" sz="1200" u="none">
                  <a:solidFill>
                    <a:srgbClr val="14213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4213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DE5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2647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4213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DE5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2647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core idea: this work asks whether language-inspired forecasting architectures can model short-term glucose dynamics from CGM alone. Introduce yourself as Amirhossein Mahmoudi, first author. The talk has three parts: architectural choices, evidence, and what remains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operational task is deliberately constrained: six CGM readings, covering only thirty minutes, must generate six or nine future values. Explain why this matters: short context limits feature engineering, while longer horizons amplify uncertainty. The illustrated trajectory is schematic, not a patient record. Transition: the key design question is how to make language-model machinery accept continuous glucose.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Chronos discretizes the values and trains a language-model architecture to predict the next token. Time-LLM keeps a pretrained language model frozen and learns how to reprogram numerical patches into its embedding space, adding a textual prompt with dataset and input statistics. Emphasize that both are called language-inspired, but only Time-LLM reuses a frozen general-purpose language backbone in this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paper as a structured evaluation. It begins with forecasting, then tests the effect of adaptation, realistic corruption, patient transfer, model compression, and clinical error grids. This helps the audience understand why the later slides are organized as an evidence chain rather than a catalogue of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evidence base without overselling scale. OhioT1DM is the main cohort: twelve adults, eight weeks, sampled every five minutes. D1NAMO is a complementary cohort; seven of nine individuals are used. The study is retrospective and public-data based. Transition to the central experimental finding: adaptation matters more than model size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same thirty-minute horizon, Time-LLM LLaMA 8-layer moves from 24.44 to 16.10 RMSE, while Chronos Base moves from 22.29 to 20.89. The exact percentage differs slightly from the manuscript narrative because this slide computes directly from the table averages. The point is not that zero-shot fails; it is that clinical-domain adaptation is decisive.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absolute result: 16.10 milligrams per deciliter average RMSE for the fine-tuned LLaMA 8-layer Time-LLM. The directly comparable Deep RL and fusion baselines are 18.32 and 21.90. State the caveat visibly: the full article table contains other studies with differing protocols, so this slide selects the comparisons the manuscript identifies as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error-grid results complement RMSE. Time-LLM places 99.58 percent of cohort predictions in Clarke Zone A and 97.15 percent in the SEG None category, compared with 98.43 and 92.94 percent for Chronos. Use careful language: these are retrospective error-grid outcomes, not proof of safety in insulin dosing or prospective clinical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Sensor corruption is simulated with gain and offset calibration error, correlated noise, and missing blocks. The autoencoder reduces average RMSE from 51.067 to 19.119 for Time-LLM and from 47.453 to 25.963 for Chronos. This supports preprocessing as a robustness strategy under the tested simulation, but it does not demonstrate robustness to every real sensor failure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experiment uses patients 570 and 584 to create a compact transfer matrix. Time-LLM changes from 16.81 to 17.63 on patient 570 depending on the training patient, and from 27.23 to 26.63 on patient 584. Chronos also shows small changes. The result is encouraging for transfer, but the scope is only two patients and should not be generalized to a new clinical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teacher is Time-LLM BERT and the student is TinyBERT. Training combines ground-truth regression loss with alignment to the teacher predictions. Across all twelve patients, average RMSE is 20.967 for the teacher and 20.953 for the distilled model. Do not call the student statistically better; the supported conclusion is preservation of accuracy at the reported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payoff of distillation. The student has about one sixth the parameters and disk size, and the reported latency is roughly one hundred sixty-four times lower. However, repeat the boundary on the slide: these measurements substantiate feasibility under simulated constraints; the study did not deploy on a physical pump, phone, or Raspberry 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what the paper does not establish. The datasets are small, CGM is the only input, corruption is simulated, edge results are not from physical deployment, and error grids are retrospective. The proper next step is prospective validation with calibrated uncertainty and real hardware, not simply another leaderboard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three takeaways. First, the two architectures solve the continuous-to-language interface differently. Second, adaptation makes Time-LLM the strongest tested model in this protocol. Third, denoising and distillation move the system toward practical use. The remaining work is prospective clinical and hardware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discussion slide. If asked about architecture details, return to slide three. If asked about clinical readiness, return to slide thirteen. If asked about model efficiency, distinguish training time, the reported inference benchmark, and actual hardware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C"/>
          </a:solidFill>
          <a:ln w="12700">
            <a:solidFill>
              <a:srgbClr val="F7FAFC"/>
            </a:solidFill>
            <a:prstDash val="solid"/>
          </a:ln>
        </p:spPr>
      </p:sp>
      <p:sp>
        <p:nvSpPr>
          <p:cNvPr id="3" name="Text 1"/>
          <p:cNvSpPr/>
          <p:nvPr/>
        </p:nvSpPr>
        <p:spPr>
          <a:xfrm>
            <a:off x="502920" y="6510528"/>
            <a:ext cx="5120640" cy="164592"/>
          </a:xfrm>
          <a:prstGeom prst="rect">
            <a:avLst/>
          </a:prstGeom>
          <a:noFill/>
          <a:ln/>
        </p:spPr>
        <p:txBody>
          <a:bodyPr wrap="square" lIns="0" tIns="0" rIns="0" bIns="0" rtlCol="0" anchor="ctr"/>
          <a:lstStyle/>
          <a:p>
            <a:pPr indent="0" marL="0">
              <a:buNone/>
            </a:pPr>
            <a:r>
              <a:rPr lang="en-US" sz="750" dirty="0">
                <a:solidFill>
                  <a:srgbClr val="64748B"/>
                </a:solidFill>
                <a:latin typeface="Arial" pitchFamily="34" charset="0"/>
                <a:ea typeface="Arial" pitchFamily="34" charset="-122"/>
                <a:cs typeface="Arial" pitchFamily="34" charset="-120"/>
              </a:rPr>
              <a:t>DiabLLM  |  Amirhossein Mahmoudi</a:t>
            </a:r>
            <a:endParaRPr lang="en-US" sz="750" dirty="0"/>
          </a:p>
        </p:txBody>
      </p:sp>
      <p:sp>
        <p:nvSpPr>
          <p:cNvPr id="4" name="Text 2"/>
          <p:cNvSpPr/>
          <p:nvPr/>
        </p:nvSpPr>
        <p:spPr>
          <a:xfrm>
            <a:off x="6675120" y="6510528"/>
            <a:ext cx="4983480" cy="164592"/>
          </a:xfrm>
          <a:prstGeom prst="rect">
            <a:avLst/>
          </a:prstGeom>
          <a:noFill/>
          <a:ln/>
        </p:spPr>
        <p:txBody>
          <a:bodyPr wrap="square" lIns="0" tIns="0" rIns="0" bIns="0" rtlCol="0" anchor="ctr"/>
          <a:lstStyle/>
          <a:p>
            <a:pPr algn="r" indent="0" marL="0">
              <a:buNone/>
            </a:pPr>
            <a:r>
              <a:rPr lang="en-US" sz="750" dirty="0">
                <a:solidFill>
                  <a:srgbClr val="64748B"/>
                </a:solidFill>
                <a:latin typeface="Arial" pitchFamily="34" charset="0"/>
                <a:ea typeface="Arial" pitchFamily="34" charset="-122"/>
                <a:cs typeface="Arial" pitchFamily="34" charset="-120"/>
              </a:rPr>
              <a:t>IEEE JBHI 2026  |  DOI 10.1109/JBHI.2026.3658588</a:t>
            </a:r>
            <a:endParaRPr lang="en-US" sz="750" dirty="0"/>
          </a:p>
        </p:txBody>
      </p:sp>
      <p:sp>
        <p:nvSpPr>
          <p:cNvPr id="25" name="Slide Number Placeholder 0"/>
          <p:cNvSpPr>
            <a:spLocks noGrp="1"/>
          </p:cNvSpPr>
          <p:nvPr>
            <p:ph type="sldNum" sz="quarter" idx="4294967295"/>
          </p:nvPr>
        </p:nvSpPr>
        <p:spPr>
          <a:xfrm>
            <a:off x="11686032" y="20116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6032" y="20116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2" name="Shape 0"/>
          <p:cNvSpPr/>
          <p:nvPr/>
        </p:nvSpPr>
        <p:spPr>
          <a:xfrm rot="1200000">
            <a:off x="7772400" y="-1097280"/>
            <a:ext cx="5303520" cy="5303520"/>
          </a:xfrm>
          <a:prstGeom prst="arc">
            <a:avLst/>
          </a:prstGeom>
          <a:solidFill>
            <a:srgbClr val="007C83">
              <a:alpha val="90000"/>
            </a:srgbClr>
          </a:solidFill>
          <a:ln w="12700">
            <a:solidFill>
              <a:srgbClr val="007C83">
                <a:alpha val="0"/>
              </a:srgbClr>
            </a:solidFill>
            <a:prstDash val="solid"/>
          </a:ln>
        </p:spPr>
      </p:sp>
      <p:sp>
        <p:nvSpPr>
          <p:cNvPr id="3" name="Shape 1"/>
          <p:cNvSpPr/>
          <p:nvPr/>
        </p:nvSpPr>
        <p:spPr>
          <a:xfrm rot="12300000">
            <a:off x="8595360" y="3200400"/>
            <a:ext cx="3931920" cy="3931920"/>
          </a:xfrm>
          <a:prstGeom prst="arc">
            <a:avLst/>
          </a:prstGeom>
          <a:solidFill>
            <a:srgbClr val="E76F51">
              <a:alpha val="90000"/>
            </a:srgbClr>
          </a:solidFill>
          <a:ln w="12700">
            <a:solidFill>
              <a:srgbClr val="E76F51">
                <a:alpha val="0"/>
              </a:srgbClr>
            </a:solidFill>
            <a:prstDash val="solid"/>
          </a:ln>
        </p:spPr>
      </p:sp>
      <p:sp>
        <p:nvSpPr>
          <p:cNvPr id="4" name="Text 2"/>
          <p:cNvSpPr/>
          <p:nvPr/>
        </p:nvSpPr>
        <p:spPr>
          <a:xfrm>
            <a:off x="658368" y="658368"/>
            <a:ext cx="566928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DiabLLM</a:t>
            </a:r>
            <a:endParaRPr lang="en-US" sz="4000" dirty="0"/>
          </a:p>
        </p:txBody>
      </p:sp>
      <p:sp>
        <p:nvSpPr>
          <p:cNvPr id="5" name="Text 3"/>
          <p:cNvSpPr/>
          <p:nvPr/>
        </p:nvSpPr>
        <p:spPr>
          <a:xfrm>
            <a:off x="685800" y="1600200"/>
            <a:ext cx="7315200" cy="1097280"/>
          </a:xfrm>
          <a:prstGeom prst="rect">
            <a:avLst/>
          </a:prstGeom>
          <a:noFill/>
          <a:ln/>
        </p:spPr>
        <p:txBody>
          <a:bodyPr wrap="square" lIns="0" tIns="0" rIns="0" bIns="0" rtlCol="0" anchor="ctr">
            <a:normAutofit/>
          </a:bodyPr>
          <a:lstStyle/>
          <a:p>
            <a:pPr indent="0" marL="0">
              <a:buNone/>
            </a:pPr>
            <a:r>
              <a:rPr lang="en-US" sz="2600" b="1" dirty="0">
                <a:solidFill>
                  <a:srgbClr val="DCEFF4"/>
                </a:solidFill>
                <a:latin typeface="Cambria" pitchFamily="34" charset="0"/>
                <a:ea typeface="Cambria" pitchFamily="34" charset="-122"/>
                <a:cs typeface="Cambria" pitchFamily="34" charset="-120"/>
              </a:rPr>
              <a:t>An LLM-Based Framework for Blood Glucose Prediction in Type 1 Diabetes</a:t>
            </a:r>
            <a:endParaRPr lang="en-US" sz="2600" dirty="0"/>
          </a:p>
        </p:txBody>
      </p:sp>
      <p:sp>
        <p:nvSpPr>
          <p:cNvPr id="6" name="Text 4"/>
          <p:cNvSpPr/>
          <p:nvPr/>
        </p:nvSpPr>
        <p:spPr>
          <a:xfrm>
            <a:off x="694944" y="3154680"/>
            <a:ext cx="6035040" cy="310896"/>
          </a:xfrm>
          <a:prstGeom prst="rect">
            <a:avLst/>
          </a:prstGeom>
          <a:noFill/>
          <a:ln/>
        </p:spPr>
        <p:txBody>
          <a:bodyPr wrap="square" lIns="0" tIns="0" rIns="0" bIns="0" rtlCol="0" anchor="ctr"/>
          <a:lstStyle/>
          <a:p>
            <a:pPr indent="0" marL="0">
              <a:buNone/>
            </a:pPr>
            <a:r>
              <a:rPr lang="en-US" sz="1500" b="1" dirty="0">
                <a:solidFill>
                  <a:srgbClr val="E9C46A"/>
                </a:solidFill>
                <a:latin typeface="Arial" pitchFamily="34" charset="0"/>
                <a:ea typeface="Arial" pitchFamily="34" charset="-122"/>
                <a:cs typeface="Arial" pitchFamily="34" charset="-120"/>
              </a:rPr>
              <a:t>Amirhossein Mahmoudi  |  First author and presenter</a:t>
            </a:r>
            <a:endParaRPr lang="en-US" sz="1500" dirty="0"/>
          </a:p>
        </p:txBody>
      </p:sp>
      <p:sp>
        <p:nvSpPr>
          <p:cNvPr id="7" name="Text 5"/>
          <p:cNvSpPr/>
          <p:nvPr/>
        </p:nvSpPr>
        <p:spPr>
          <a:xfrm>
            <a:off x="694944" y="3611880"/>
            <a:ext cx="6217920" cy="27432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IEEE Journal of Biomedical and Health Informatics  •  2026</a:t>
            </a:r>
            <a:endParaRPr lang="en-US" sz="1300" dirty="0"/>
          </a:p>
        </p:txBody>
      </p:sp>
      <p:sp>
        <p:nvSpPr>
          <p:cNvPr id="8" name="Shape 6"/>
          <p:cNvSpPr/>
          <p:nvPr/>
        </p:nvSpPr>
        <p:spPr>
          <a:xfrm>
            <a:off x="694944" y="4800600"/>
            <a:ext cx="1417320" cy="384048"/>
          </a:xfrm>
          <a:prstGeom prst="roundRect">
            <a:avLst>
              <a:gd name="adj" fmla="val 19048"/>
            </a:avLst>
          </a:prstGeom>
          <a:solidFill>
            <a:srgbClr val="E76F51"/>
          </a:solidFill>
          <a:ln w="12700">
            <a:solidFill>
              <a:srgbClr val="E76F51"/>
            </a:solidFill>
            <a:prstDash val="solid"/>
          </a:ln>
        </p:spPr>
      </p:sp>
      <p:sp>
        <p:nvSpPr>
          <p:cNvPr id="9" name="Text 7"/>
          <p:cNvSpPr/>
          <p:nvPr/>
        </p:nvSpPr>
        <p:spPr>
          <a:xfrm>
            <a:off x="694944" y="4873752"/>
            <a:ext cx="1417320" cy="16459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TIME-LLM</a:t>
            </a:r>
            <a:endParaRPr lang="en-US" sz="1000" dirty="0"/>
          </a:p>
        </p:txBody>
      </p:sp>
      <p:sp>
        <p:nvSpPr>
          <p:cNvPr id="10" name="Shape 8"/>
          <p:cNvSpPr/>
          <p:nvPr/>
        </p:nvSpPr>
        <p:spPr>
          <a:xfrm>
            <a:off x="2286000" y="4800600"/>
            <a:ext cx="1417320" cy="384048"/>
          </a:xfrm>
          <a:prstGeom prst="roundRect">
            <a:avLst>
              <a:gd name="adj" fmla="val 19048"/>
            </a:avLst>
          </a:prstGeom>
          <a:solidFill>
            <a:srgbClr val="007C83"/>
          </a:solidFill>
          <a:ln w="12700">
            <a:solidFill>
              <a:srgbClr val="007C83"/>
            </a:solidFill>
            <a:prstDash val="solid"/>
          </a:ln>
        </p:spPr>
      </p:sp>
      <p:sp>
        <p:nvSpPr>
          <p:cNvPr id="11" name="Text 9"/>
          <p:cNvSpPr/>
          <p:nvPr/>
        </p:nvSpPr>
        <p:spPr>
          <a:xfrm>
            <a:off x="2286000" y="4873752"/>
            <a:ext cx="1417320" cy="16459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CHRONOS</a:t>
            </a:r>
            <a:endParaRPr lang="en-US" sz="1000" dirty="0"/>
          </a:p>
        </p:txBody>
      </p:sp>
      <p:sp>
        <p:nvSpPr>
          <p:cNvPr id="12" name="Shape 10"/>
          <p:cNvSpPr/>
          <p:nvPr/>
        </p:nvSpPr>
        <p:spPr>
          <a:xfrm>
            <a:off x="3886200" y="4800600"/>
            <a:ext cx="2011680" cy="384048"/>
          </a:xfrm>
          <a:prstGeom prst="roundRect">
            <a:avLst>
              <a:gd name="adj" fmla="val 19048"/>
            </a:avLst>
          </a:prstGeom>
          <a:solidFill>
            <a:srgbClr val="E9C46A"/>
          </a:solidFill>
          <a:ln w="12700">
            <a:solidFill>
              <a:srgbClr val="E9C46A"/>
            </a:solidFill>
            <a:prstDash val="solid"/>
          </a:ln>
        </p:spPr>
      </p:sp>
      <p:sp>
        <p:nvSpPr>
          <p:cNvPr id="13" name="Text 11"/>
          <p:cNvSpPr/>
          <p:nvPr/>
        </p:nvSpPr>
        <p:spPr>
          <a:xfrm>
            <a:off x="3886200" y="4873752"/>
            <a:ext cx="2011680" cy="164592"/>
          </a:xfrm>
          <a:prstGeom prst="rect">
            <a:avLst/>
          </a:prstGeom>
          <a:noFill/>
          <a:ln/>
        </p:spPr>
        <p:txBody>
          <a:bodyPr wrap="square" lIns="0" tIns="0" rIns="0" bIns="0" rtlCol="0" anchor="ctr">
            <a:normAutofit/>
          </a:bodyPr>
          <a:lstStyle/>
          <a:p>
            <a:pPr algn="ctr" indent="0" marL="0">
              <a:buNone/>
            </a:pPr>
            <a:r>
              <a:rPr lang="en-US" sz="1000" b="1" dirty="0">
                <a:solidFill>
                  <a:srgbClr val="0B1F33"/>
                </a:solidFill>
                <a:latin typeface="Arial" pitchFamily="34" charset="0"/>
                <a:ea typeface="Arial" pitchFamily="34" charset="-122"/>
                <a:cs typeface="Arial" pitchFamily="34" charset="-120"/>
              </a:rPr>
              <a:t>CGM FORECASTING</a:t>
            </a:r>
            <a:endParaRPr lang="en-US" sz="1000" dirty="0"/>
          </a:p>
        </p:txBody>
      </p:sp>
      <p:sp>
        <p:nvSpPr>
          <p:cNvPr id="14" name="Text 12"/>
          <p:cNvSpPr/>
          <p:nvPr/>
        </p:nvSpPr>
        <p:spPr>
          <a:xfrm>
            <a:off x="694944" y="5989320"/>
            <a:ext cx="3840480" cy="201168"/>
          </a:xfrm>
          <a:prstGeom prst="rect">
            <a:avLst/>
          </a:prstGeom>
          <a:noFill/>
          <a:ln/>
        </p:spPr>
        <p:txBody>
          <a:bodyPr wrap="square" lIns="0" tIns="0" rIns="0" bIns="0" rtlCol="0" anchor="ctr"/>
          <a:lstStyle/>
          <a:p>
            <a:pPr indent="0" marL="0">
              <a:buNone/>
            </a:pPr>
            <a:r>
              <a:rPr lang="en-US" sz="900" dirty="0">
                <a:solidFill>
                  <a:srgbClr val="A7BDCA"/>
                </a:solidFill>
                <a:latin typeface="Arial" pitchFamily="34" charset="0"/>
                <a:ea typeface="Arial" pitchFamily="34" charset="-122"/>
                <a:cs typeface="Arial" pitchFamily="34" charset="-120"/>
              </a:rPr>
              <a:t>DOI 10.1109/JBHI.2026.3658588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0040"/>
            <a:ext cx="4114800" cy="201168"/>
          </a:xfrm>
          <a:prstGeom prst="rect">
            <a:avLst/>
          </a:prstGeom>
          <a:noFill/>
          <a:ln/>
        </p:spPr>
        <p:txBody>
          <a:bodyPr wrap="square" lIns="0" tIns="0" rIns="0" bIns="0" rtlCol="0" anchor="ctr"/>
          <a:lstStyle/>
          <a:p>
            <a:pPr indent="0" marL="0">
              <a:buNone/>
            </a:pPr>
            <a:r>
              <a:rPr lang="en-US" sz="900" b="1" spc="120" kern="0" dirty="0">
                <a:solidFill>
                  <a:srgbClr val="007C83"/>
                </a:solidFill>
                <a:latin typeface="Arial" pitchFamily="34" charset="0"/>
                <a:ea typeface="Arial" pitchFamily="34" charset="-122"/>
                <a:cs typeface="Arial" pitchFamily="34" charset="-120"/>
              </a:rPr>
              <a:t>CLINICAL FORECASTING PROBLEM</a:t>
            </a:r>
            <a:endParaRPr lang="en-US" sz="900" dirty="0"/>
          </a:p>
        </p:txBody>
      </p:sp>
      <p:sp>
        <p:nvSpPr>
          <p:cNvPr id="3" name="Text 1"/>
          <p:cNvSpPr/>
          <p:nvPr/>
        </p:nvSpPr>
        <p:spPr>
          <a:xfrm>
            <a:off x="548640" y="594360"/>
            <a:ext cx="10789920" cy="621792"/>
          </a:xfrm>
          <a:prstGeom prst="rect">
            <a:avLst/>
          </a:prstGeom>
          <a:noFill/>
          <a:ln/>
        </p:spPr>
        <p:txBody>
          <a:bodyPr wrap="square" lIns="0" tIns="0" rIns="0" bIns="0" rtlCol="0" anchor="ctr">
            <a:normAutofit/>
          </a:bodyPr>
          <a:lstStyle/>
          <a:p>
            <a:pPr indent="0" marL="0">
              <a:buNone/>
            </a:pPr>
            <a:r>
              <a:rPr lang="en-US" sz="2600" b="1" dirty="0">
                <a:solidFill>
                  <a:srgbClr val="14213D"/>
                </a:solidFill>
                <a:latin typeface="Cambria" pitchFamily="34" charset="0"/>
                <a:ea typeface="Cambria" pitchFamily="34" charset="-122"/>
                <a:cs typeface="Cambria" pitchFamily="34" charset="-120"/>
              </a:rPr>
              <a:t>Thirty minutes of CGM history must anticipate the next 30-45 minutes</a:t>
            </a:r>
            <a:endParaRPr lang="en-US" sz="2600" dirty="0"/>
          </a:p>
        </p:txBody>
      </p:sp>
      <p:sp>
        <p:nvSpPr>
          <p:cNvPr id="4" name="Shape 2"/>
          <p:cNvSpPr/>
          <p:nvPr/>
        </p:nvSpPr>
        <p:spPr>
          <a:xfrm>
            <a:off x="594360" y="1508760"/>
            <a:ext cx="5166360" cy="4160520"/>
          </a:xfrm>
          <a:prstGeom prst="roundRect">
            <a:avLst>
              <a:gd name="adj" fmla="val 1758"/>
            </a:avLst>
          </a:prstGeom>
          <a:solidFill>
            <a:srgbClr val="FFFFFF"/>
          </a:solidFill>
          <a:ln w="12700">
            <a:solidFill>
              <a:srgbClr val="D7E1E7"/>
            </a:solidFill>
            <a:prstDash val="solid"/>
          </a:ln>
          <a:effectLst>
            <a:outerShdw sx="100000" sy="100000" kx="0" ky="0" algn="bl" rotWithShape="0" blurRad="19050" dist="50800" dir="2700000">
              <a:srgbClr val="000000">
                <a:alpha val="12000"/>
              </a:srgbClr>
            </a:outerShdw>
          </a:effectLst>
        </p:spPr>
      </p:sp>
      <p:sp>
        <p:nvSpPr>
          <p:cNvPr id="5" name="Text 3"/>
          <p:cNvSpPr/>
          <p:nvPr/>
        </p:nvSpPr>
        <p:spPr>
          <a:xfrm>
            <a:off x="868680" y="1810512"/>
            <a:ext cx="914400" cy="182880"/>
          </a:xfrm>
          <a:prstGeom prst="rect">
            <a:avLst/>
          </a:prstGeom>
          <a:noFill/>
          <a:ln/>
        </p:spPr>
        <p:txBody>
          <a:bodyPr wrap="square" lIns="0" tIns="0" rIns="0" bIns="0" rtlCol="0" anchor="ctr"/>
          <a:lstStyle/>
          <a:p>
            <a:pPr indent="0" marL="0">
              <a:buNone/>
            </a:pPr>
            <a:r>
              <a:rPr lang="en-US" sz="1000" b="1" dirty="0">
                <a:solidFill>
                  <a:srgbClr val="007C83"/>
                </a:solidFill>
                <a:latin typeface="Arial" pitchFamily="34" charset="0"/>
                <a:ea typeface="Arial" pitchFamily="34" charset="-122"/>
                <a:cs typeface="Arial" pitchFamily="34" charset="-120"/>
              </a:rPr>
              <a:t>PAST</a:t>
            </a:r>
            <a:endParaRPr lang="en-US" sz="1000" dirty="0"/>
          </a:p>
        </p:txBody>
      </p:sp>
      <p:graphicFrame>
        <p:nvGraphicFramePr>
          <p:cNvPr id="6" name="Chart 0" descr=""/>
          <p:cNvGraphicFramePr/>
          <p:nvPr/>
        </p:nvGraphicFramePr>
        <p:xfrm>
          <a:off x="822960" y="2103120"/>
          <a:ext cx="4526280" cy="24231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800600" y="2240280"/>
            <a:ext cx="0" cy="2057400"/>
          </a:xfrm>
          <a:prstGeom prst="line">
            <a:avLst/>
          </a:prstGeom>
          <a:noFill/>
          <a:ln w="25400">
            <a:solidFill>
              <a:srgbClr val="E76F51"/>
            </a:solidFill>
            <a:prstDash val="solid"/>
          </a:ln>
        </p:spPr>
      </p:sp>
      <p:sp>
        <p:nvSpPr>
          <p:cNvPr id="8" name="Text 5"/>
          <p:cNvSpPr/>
          <p:nvPr/>
        </p:nvSpPr>
        <p:spPr>
          <a:xfrm>
            <a:off x="4462272" y="4645152"/>
            <a:ext cx="731520" cy="182880"/>
          </a:xfrm>
          <a:prstGeom prst="rect">
            <a:avLst/>
          </a:prstGeom>
          <a:noFill/>
          <a:ln/>
        </p:spPr>
        <p:txBody>
          <a:bodyPr wrap="square" lIns="0" tIns="0" rIns="0" bIns="0" rtlCol="0" anchor="ctr"/>
          <a:lstStyle/>
          <a:p>
            <a:pPr algn="ctr" indent="0" marL="0">
              <a:buNone/>
            </a:pPr>
            <a:r>
              <a:rPr lang="en-US" sz="900" b="1" dirty="0">
                <a:solidFill>
                  <a:srgbClr val="E76F51"/>
                </a:solidFill>
                <a:latin typeface="Arial" pitchFamily="34" charset="0"/>
                <a:ea typeface="Arial" pitchFamily="34" charset="-122"/>
                <a:cs typeface="Arial" pitchFamily="34" charset="-120"/>
              </a:rPr>
              <a:t>NOW</a:t>
            </a:r>
            <a:endParaRPr lang="en-US" sz="900" dirty="0"/>
          </a:p>
        </p:txBody>
      </p:sp>
      <p:sp>
        <p:nvSpPr>
          <p:cNvPr id="9" name="Shape 6"/>
          <p:cNvSpPr/>
          <p:nvPr/>
        </p:nvSpPr>
        <p:spPr>
          <a:xfrm>
            <a:off x="6108192" y="1508760"/>
            <a:ext cx="5440680" cy="4160520"/>
          </a:xfrm>
          <a:prstGeom prst="roundRect">
            <a:avLst>
              <a:gd name="adj" fmla="val 1758"/>
            </a:avLst>
          </a:prstGeom>
          <a:solidFill>
            <a:srgbClr val="0B1F33"/>
          </a:solidFill>
          <a:ln w="12700">
            <a:solidFill>
              <a:srgbClr val="0B1F33"/>
            </a:solidFill>
            <a:prstDash val="solid"/>
          </a:ln>
          <a:effectLst>
            <a:outerShdw sx="100000" sy="100000" kx="0" ky="0" algn="bl" rotWithShape="0" blurRad="19050" dist="50800" dir="2700000">
              <a:srgbClr val="000000">
                <a:alpha val="12000"/>
              </a:srgbClr>
            </a:outerShdw>
          </a:effectLst>
        </p:spPr>
      </p:sp>
      <p:sp>
        <p:nvSpPr>
          <p:cNvPr id="10" name="Text 7"/>
          <p:cNvSpPr/>
          <p:nvPr/>
        </p:nvSpPr>
        <p:spPr>
          <a:xfrm>
            <a:off x="6400800" y="1810512"/>
            <a:ext cx="1188720" cy="182880"/>
          </a:xfrm>
          <a:prstGeom prst="rect">
            <a:avLst/>
          </a:prstGeom>
          <a:noFill/>
          <a:ln/>
        </p:spPr>
        <p:txBody>
          <a:bodyPr wrap="square" lIns="0" tIns="0" rIns="0" bIns="0" rtlCol="0" anchor="ctr"/>
          <a:lstStyle/>
          <a:p>
            <a:pPr indent="0" marL="0">
              <a:buNone/>
            </a:pPr>
            <a:r>
              <a:rPr lang="en-US" sz="1000" b="1" dirty="0">
                <a:solidFill>
                  <a:srgbClr val="E9C46A"/>
                </a:solidFill>
                <a:latin typeface="Arial" pitchFamily="34" charset="0"/>
                <a:ea typeface="Arial" pitchFamily="34" charset="-122"/>
                <a:cs typeface="Arial" pitchFamily="34" charset="-120"/>
              </a:rPr>
              <a:t>FORECAST</a:t>
            </a:r>
            <a:endParaRPr lang="en-US" sz="1000" dirty="0"/>
          </a:p>
        </p:txBody>
      </p:sp>
      <p:graphicFrame>
        <p:nvGraphicFramePr>
          <p:cNvPr id="11" name="Chart 1" descr=""/>
          <p:cNvGraphicFramePr/>
          <p:nvPr/>
        </p:nvGraphicFramePr>
        <p:xfrm>
          <a:off x="6355080" y="2103120"/>
          <a:ext cx="4617720" cy="2423160"/>
        </p:xfrm>
        <a:graphic xmlns:a="http://schemas.openxmlformats.org/drawingml/2006/main">
          <a:graphicData uri="http://schemas.openxmlformats.org/drawingml/2006/chart">
            <c:chart xmlns:c="http://schemas.openxmlformats.org/drawingml/2006/chart" r:id="rId2"/>
          </a:graphicData>
        </a:graphic>
      </p:graphicFrame>
      <p:sp>
        <p:nvSpPr>
          <p:cNvPr id="12" name="Text 8"/>
          <p:cNvSpPr/>
          <p:nvPr/>
        </p:nvSpPr>
        <p:spPr>
          <a:xfrm>
            <a:off x="932688" y="5074920"/>
            <a:ext cx="1188720" cy="320040"/>
          </a:xfrm>
          <a:prstGeom prst="rect">
            <a:avLst/>
          </a:prstGeom>
          <a:noFill/>
          <a:ln/>
        </p:spPr>
        <p:txBody>
          <a:bodyPr wrap="square" lIns="0" tIns="0" rIns="0" bIns="0" rtlCol="0" anchor="ctr"/>
          <a:lstStyle/>
          <a:p>
            <a:pPr indent="0" marL="0">
              <a:buNone/>
            </a:pPr>
            <a:r>
              <a:rPr lang="en-US" sz="1900" b="1" dirty="0">
                <a:solidFill>
                  <a:srgbClr val="007C83"/>
                </a:solidFill>
                <a:latin typeface="Cambria" pitchFamily="34" charset="0"/>
                <a:ea typeface="Cambria" pitchFamily="34" charset="-122"/>
                <a:cs typeface="Cambria" pitchFamily="34" charset="-120"/>
              </a:rPr>
              <a:t>6 readings</a:t>
            </a:r>
            <a:endParaRPr lang="en-US" sz="1900" dirty="0"/>
          </a:p>
        </p:txBody>
      </p:sp>
      <p:sp>
        <p:nvSpPr>
          <p:cNvPr id="13" name="Text 9"/>
          <p:cNvSpPr/>
          <p:nvPr/>
        </p:nvSpPr>
        <p:spPr>
          <a:xfrm>
            <a:off x="2194560" y="5148072"/>
            <a:ext cx="1554480" cy="182880"/>
          </a:xfrm>
          <a:prstGeom prst="rect">
            <a:avLst/>
          </a:prstGeom>
          <a:noFill/>
          <a:ln/>
        </p:spPr>
        <p:txBody>
          <a:bodyPr wrap="square" lIns="0" tIns="0" rIns="0" bIns="0" rtlCol="0" anchor="ctr"/>
          <a:lstStyle/>
          <a:p>
            <a:pPr indent="0" marL="0">
              <a:buNone/>
            </a:pPr>
            <a:r>
              <a:rPr lang="en-US" sz="1050" dirty="0">
                <a:solidFill>
                  <a:srgbClr val="526477"/>
                </a:solidFill>
                <a:latin typeface="Arial" pitchFamily="34" charset="0"/>
                <a:ea typeface="Arial" pitchFamily="34" charset="-122"/>
                <a:cs typeface="Arial" pitchFamily="34" charset="-120"/>
              </a:rPr>
              <a:t>5-minute sampling</a:t>
            </a:r>
            <a:endParaRPr lang="en-US" sz="1050" dirty="0"/>
          </a:p>
        </p:txBody>
      </p:sp>
      <p:sp>
        <p:nvSpPr>
          <p:cNvPr id="14" name="Text 10"/>
          <p:cNvSpPr/>
          <p:nvPr/>
        </p:nvSpPr>
        <p:spPr>
          <a:xfrm>
            <a:off x="6428232" y="5074920"/>
            <a:ext cx="1600200" cy="320040"/>
          </a:xfrm>
          <a:prstGeom prst="rect">
            <a:avLst/>
          </a:prstGeom>
          <a:noFill/>
          <a:ln/>
        </p:spPr>
        <p:txBody>
          <a:bodyPr wrap="square" lIns="0" tIns="0" rIns="0" bIns="0" rtlCol="0" anchor="ctr"/>
          <a:lstStyle/>
          <a:p>
            <a:pPr indent="0" marL="0">
              <a:buNone/>
            </a:pPr>
            <a:r>
              <a:rPr lang="en-US" sz="1900" b="1" dirty="0">
                <a:solidFill>
                  <a:srgbClr val="E9C46A"/>
                </a:solidFill>
                <a:latin typeface="Cambria" pitchFamily="34" charset="0"/>
                <a:ea typeface="Cambria" pitchFamily="34" charset="-122"/>
                <a:cs typeface="Cambria" pitchFamily="34" charset="-120"/>
              </a:rPr>
              <a:t>6 or 9 targets</a:t>
            </a:r>
            <a:endParaRPr lang="en-US" sz="1900" dirty="0"/>
          </a:p>
        </p:txBody>
      </p:sp>
      <p:sp>
        <p:nvSpPr>
          <p:cNvPr id="15" name="Text 11"/>
          <p:cNvSpPr/>
          <p:nvPr/>
        </p:nvSpPr>
        <p:spPr>
          <a:xfrm>
            <a:off x="8092440" y="5148072"/>
            <a:ext cx="2057400" cy="182880"/>
          </a:xfrm>
          <a:prstGeom prst="rect">
            <a:avLst/>
          </a:prstGeom>
          <a:noFill/>
          <a:ln/>
        </p:spPr>
        <p:txBody>
          <a:bodyPr wrap="square" lIns="0" tIns="0" rIns="0" bIns="0" rtlCol="0" anchor="ctr"/>
          <a:lstStyle/>
          <a:p>
            <a:pPr indent="0" marL="0">
              <a:buNone/>
            </a:pPr>
            <a:r>
              <a:rPr lang="en-US" sz="1050" dirty="0">
                <a:solidFill>
                  <a:srgbClr val="D7E1E7"/>
                </a:solidFill>
                <a:latin typeface="Arial" pitchFamily="34" charset="0"/>
                <a:ea typeface="Arial" pitchFamily="34" charset="-122"/>
                <a:cs typeface="Arial" pitchFamily="34" charset="-120"/>
              </a:rPr>
              <a:t>30- or 45-minute horizon</a:t>
            </a:r>
            <a:endParaRPr lang="en-US" sz="1050" dirty="0"/>
          </a:p>
        </p:txBody>
      </p:sp>
      <p:sp>
        <p:nvSpPr>
          <p:cNvPr id="16" name="Text 12"/>
          <p:cNvSpPr/>
          <p:nvPr/>
        </p:nvSpPr>
        <p:spPr>
          <a:xfrm>
            <a:off x="548640" y="6236208"/>
            <a:ext cx="10927080" cy="164592"/>
          </a:xfrm>
          <a:prstGeom prst="rect">
            <a:avLst/>
          </a:prstGeom>
          <a:noFill/>
          <a:ln/>
        </p:spPr>
        <p:txBody>
          <a:bodyPr wrap="square" lIns="0" tIns="0" rIns="0" bIns="0" rtlCol="0" anchor="ctr">
            <a:normAutofit/>
          </a:bodyPr>
          <a:lstStyle/>
          <a:p>
            <a:pPr indent="0" marL="0">
              <a:buNone/>
            </a:pPr>
            <a:r>
              <a:rPr lang="en-US" sz="750" i="1" dirty="0">
                <a:solidFill>
                  <a:srgbClr val="66788A"/>
                </a:solidFill>
                <a:latin typeface="Arial" pitchFamily="34" charset="0"/>
                <a:ea typeface="Arial" pitchFamily="34" charset="-122"/>
                <a:cs typeface="Arial" pitchFamily="34" charset="-120"/>
              </a:rPr>
              <a:t>Source: DiabLLM abstract and experimental protocol. Illustrative glucose trajectory; not patient data.</a:t>
            </a:r>
            <a:endParaRPr lang="en-US" sz="750" dirty="0"/>
          </a:p>
        </p:txBody>
      </p:sp>
      <p:sp>
        <p:nvSpPr>
          <p:cNvPr id="25" name="Slide Number Placeholder 0"/>
          <p:cNvSpPr>
            <a:spLocks noGrp="1"/>
          </p:cNvSpPr>
          <p:nvPr>
            <p:ph type="sldNum" sz="quarter" idx="4294967295"/>
          </p:nvPr>
        </p:nvSpPr>
        <p:spPr>
          <a:xfrm>
            <a:off x="11686032" y="20116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0040"/>
            <a:ext cx="4114800" cy="201168"/>
          </a:xfrm>
          <a:prstGeom prst="rect">
            <a:avLst/>
          </a:prstGeom>
          <a:noFill/>
          <a:ln/>
        </p:spPr>
        <p:txBody>
          <a:bodyPr wrap="square" lIns="0" tIns="0" rIns="0" bIns="0" rtlCol="0" anchor="ctr"/>
          <a:lstStyle/>
          <a:p>
            <a:pPr indent="0" marL="0">
              <a:buNone/>
            </a:pPr>
            <a:r>
              <a:rPr lang="en-US" sz="900" b="1" spc="120" kern="0" dirty="0">
                <a:solidFill>
                  <a:srgbClr val="007C83"/>
                </a:solidFill>
                <a:latin typeface="Arial" pitchFamily="34" charset="0"/>
                <a:ea typeface="Arial" pitchFamily="34" charset="-122"/>
                <a:cs typeface="Arial" pitchFamily="34" charset="-120"/>
              </a:rPr>
              <a:t>TWO LANGUAGE-INSPIRED STRATEGIES</a:t>
            </a:r>
            <a:endParaRPr lang="en-US" sz="900" dirty="0"/>
          </a:p>
        </p:txBody>
      </p:sp>
      <p:sp>
        <p:nvSpPr>
          <p:cNvPr id="3" name="Text 1"/>
          <p:cNvSpPr/>
          <p:nvPr/>
        </p:nvSpPr>
        <p:spPr>
          <a:xfrm>
            <a:off x="548640" y="594360"/>
            <a:ext cx="10789920" cy="621792"/>
          </a:xfrm>
          <a:prstGeom prst="rect">
            <a:avLst/>
          </a:prstGeom>
          <a:noFill/>
          <a:ln/>
        </p:spPr>
        <p:txBody>
          <a:bodyPr wrap="square" lIns="0" tIns="0" rIns="0" bIns="0" rtlCol="0" anchor="ctr">
            <a:normAutofit/>
          </a:bodyPr>
          <a:lstStyle/>
          <a:p>
            <a:pPr indent="0" marL="0">
              <a:buNone/>
            </a:pPr>
            <a:r>
              <a:rPr lang="en-US" sz="2600" b="1" dirty="0">
                <a:solidFill>
                  <a:srgbClr val="14213D"/>
                </a:solidFill>
                <a:latin typeface="Cambria" pitchFamily="34" charset="0"/>
                <a:ea typeface="Cambria" pitchFamily="34" charset="-122"/>
                <a:cs typeface="Cambria" pitchFamily="34" charset="-120"/>
              </a:rPr>
              <a:t>Chronos and Time-LLM bridge continuous signals in fundamentally different ways</a:t>
            </a:r>
            <a:endParaRPr lang="en-US" sz="2600" dirty="0"/>
          </a:p>
        </p:txBody>
      </p:sp>
      <p:sp>
        <p:nvSpPr>
          <p:cNvPr id="4" name="Shape 2"/>
          <p:cNvSpPr/>
          <p:nvPr/>
        </p:nvSpPr>
        <p:spPr>
          <a:xfrm>
            <a:off x="566928" y="1353312"/>
            <a:ext cx="5513832" cy="4526280"/>
          </a:xfrm>
          <a:prstGeom prst="roundRect">
            <a:avLst>
              <a:gd name="adj" fmla="val 1616"/>
            </a:avLst>
          </a:prstGeom>
          <a:solidFill>
            <a:srgbClr val="F4EAF5"/>
          </a:solidFill>
          <a:ln w="12700">
            <a:solidFill>
              <a:srgbClr val="CFA8D4"/>
            </a:solidFill>
            <a:prstDash val="solid"/>
          </a:ln>
          <a:effectLst>
            <a:outerShdw sx="100000" sy="100000" kx="0" ky="0" algn="bl" rotWithShape="0" blurRad="19050" dist="50800" dir="2700000">
              <a:srgbClr val="000000">
                <a:alpha val="12000"/>
              </a:srgbClr>
            </a:outerShdw>
          </a:effectLst>
        </p:spPr>
      </p:sp>
      <p:sp>
        <p:nvSpPr>
          <p:cNvPr id="5" name="Text 3"/>
          <p:cNvSpPr/>
          <p:nvPr/>
        </p:nvSpPr>
        <p:spPr>
          <a:xfrm>
            <a:off x="868680" y="1627632"/>
            <a:ext cx="1828800" cy="274320"/>
          </a:xfrm>
          <a:prstGeom prst="rect">
            <a:avLst/>
          </a:prstGeom>
          <a:noFill/>
          <a:ln/>
        </p:spPr>
        <p:txBody>
          <a:bodyPr wrap="square" lIns="0" tIns="0" rIns="0" bIns="0" rtlCol="0" anchor="ctr"/>
          <a:lstStyle/>
          <a:p>
            <a:pPr indent="0" marL="0">
              <a:buNone/>
            </a:pPr>
            <a:r>
              <a:rPr lang="en-US" sz="1900" b="1" dirty="0">
                <a:solidFill>
                  <a:srgbClr val="663A75"/>
                </a:solidFill>
                <a:latin typeface="Cambria" pitchFamily="34" charset="0"/>
                <a:ea typeface="Cambria" pitchFamily="34" charset="-122"/>
                <a:cs typeface="Cambria" pitchFamily="34" charset="-120"/>
              </a:rPr>
              <a:t>CHRONOS</a:t>
            </a:r>
            <a:endParaRPr lang="en-US" sz="1900" dirty="0"/>
          </a:p>
        </p:txBody>
      </p:sp>
      <p:pic>
        <p:nvPicPr>
          <p:cNvPr id="6" name="Image 0" descr="/home/amma/LLM-TIME/diab llm paper presention/diabllm_deck/assets/chronos.png">    </p:cNvPr>
          <p:cNvPicPr>
            <a:picLocks noChangeAspect="1"/>
          </p:cNvPicPr>
          <p:nvPr/>
        </p:nvPicPr>
        <p:blipFill>
          <a:blip r:embed="rId1"/>
          <a:stretch>
            <a:fillRect/>
          </a:stretch>
        </p:blipFill>
        <p:spPr>
          <a:xfrm>
            <a:off x="868680" y="2011680"/>
            <a:ext cx="4892040" cy="2057400"/>
          </a:xfrm>
          <a:prstGeom prst="rect">
            <a:avLst/>
          </a:prstGeom>
        </p:spPr>
      </p:pic>
      <p:sp>
        <p:nvSpPr>
          <p:cNvPr id="7" name="Shape 4"/>
          <p:cNvSpPr/>
          <p:nvPr/>
        </p:nvSpPr>
        <p:spPr>
          <a:xfrm>
            <a:off x="960120" y="4407408"/>
            <a:ext cx="960120" cy="384048"/>
          </a:xfrm>
          <a:prstGeom prst="roundRect">
            <a:avLst>
              <a:gd name="adj" fmla="val 19048"/>
            </a:avLst>
          </a:prstGeom>
          <a:solidFill>
            <a:srgbClr val="EBD8ED"/>
          </a:solidFill>
          <a:ln w="12700">
            <a:solidFill>
              <a:srgbClr val="EBD8ED"/>
            </a:solidFill>
            <a:prstDash val="solid"/>
          </a:ln>
        </p:spPr>
      </p:sp>
      <p:sp>
        <p:nvSpPr>
          <p:cNvPr id="8" name="Text 5"/>
          <p:cNvSpPr/>
          <p:nvPr/>
        </p:nvSpPr>
        <p:spPr>
          <a:xfrm>
            <a:off x="960120" y="4480560"/>
            <a:ext cx="960120" cy="164592"/>
          </a:xfrm>
          <a:prstGeom prst="rect">
            <a:avLst/>
          </a:prstGeom>
          <a:noFill/>
          <a:ln/>
        </p:spPr>
        <p:txBody>
          <a:bodyPr wrap="square" lIns="0" tIns="0" rIns="0" bIns="0" rtlCol="0" anchor="ctr">
            <a:normAutofit/>
          </a:bodyPr>
          <a:lstStyle/>
          <a:p>
            <a:pPr algn="ctr" indent="0" marL="0">
              <a:buNone/>
            </a:pPr>
            <a:r>
              <a:rPr lang="en-US" sz="1000" b="1" dirty="0">
                <a:solidFill>
                  <a:srgbClr val="14213D"/>
                </a:solidFill>
                <a:latin typeface="Arial" pitchFamily="34" charset="0"/>
                <a:ea typeface="Arial" pitchFamily="34" charset="-122"/>
                <a:cs typeface="Arial" pitchFamily="34" charset="-120"/>
              </a:rPr>
              <a:t>scale</a:t>
            </a:r>
            <a:endParaRPr lang="en-US" sz="1000" dirty="0"/>
          </a:p>
        </p:txBody>
      </p:sp>
      <p:sp>
        <p:nvSpPr>
          <p:cNvPr id="9" name="Shape 6"/>
          <p:cNvSpPr/>
          <p:nvPr/>
        </p:nvSpPr>
        <p:spPr>
          <a:xfrm>
            <a:off x="2011680" y="4416552"/>
            <a:ext cx="347472" cy="365760"/>
          </a:xfrm>
          <a:prstGeom prst="chevron">
            <a:avLst/>
          </a:prstGeom>
          <a:solidFill>
            <a:srgbClr val="A666B1"/>
          </a:solidFill>
          <a:ln w="12700">
            <a:solidFill>
              <a:srgbClr val="A666B1"/>
            </a:solidFill>
            <a:prstDash val="solid"/>
          </a:ln>
        </p:spPr>
      </p:sp>
      <p:sp>
        <p:nvSpPr>
          <p:cNvPr id="10" name="Shape 7"/>
          <p:cNvSpPr/>
          <p:nvPr/>
        </p:nvSpPr>
        <p:spPr>
          <a:xfrm>
            <a:off x="2468880" y="4407408"/>
            <a:ext cx="1097280" cy="384048"/>
          </a:xfrm>
          <a:prstGeom prst="roundRect">
            <a:avLst>
              <a:gd name="adj" fmla="val 19048"/>
            </a:avLst>
          </a:prstGeom>
          <a:solidFill>
            <a:srgbClr val="EBD8ED"/>
          </a:solidFill>
          <a:ln w="12700">
            <a:solidFill>
              <a:srgbClr val="EBD8ED"/>
            </a:solidFill>
            <a:prstDash val="solid"/>
          </a:ln>
        </p:spPr>
      </p:sp>
      <p:sp>
        <p:nvSpPr>
          <p:cNvPr id="11" name="Text 8"/>
          <p:cNvSpPr/>
          <p:nvPr/>
        </p:nvSpPr>
        <p:spPr>
          <a:xfrm>
            <a:off x="2468880" y="4480560"/>
            <a:ext cx="1097280" cy="164592"/>
          </a:xfrm>
          <a:prstGeom prst="rect">
            <a:avLst/>
          </a:prstGeom>
          <a:noFill/>
          <a:ln/>
        </p:spPr>
        <p:txBody>
          <a:bodyPr wrap="square" lIns="0" tIns="0" rIns="0" bIns="0" rtlCol="0" anchor="ctr">
            <a:normAutofit/>
          </a:bodyPr>
          <a:lstStyle/>
          <a:p>
            <a:pPr algn="ctr" indent="0" marL="0">
              <a:buNone/>
            </a:pPr>
            <a:r>
              <a:rPr lang="en-US" sz="1000" b="1" dirty="0">
                <a:solidFill>
                  <a:srgbClr val="14213D"/>
                </a:solidFill>
                <a:latin typeface="Arial" pitchFamily="34" charset="0"/>
                <a:ea typeface="Arial" pitchFamily="34" charset="-122"/>
                <a:cs typeface="Arial" pitchFamily="34" charset="-120"/>
              </a:rPr>
              <a:t>quantize</a:t>
            </a:r>
            <a:endParaRPr lang="en-US" sz="1000" dirty="0"/>
          </a:p>
        </p:txBody>
      </p:sp>
      <p:sp>
        <p:nvSpPr>
          <p:cNvPr id="12" name="Shape 9"/>
          <p:cNvSpPr/>
          <p:nvPr/>
        </p:nvSpPr>
        <p:spPr>
          <a:xfrm>
            <a:off x="3675888" y="4416552"/>
            <a:ext cx="347472" cy="365760"/>
          </a:xfrm>
          <a:prstGeom prst="chevron">
            <a:avLst/>
          </a:prstGeom>
          <a:solidFill>
            <a:srgbClr val="A666B1"/>
          </a:solidFill>
          <a:ln w="12700">
            <a:solidFill>
              <a:srgbClr val="A666B1"/>
            </a:solidFill>
            <a:prstDash val="solid"/>
          </a:ln>
        </p:spPr>
      </p:sp>
      <p:sp>
        <p:nvSpPr>
          <p:cNvPr id="13" name="Shape 10"/>
          <p:cNvSpPr/>
          <p:nvPr/>
        </p:nvSpPr>
        <p:spPr>
          <a:xfrm>
            <a:off x="4114800" y="4407408"/>
            <a:ext cx="1325880" cy="384048"/>
          </a:xfrm>
          <a:prstGeom prst="roundRect">
            <a:avLst>
              <a:gd name="adj" fmla="val 19048"/>
            </a:avLst>
          </a:prstGeom>
          <a:solidFill>
            <a:srgbClr val="EBD8ED"/>
          </a:solidFill>
          <a:ln w="12700">
            <a:solidFill>
              <a:srgbClr val="EBD8ED"/>
            </a:solidFill>
            <a:prstDash val="solid"/>
          </a:ln>
        </p:spPr>
      </p:sp>
      <p:sp>
        <p:nvSpPr>
          <p:cNvPr id="14" name="Text 11"/>
          <p:cNvSpPr/>
          <p:nvPr/>
        </p:nvSpPr>
        <p:spPr>
          <a:xfrm>
            <a:off x="4114800" y="4480560"/>
            <a:ext cx="1325880" cy="164592"/>
          </a:xfrm>
          <a:prstGeom prst="rect">
            <a:avLst/>
          </a:prstGeom>
          <a:noFill/>
          <a:ln/>
        </p:spPr>
        <p:txBody>
          <a:bodyPr wrap="square" lIns="0" tIns="0" rIns="0" bIns="0" rtlCol="0" anchor="ctr">
            <a:normAutofit/>
          </a:bodyPr>
          <a:lstStyle/>
          <a:p>
            <a:pPr algn="ctr" indent="0" marL="0">
              <a:buNone/>
            </a:pPr>
            <a:r>
              <a:rPr lang="en-US" sz="1000" b="1" dirty="0">
                <a:solidFill>
                  <a:srgbClr val="14213D"/>
                </a:solidFill>
                <a:latin typeface="Arial" pitchFamily="34" charset="0"/>
                <a:ea typeface="Arial" pitchFamily="34" charset="-122"/>
                <a:cs typeface="Arial" pitchFamily="34" charset="-120"/>
              </a:rPr>
              <a:t>predict tokens</a:t>
            </a:r>
            <a:endParaRPr lang="en-US" sz="1000" dirty="0"/>
          </a:p>
        </p:txBody>
      </p:sp>
      <p:sp>
        <p:nvSpPr>
          <p:cNvPr id="15" name="Text 12"/>
          <p:cNvSpPr/>
          <p:nvPr/>
        </p:nvSpPr>
        <p:spPr>
          <a:xfrm>
            <a:off x="932688" y="5074920"/>
            <a:ext cx="3017520" cy="256032"/>
          </a:xfrm>
          <a:prstGeom prst="rect">
            <a:avLst/>
          </a:prstGeom>
          <a:noFill/>
          <a:ln/>
        </p:spPr>
        <p:txBody>
          <a:bodyPr wrap="square" lIns="0" tIns="0" rIns="0" bIns="0" rtlCol="0" anchor="ctr"/>
          <a:lstStyle/>
          <a:p>
            <a:pPr indent="0" marL="0">
              <a:buNone/>
            </a:pPr>
            <a:r>
              <a:rPr lang="en-US" sz="1300" b="1" dirty="0">
                <a:solidFill>
                  <a:srgbClr val="663A75"/>
                </a:solidFill>
                <a:latin typeface="Arial" pitchFamily="34" charset="0"/>
                <a:ea typeface="Arial" pitchFamily="34" charset="-122"/>
                <a:cs typeface="Arial" pitchFamily="34" charset="-120"/>
              </a:rPr>
              <a:t>Regression via classification</a:t>
            </a:r>
            <a:endParaRPr lang="en-US" sz="1300" dirty="0"/>
          </a:p>
        </p:txBody>
      </p:sp>
      <p:sp>
        <p:nvSpPr>
          <p:cNvPr id="16" name="Text 13"/>
          <p:cNvSpPr/>
          <p:nvPr/>
        </p:nvSpPr>
        <p:spPr>
          <a:xfrm>
            <a:off x="932688" y="5404104"/>
            <a:ext cx="4389120" cy="228600"/>
          </a:xfrm>
          <a:prstGeom prst="rect">
            <a:avLst/>
          </a:prstGeom>
          <a:noFill/>
          <a:ln/>
        </p:spPr>
        <p:txBody>
          <a:bodyPr wrap="square" lIns="0" tIns="0" rIns="0" bIns="0" rtlCol="0" anchor="ctr"/>
          <a:lstStyle/>
          <a:p>
            <a:pPr indent="0" marL="0">
              <a:buNone/>
            </a:pPr>
            <a:r>
              <a:rPr lang="en-US" sz="1050" dirty="0">
                <a:solidFill>
                  <a:srgbClr val="526477"/>
                </a:solidFill>
                <a:latin typeface="Arial" pitchFamily="34" charset="0"/>
                <a:ea typeface="Arial" pitchFamily="34" charset="-122"/>
                <a:cs typeface="Arial" pitchFamily="34" charset="-120"/>
              </a:rPr>
              <a:t>The transformer is trained on a time-series vocabulary.</a:t>
            </a:r>
            <a:endParaRPr lang="en-US" sz="1050" dirty="0"/>
          </a:p>
        </p:txBody>
      </p:sp>
      <p:sp>
        <p:nvSpPr>
          <p:cNvPr id="17" name="Shape 14"/>
          <p:cNvSpPr/>
          <p:nvPr/>
        </p:nvSpPr>
        <p:spPr>
          <a:xfrm>
            <a:off x="6327648" y="1353312"/>
            <a:ext cx="5303520" cy="4526280"/>
          </a:xfrm>
          <a:prstGeom prst="roundRect">
            <a:avLst>
              <a:gd name="adj" fmla="val 1616"/>
            </a:avLst>
          </a:prstGeom>
          <a:solidFill>
            <a:srgbClr val="EAF5F1"/>
          </a:solidFill>
          <a:ln w="12700">
            <a:solidFill>
              <a:srgbClr val="A6D3C7"/>
            </a:solidFill>
            <a:prstDash val="solid"/>
          </a:ln>
          <a:effectLst>
            <a:outerShdw sx="100000" sy="100000" kx="0" ky="0" algn="bl" rotWithShape="0" blurRad="19050" dist="50800" dir="2700000">
              <a:srgbClr val="000000">
                <a:alpha val="12000"/>
              </a:srgbClr>
            </a:outerShdw>
          </a:effectLst>
        </p:spPr>
      </p:sp>
      <p:sp>
        <p:nvSpPr>
          <p:cNvPr id="18" name="Text 15"/>
          <p:cNvSpPr/>
          <p:nvPr/>
        </p:nvSpPr>
        <p:spPr>
          <a:xfrm>
            <a:off x="6629400" y="1627632"/>
            <a:ext cx="1828800" cy="274320"/>
          </a:xfrm>
          <a:prstGeom prst="rect">
            <a:avLst/>
          </a:prstGeom>
          <a:noFill/>
          <a:ln/>
        </p:spPr>
        <p:txBody>
          <a:bodyPr wrap="square" lIns="0" tIns="0" rIns="0" bIns="0" rtlCol="0" anchor="ctr"/>
          <a:lstStyle/>
          <a:p>
            <a:pPr indent="0" marL="0">
              <a:buNone/>
            </a:pPr>
            <a:r>
              <a:rPr lang="en-US" sz="1900" b="1" dirty="0">
                <a:solidFill>
                  <a:srgbClr val="176B62"/>
                </a:solidFill>
                <a:latin typeface="Cambria" pitchFamily="34" charset="0"/>
                <a:ea typeface="Cambria" pitchFamily="34" charset="-122"/>
                <a:cs typeface="Cambria" pitchFamily="34" charset="-120"/>
              </a:rPr>
              <a:t>TIME-LLM</a:t>
            </a:r>
            <a:endParaRPr lang="en-US" sz="1900" dirty="0"/>
          </a:p>
        </p:txBody>
      </p:sp>
      <p:pic>
        <p:nvPicPr>
          <p:cNvPr id="19" name="Image 1" descr="/home/amma/LLM-TIME/diab llm paper presention/diabllm_deck/assets/time-llm.png">    </p:cNvPr>
          <p:cNvPicPr>
            <a:picLocks noChangeAspect="1"/>
          </p:cNvPicPr>
          <p:nvPr/>
        </p:nvPicPr>
        <p:blipFill>
          <a:blip r:embed="rId2"/>
          <a:stretch>
            <a:fillRect/>
          </a:stretch>
        </p:blipFill>
        <p:spPr>
          <a:xfrm>
            <a:off x="6629400" y="2011680"/>
            <a:ext cx="4663440" cy="1956816"/>
          </a:xfrm>
          <a:prstGeom prst="rect">
            <a:avLst/>
          </a:prstGeom>
        </p:spPr>
      </p:pic>
      <p:sp>
        <p:nvSpPr>
          <p:cNvPr id="20" name="Shape 16"/>
          <p:cNvSpPr/>
          <p:nvPr/>
        </p:nvSpPr>
        <p:spPr>
          <a:xfrm>
            <a:off x="6693408" y="4407408"/>
            <a:ext cx="914400" cy="384048"/>
          </a:xfrm>
          <a:prstGeom prst="roundRect">
            <a:avLst>
              <a:gd name="adj" fmla="val 19048"/>
            </a:avLst>
          </a:prstGeom>
          <a:solidFill>
            <a:srgbClr val="D7EEE7"/>
          </a:solidFill>
          <a:ln w="12700">
            <a:solidFill>
              <a:srgbClr val="D7EEE7"/>
            </a:solidFill>
            <a:prstDash val="solid"/>
          </a:ln>
        </p:spPr>
      </p:sp>
      <p:sp>
        <p:nvSpPr>
          <p:cNvPr id="21" name="Text 17"/>
          <p:cNvSpPr/>
          <p:nvPr/>
        </p:nvSpPr>
        <p:spPr>
          <a:xfrm>
            <a:off x="6693408" y="4480560"/>
            <a:ext cx="914400" cy="164592"/>
          </a:xfrm>
          <a:prstGeom prst="rect">
            <a:avLst/>
          </a:prstGeom>
          <a:noFill/>
          <a:ln/>
        </p:spPr>
        <p:txBody>
          <a:bodyPr wrap="square" lIns="0" tIns="0" rIns="0" bIns="0" rtlCol="0" anchor="ctr">
            <a:normAutofit/>
          </a:bodyPr>
          <a:lstStyle/>
          <a:p>
            <a:pPr algn="ctr" indent="0" marL="0">
              <a:buNone/>
            </a:pPr>
            <a:r>
              <a:rPr lang="en-US" sz="1000" b="1" dirty="0">
                <a:solidFill>
                  <a:srgbClr val="14213D"/>
                </a:solidFill>
                <a:latin typeface="Arial" pitchFamily="34" charset="0"/>
                <a:ea typeface="Arial" pitchFamily="34" charset="-122"/>
                <a:cs typeface="Arial" pitchFamily="34" charset="-120"/>
              </a:rPr>
              <a:t>patch</a:t>
            </a:r>
            <a:endParaRPr lang="en-US" sz="1000" dirty="0"/>
          </a:p>
        </p:txBody>
      </p:sp>
      <p:sp>
        <p:nvSpPr>
          <p:cNvPr id="22" name="Shape 18"/>
          <p:cNvSpPr/>
          <p:nvPr/>
        </p:nvSpPr>
        <p:spPr>
          <a:xfrm>
            <a:off x="7708392" y="4416552"/>
            <a:ext cx="347472" cy="365760"/>
          </a:xfrm>
          <a:prstGeom prst="chevron">
            <a:avLst/>
          </a:prstGeom>
          <a:solidFill>
            <a:srgbClr val="007C83"/>
          </a:solidFill>
          <a:ln w="12700">
            <a:solidFill>
              <a:srgbClr val="007C83"/>
            </a:solidFill>
            <a:prstDash val="solid"/>
          </a:ln>
        </p:spPr>
      </p:sp>
      <p:sp>
        <p:nvSpPr>
          <p:cNvPr id="23" name="Shape 19"/>
          <p:cNvSpPr/>
          <p:nvPr/>
        </p:nvSpPr>
        <p:spPr>
          <a:xfrm>
            <a:off x="8156448" y="4407408"/>
            <a:ext cx="1097280" cy="384048"/>
          </a:xfrm>
          <a:prstGeom prst="roundRect">
            <a:avLst>
              <a:gd name="adj" fmla="val 19048"/>
            </a:avLst>
          </a:prstGeom>
          <a:solidFill>
            <a:srgbClr val="D7EEE7"/>
          </a:solidFill>
          <a:ln w="12700">
            <a:solidFill>
              <a:srgbClr val="D7EEE7"/>
            </a:solidFill>
            <a:prstDash val="solid"/>
          </a:ln>
        </p:spPr>
      </p:sp>
      <p:sp>
        <p:nvSpPr>
          <p:cNvPr id="24" name="Text 20"/>
          <p:cNvSpPr/>
          <p:nvPr/>
        </p:nvSpPr>
        <p:spPr>
          <a:xfrm>
            <a:off x="8156448" y="4480560"/>
            <a:ext cx="1097280" cy="164592"/>
          </a:xfrm>
          <a:prstGeom prst="rect">
            <a:avLst/>
          </a:prstGeom>
          <a:noFill/>
          <a:ln/>
        </p:spPr>
        <p:txBody>
          <a:bodyPr wrap="square" lIns="0" tIns="0" rIns="0" bIns="0" rtlCol="0" anchor="ctr">
            <a:normAutofit/>
          </a:bodyPr>
          <a:lstStyle/>
          <a:p>
            <a:pPr algn="ctr" indent="0" marL="0">
              <a:buNone/>
            </a:pPr>
            <a:r>
              <a:rPr lang="en-US" sz="1000" b="1" dirty="0">
                <a:solidFill>
                  <a:srgbClr val="14213D"/>
                </a:solidFill>
                <a:latin typeface="Arial" pitchFamily="34" charset="0"/>
                <a:ea typeface="Arial" pitchFamily="34" charset="-122"/>
                <a:cs typeface="Arial" pitchFamily="34" charset="-120"/>
              </a:rPr>
              <a:t>reprogram</a:t>
            </a:r>
            <a:endParaRPr lang="en-US" sz="1000" dirty="0"/>
          </a:p>
        </p:txBody>
      </p:sp>
      <p:sp>
        <p:nvSpPr>
          <p:cNvPr id="25" name="Shape 21"/>
          <p:cNvSpPr/>
          <p:nvPr/>
        </p:nvSpPr>
        <p:spPr>
          <a:xfrm>
            <a:off x="9354312" y="4416552"/>
            <a:ext cx="347472" cy="365760"/>
          </a:xfrm>
          <a:prstGeom prst="chevron">
            <a:avLst/>
          </a:prstGeom>
          <a:solidFill>
            <a:srgbClr val="007C83"/>
          </a:solidFill>
          <a:ln w="12700">
            <a:solidFill>
              <a:srgbClr val="007C83"/>
            </a:solidFill>
            <a:prstDash val="solid"/>
          </a:ln>
        </p:spPr>
      </p:sp>
      <p:sp>
        <p:nvSpPr>
          <p:cNvPr id="26" name="Shape 22"/>
          <p:cNvSpPr/>
          <p:nvPr/>
        </p:nvSpPr>
        <p:spPr>
          <a:xfrm>
            <a:off x="9811512" y="4407408"/>
            <a:ext cx="1143000" cy="384048"/>
          </a:xfrm>
          <a:prstGeom prst="roundRect">
            <a:avLst>
              <a:gd name="adj" fmla="val 19048"/>
            </a:avLst>
          </a:prstGeom>
          <a:solidFill>
            <a:srgbClr val="D7EEE7"/>
          </a:solidFill>
          <a:ln w="12700">
            <a:solidFill>
              <a:srgbClr val="D7EEE7"/>
            </a:solidFill>
            <a:prstDash val="solid"/>
          </a:ln>
        </p:spPr>
      </p:sp>
      <p:sp>
        <p:nvSpPr>
          <p:cNvPr id="27" name="Text 23"/>
          <p:cNvSpPr/>
          <p:nvPr/>
        </p:nvSpPr>
        <p:spPr>
          <a:xfrm>
            <a:off x="9811512" y="4480560"/>
            <a:ext cx="1143000" cy="164592"/>
          </a:xfrm>
          <a:prstGeom prst="rect">
            <a:avLst/>
          </a:prstGeom>
          <a:noFill/>
          <a:ln/>
        </p:spPr>
        <p:txBody>
          <a:bodyPr wrap="square" lIns="0" tIns="0" rIns="0" bIns="0" rtlCol="0" anchor="ctr">
            <a:normAutofit/>
          </a:bodyPr>
          <a:lstStyle/>
          <a:p>
            <a:pPr algn="ctr" indent="0" marL="0">
              <a:buNone/>
            </a:pPr>
            <a:r>
              <a:rPr lang="en-US" sz="1000" b="1" dirty="0">
                <a:solidFill>
                  <a:srgbClr val="14213D"/>
                </a:solidFill>
                <a:latin typeface="Arial" pitchFamily="34" charset="0"/>
                <a:ea typeface="Arial" pitchFamily="34" charset="-122"/>
                <a:cs typeface="Arial" pitchFamily="34" charset="-120"/>
              </a:rPr>
              <a:t>frozen LLM</a:t>
            </a:r>
            <a:endParaRPr lang="en-US" sz="1000" dirty="0"/>
          </a:p>
        </p:txBody>
      </p:sp>
      <p:sp>
        <p:nvSpPr>
          <p:cNvPr id="28" name="Text 24"/>
          <p:cNvSpPr/>
          <p:nvPr/>
        </p:nvSpPr>
        <p:spPr>
          <a:xfrm>
            <a:off x="6693408" y="5074920"/>
            <a:ext cx="2468880" cy="256032"/>
          </a:xfrm>
          <a:prstGeom prst="rect">
            <a:avLst/>
          </a:prstGeom>
          <a:noFill/>
          <a:ln/>
        </p:spPr>
        <p:txBody>
          <a:bodyPr wrap="square" lIns="0" tIns="0" rIns="0" bIns="0" rtlCol="0" anchor="ctr"/>
          <a:lstStyle/>
          <a:p>
            <a:pPr indent="0" marL="0">
              <a:buNone/>
            </a:pPr>
            <a:r>
              <a:rPr lang="en-US" sz="1300" b="1" dirty="0">
                <a:solidFill>
                  <a:srgbClr val="176B62"/>
                </a:solidFill>
                <a:latin typeface="Arial" pitchFamily="34" charset="0"/>
                <a:ea typeface="Arial" pitchFamily="34" charset="-122"/>
                <a:cs typeface="Arial" pitchFamily="34" charset="-120"/>
              </a:rPr>
              <a:t>Modality alignment</a:t>
            </a:r>
            <a:endParaRPr lang="en-US" sz="1300" dirty="0"/>
          </a:p>
        </p:txBody>
      </p:sp>
      <p:sp>
        <p:nvSpPr>
          <p:cNvPr id="29" name="Text 25"/>
          <p:cNvSpPr/>
          <p:nvPr/>
        </p:nvSpPr>
        <p:spPr>
          <a:xfrm>
            <a:off x="6693408" y="5404104"/>
            <a:ext cx="4343400" cy="228600"/>
          </a:xfrm>
          <a:prstGeom prst="rect">
            <a:avLst/>
          </a:prstGeom>
          <a:noFill/>
          <a:ln/>
        </p:spPr>
        <p:txBody>
          <a:bodyPr wrap="square" lIns="0" tIns="0" rIns="0" bIns="0" rtlCol="0" anchor="ctr"/>
          <a:lstStyle/>
          <a:p>
            <a:pPr indent="0" marL="0">
              <a:buNone/>
            </a:pPr>
            <a:r>
              <a:rPr lang="en-US" sz="1050" dirty="0">
                <a:solidFill>
                  <a:srgbClr val="526477"/>
                </a:solidFill>
                <a:latin typeface="Arial" pitchFamily="34" charset="0"/>
                <a:ea typeface="Arial" pitchFamily="34" charset="-122"/>
                <a:cs typeface="Arial" pitchFamily="34" charset="-120"/>
              </a:rPr>
              <a:t>Lightweight layers map patches into the LLM embedding space.</a:t>
            </a:r>
            <a:endParaRPr lang="en-US" sz="1050" dirty="0"/>
          </a:p>
        </p:txBody>
      </p:sp>
      <p:sp>
        <p:nvSpPr>
          <p:cNvPr id="30" name="Text 26"/>
          <p:cNvSpPr/>
          <p:nvPr/>
        </p:nvSpPr>
        <p:spPr>
          <a:xfrm>
            <a:off x="548640" y="6236208"/>
            <a:ext cx="10927080" cy="164592"/>
          </a:xfrm>
          <a:prstGeom prst="rect">
            <a:avLst/>
          </a:prstGeom>
          <a:noFill/>
          <a:ln/>
        </p:spPr>
        <p:txBody>
          <a:bodyPr wrap="square" lIns="0" tIns="0" rIns="0" bIns="0" rtlCol="0" anchor="ctr">
            <a:normAutofit/>
          </a:bodyPr>
          <a:lstStyle/>
          <a:p>
            <a:pPr indent="0" marL="0">
              <a:buNone/>
            </a:pPr>
            <a:r>
              <a:rPr lang="en-US" sz="750" i="1" dirty="0">
                <a:solidFill>
                  <a:srgbClr val="66788A"/>
                </a:solidFill>
                <a:latin typeface="Arial" pitchFamily="34" charset="0"/>
                <a:ea typeface="Arial" pitchFamily="34" charset="-122"/>
                <a:cs typeface="Arial" pitchFamily="34" charset="-120"/>
              </a:rPr>
              <a:t>Sources: Ansari et al., Chronos, arXiv:2403.07815; Jin et al., Time-LLM, arXiv:2310.01728; DiabLLM methodology.</a:t>
            </a:r>
            <a:endParaRPr lang="en-US" sz="750" dirty="0"/>
          </a:p>
        </p:txBody>
      </p:sp>
      <p:sp>
        <p:nvSpPr>
          <p:cNvPr id="25" name="Slide Number Placeholder 0"/>
          <p:cNvSpPr>
            <a:spLocks noGrp="1"/>
          </p:cNvSpPr>
          <p:nvPr>
            <p:ph type="sldNum" sz="quarter" idx="4294967295"/>
          </p:nvPr>
        </p:nvSpPr>
        <p:spPr>
          <a:xfrm>
            <a:off x="11686032" y="20116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4114800" cy="201168"/>
          </a:xfrm>
          <a:prstGeom prst="rect">
            <a:avLst/>
          </a:prstGeom>
          <a:noFill/>
          <a:ln/>
        </p:spPr>
        <p:txBody>
          <a:bodyPr wrap="square" lIns="0" tIns="0" rIns="0" bIns="0" rtlCol="0" anchor="ctr"/>
          <a:lstStyle/>
          <a:p>
            <a:pPr indent="0" marL="0">
              <a:buNone/>
            </a:pPr>
            <a:r>
              <a:rPr lang="en-US" sz="900" b="1" spc="120" kern="0" dirty="0">
                <a:solidFill>
                  <a:srgbClr val="007C83"/>
                </a:solidFill>
                <a:latin typeface="Arial" pitchFamily="34" charset="0"/>
                <a:ea typeface="Arial" pitchFamily="34" charset="-122"/>
                <a:cs typeface="Arial" pitchFamily="34" charset="-120"/>
              </a:rPr>
              <a:t>STUDY DESIGN</a:t>
            </a:r>
            <a:endParaRPr lang="en-US" sz="900" dirty="0"/>
          </a:p>
        </p:txBody>
      </p:sp>
      <p:sp>
        <p:nvSpPr>
          <p:cNvPr id="3" name="Text 1"/>
          <p:cNvSpPr/>
          <p:nvPr/>
        </p:nvSpPr>
        <p:spPr>
          <a:xfrm>
            <a:off x="548640" y="594360"/>
            <a:ext cx="10789920" cy="621792"/>
          </a:xfrm>
          <a:prstGeom prst="rect">
            <a:avLst/>
          </a:prstGeom>
          <a:noFill/>
          <a:ln/>
        </p:spPr>
        <p:txBody>
          <a:bodyPr wrap="square" lIns="0" tIns="0" rIns="0" bIns="0" rtlCol="0" anchor="ctr">
            <a:normAutofit/>
          </a:bodyPr>
          <a:lstStyle/>
          <a:p>
            <a:pPr indent="0" marL="0">
              <a:buNone/>
            </a:pPr>
            <a:r>
              <a:rPr lang="en-US" sz="2600" b="1" dirty="0">
                <a:solidFill>
                  <a:srgbClr val="14213D"/>
                </a:solidFill>
                <a:latin typeface="Cambria" pitchFamily="34" charset="0"/>
                <a:ea typeface="Cambria" pitchFamily="34" charset="-122"/>
                <a:cs typeface="Cambria" pitchFamily="34" charset="-120"/>
              </a:rPr>
              <a:t>DiabLLM evaluates adaptation, robustness, transfer, and compression</a:t>
            </a:r>
            <a:endParaRPr lang="en-US" sz="2600" dirty="0"/>
          </a:p>
        </p:txBody>
      </p:sp>
      <p:sp>
        <p:nvSpPr>
          <p:cNvPr id="4" name="Shape 2"/>
          <p:cNvSpPr/>
          <p:nvPr/>
        </p:nvSpPr>
        <p:spPr>
          <a:xfrm>
            <a:off x="658368" y="1828800"/>
            <a:ext cx="1901952" cy="3154680"/>
          </a:xfrm>
          <a:prstGeom prst="roundRect">
            <a:avLst>
              <a:gd name="adj" fmla="val 3846"/>
            </a:avLst>
          </a:prstGeom>
          <a:solidFill>
            <a:srgbClr val="FFFFFF"/>
          </a:solidFill>
          <a:ln w="12700">
            <a:solidFill>
              <a:srgbClr val="D7E1E7"/>
            </a:solidFill>
            <a:prstDash val="solid"/>
          </a:ln>
          <a:effectLst>
            <a:outerShdw sx="100000" sy="100000" kx="0" ky="0" algn="bl" rotWithShape="0" blurRad="19050" dist="50800" dir="2700000">
              <a:srgbClr val="000000">
                <a:alpha val="12000"/>
              </a:srgbClr>
            </a:outerShdw>
          </a:effectLst>
        </p:spPr>
      </p:sp>
      <p:sp>
        <p:nvSpPr>
          <p:cNvPr id="5" name="Shape 3"/>
          <p:cNvSpPr/>
          <p:nvPr/>
        </p:nvSpPr>
        <p:spPr>
          <a:xfrm>
            <a:off x="1271016" y="2075688"/>
            <a:ext cx="658368" cy="658368"/>
          </a:xfrm>
          <a:prstGeom prst="ellipse">
            <a:avLst/>
          </a:prstGeom>
          <a:solidFill>
            <a:srgbClr val="007C83"/>
          </a:solidFill>
          <a:ln w="12700">
            <a:solidFill>
              <a:srgbClr val="007C83"/>
            </a:solidFill>
            <a:prstDash val="solid"/>
          </a:ln>
        </p:spPr>
      </p:sp>
      <p:sp>
        <p:nvSpPr>
          <p:cNvPr id="6" name="Text 4"/>
          <p:cNvSpPr/>
          <p:nvPr/>
        </p:nvSpPr>
        <p:spPr>
          <a:xfrm>
            <a:off x="1271016" y="2221992"/>
            <a:ext cx="658368" cy="20116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822960" y="3017520"/>
            <a:ext cx="1572768" cy="320040"/>
          </a:xfrm>
          <a:prstGeom prst="rect">
            <a:avLst/>
          </a:prstGeom>
          <a:noFill/>
          <a:ln/>
        </p:spPr>
        <p:txBody>
          <a:bodyPr wrap="square" lIns="0" tIns="0" rIns="0" bIns="0" rtlCol="0" anchor="ctr"/>
          <a:lstStyle/>
          <a:p>
            <a:pPr algn="ctr" indent="0" marL="0">
              <a:buNone/>
            </a:pPr>
            <a:r>
              <a:rPr lang="en-US" sz="1800" b="1" dirty="0">
                <a:solidFill>
                  <a:srgbClr val="14213D"/>
                </a:solidFill>
                <a:latin typeface="Cambria" pitchFamily="34" charset="0"/>
                <a:ea typeface="Cambria" pitchFamily="34" charset="-122"/>
                <a:cs typeface="Cambria" pitchFamily="34" charset="-120"/>
              </a:rPr>
              <a:t>Forecast</a:t>
            </a:r>
            <a:endParaRPr lang="en-US" sz="1800" dirty="0"/>
          </a:p>
        </p:txBody>
      </p:sp>
      <p:sp>
        <p:nvSpPr>
          <p:cNvPr id="8" name="Text 6"/>
          <p:cNvSpPr/>
          <p:nvPr/>
        </p:nvSpPr>
        <p:spPr>
          <a:xfrm>
            <a:off x="822960" y="3593592"/>
            <a:ext cx="1572768" cy="822960"/>
          </a:xfrm>
          <a:prstGeom prst="rect">
            <a:avLst/>
          </a:prstGeom>
          <a:noFill/>
          <a:ln/>
        </p:spPr>
        <p:txBody>
          <a:bodyPr wrap="square" lIns="508" tIns="508" rIns="508" bIns="508" rtlCol="0" anchor="ctr">
            <a:normAutofit/>
          </a:bodyPr>
          <a:lstStyle/>
          <a:p>
            <a:pPr algn="ctr" indent="0" marL="0">
              <a:buNone/>
            </a:pPr>
            <a:r>
              <a:rPr lang="en-US" sz="1100" dirty="0">
                <a:solidFill>
                  <a:srgbClr val="526477"/>
                </a:solidFill>
                <a:latin typeface="Arial" pitchFamily="34" charset="0"/>
                <a:ea typeface="Arial" pitchFamily="34" charset="-122"/>
                <a:cs typeface="Arial" pitchFamily="34" charset="-120"/>
              </a:rPr>
              <a:t>Zero-shot and personalized fine-tuning</a:t>
            </a:r>
            <a:endParaRPr lang="en-US" sz="1100" dirty="0"/>
          </a:p>
        </p:txBody>
      </p:sp>
      <p:sp>
        <p:nvSpPr>
          <p:cNvPr id="9" name="Shape 7"/>
          <p:cNvSpPr/>
          <p:nvPr/>
        </p:nvSpPr>
        <p:spPr>
          <a:xfrm>
            <a:off x="2596896" y="3182112"/>
            <a:ext cx="256032" cy="365760"/>
          </a:xfrm>
          <a:prstGeom prst="chevron">
            <a:avLst/>
          </a:prstGeom>
          <a:solidFill>
            <a:srgbClr val="9AB1BC"/>
          </a:solidFill>
          <a:ln w="12700">
            <a:solidFill>
              <a:srgbClr val="9AB1BC"/>
            </a:solidFill>
            <a:prstDash val="solid"/>
          </a:ln>
        </p:spPr>
      </p:sp>
      <p:sp>
        <p:nvSpPr>
          <p:cNvPr id="10" name="Shape 8"/>
          <p:cNvSpPr/>
          <p:nvPr/>
        </p:nvSpPr>
        <p:spPr>
          <a:xfrm>
            <a:off x="2926080" y="1828800"/>
            <a:ext cx="1901952" cy="3154680"/>
          </a:xfrm>
          <a:prstGeom prst="roundRect">
            <a:avLst>
              <a:gd name="adj" fmla="val 3846"/>
            </a:avLst>
          </a:prstGeom>
          <a:solidFill>
            <a:srgbClr val="EDF4F7"/>
          </a:solidFill>
          <a:ln w="12700">
            <a:solidFill>
              <a:srgbClr val="D7E1E7"/>
            </a:solidFill>
            <a:prstDash val="solid"/>
          </a:ln>
          <a:effectLst>
            <a:outerShdw sx="100000" sy="100000" kx="0" ky="0" algn="bl" rotWithShape="0" blurRad="19050" dist="50800" dir="2700000">
              <a:srgbClr val="000000">
                <a:alpha val="12000"/>
              </a:srgbClr>
            </a:outerShdw>
          </a:effectLst>
        </p:spPr>
      </p:sp>
      <p:sp>
        <p:nvSpPr>
          <p:cNvPr id="11" name="Shape 9"/>
          <p:cNvSpPr/>
          <p:nvPr/>
        </p:nvSpPr>
        <p:spPr>
          <a:xfrm>
            <a:off x="3538728" y="2075688"/>
            <a:ext cx="658368" cy="658368"/>
          </a:xfrm>
          <a:prstGeom prst="ellipse">
            <a:avLst/>
          </a:prstGeom>
          <a:solidFill>
            <a:srgbClr val="E76F51"/>
          </a:solidFill>
          <a:ln w="12700">
            <a:solidFill>
              <a:srgbClr val="E76F51"/>
            </a:solidFill>
            <a:prstDash val="solid"/>
          </a:ln>
        </p:spPr>
      </p:sp>
      <p:sp>
        <p:nvSpPr>
          <p:cNvPr id="12" name="Text 10"/>
          <p:cNvSpPr/>
          <p:nvPr/>
        </p:nvSpPr>
        <p:spPr>
          <a:xfrm>
            <a:off x="3538728" y="2221992"/>
            <a:ext cx="658368" cy="20116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3090672" y="3017520"/>
            <a:ext cx="1572768" cy="320040"/>
          </a:xfrm>
          <a:prstGeom prst="rect">
            <a:avLst/>
          </a:prstGeom>
          <a:noFill/>
          <a:ln/>
        </p:spPr>
        <p:txBody>
          <a:bodyPr wrap="square" lIns="0" tIns="0" rIns="0" bIns="0" rtlCol="0" anchor="ctr"/>
          <a:lstStyle/>
          <a:p>
            <a:pPr algn="ctr" indent="0" marL="0">
              <a:buNone/>
            </a:pPr>
            <a:r>
              <a:rPr lang="en-US" sz="1800" b="1" dirty="0">
                <a:solidFill>
                  <a:srgbClr val="14213D"/>
                </a:solidFill>
                <a:latin typeface="Cambria" pitchFamily="34" charset="0"/>
                <a:ea typeface="Cambria" pitchFamily="34" charset="-122"/>
                <a:cs typeface="Cambria" pitchFamily="34" charset="-120"/>
              </a:rPr>
              <a:t>Stress</a:t>
            </a:r>
            <a:endParaRPr lang="en-US" sz="1800" dirty="0"/>
          </a:p>
        </p:txBody>
      </p:sp>
      <p:sp>
        <p:nvSpPr>
          <p:cNvPr id="14" name="Text 12"/>
          <p:cNvSpPr/>
          <p:nvPr/>
        </p:nvSpPr>
        <p:spPr>
          <a:xfrm>
            <a:off x="3090672" y="3593592"/>
            <a:ext cx="1572768" cy="822960"/>
          </a:xfrm>
          <a:prstGeom prst="rect">
            <a:avLst/>
          </a:prstGeom>
          <a:noFill/>
          <a:ln/>
        </p:spPr>
        <p:txBody>
          <a:bodyPr wrap="square" lIns="508" tIns="508" rIns="508" bIns="508" rtlCol="0" anchor="ctr">
            <a:normAutofit/>
          </a:bodyPr>
          <a:lstStyle/>
          <a:p>
            <a:pPr algn="ctr" indent="0" marL="0">
              <a:buNone/>
            </a:pPr>
            <a:r>
              <a:rPr lang="en-US" sz="1100" dirty="0">
                <a:solidFill>
                  <a:srgbClr val="526477"/>
                </a:solidFill>
                <a:latin typeface="Arial" pitchFamily="34" charset="0"/>
                <a:ea typeface="Arial" pitchFamily="34" charset="-122"/>
                <a:cs typeface="Arial" pitchFamily="34" charset="-120"/>
              </a:rPr>
              <a:t>Noise, calibration bias, and missing CGM</a:t>
            </a:r>
            <a:endParaRPr lang="en-US" sz="1100" dirty="0"/>
          </a:p>
        </p:txBody>
      </p:sp>
      <p:sp>
        <p:nvSpPr>
          <p:cNvPr id="15" name="Shape 13"/>
          <p:cNvSpPr/>
          <p:nvPr/>
        </p:nvSpPr>
        <p:spPr>
          <a:xfrm>
            <a:off x="4864608" y="3182112"/>
            <a:ext cx="256032" cy="365760"/>
          </a:xfrm>
          <a:prstGeom prst="chevron">
            <a:avLst/>
          </a:prstGeom>
          <a:solidFill>
            <a:srgbClr val="9AB1BC"/>
          </a:solidFill>
          <a:ln w="12700">
            <a:solidFill>
              <a:srgbClr val="9AB1BC"/>
            </a:solidFill>
            <a:prstDash val="solid"/>
          </a:ln>
        </p:spPr>
      </p:sp>
      <p:sp>
        <p:nvSpPr>
          <p:cNvPr id="16" name="Shape 14"/>
          <p:cNvSpPr/>
          <p:nvPr/>
        </p:nvSpPr>
        <p:spPr>
          <a:xfrm>
            <a:off x="5193792" y="1828800"/>
            <a:ext cx="1901952" cy="3154680"/>
          </a:xfrm>
          <a:prstGeom prst="roundRect">
            <a:avLst>
              <a:gd name="adj" fmla="val 3846"/>
            </a:avLst>
          </a:prstGeom>
          <a:solidFill>
            <a:srgbClr val="FFFFFF"/>
          </a:solidFill>
          <a:ln w="12700">
            <a:solidFill>
              <a:srgbClr val="D7E1E7"/>
            </a:solidFill>
            <a:prstDash val="solid"/>
          </a:ln>
          <a:effectLst>
            <a:outerShdw sx="100000" sy="100000" kx="0" ky="0" algn="bl" rotWithShape="0" blurRad="19050" dist="50800" dir="2700000">
              <a:srgbClr val="000000">
                <a:alpha val="12000"/>
              </a:srgbClr>
            </a:outerShdw>
          </a:effectLst>
        </p:spPr>
      </p:sp>
      <p:sp>
        <p:nvSpPr>
          <p:cNvPr id="17" name="Shape 15"/>
          <p:cNvSpPr/>
          <p:nvPr/>
        </p:nvSpPr>
        <p:spPr>
          <a:xfrm>
            <a:off x="5806440" y="2075688"/>
            <a:ext cx="658368" cy="658368"/>
          </a:xfrm>
          <a:prstGeom prst="ellipse">
            <a:avLst/>
          </a:prstGeom>
          <a:solidFill>
            <a:srgbClr val="E9C46A"/>
          </a:solidFill>
          <a:ln w="12700">
            <a:solidFill>
              <a:srgbClr val="E9C46A"/>
            </a:solidFill>
            <a:prstDash val="solid"/>
          </a:ln>
        </p:spPr>
      </p:sp>
      <p:sp>
        <p:nvSpPr>
          <p:cNvPr id="18" name="Text 16"/>
          <p:cNvSpPr/>
          <p:nvPr/>
        </p:nvSpPr>
        <p:spPr>
          <a:xfrm>
            <a:off x="5806440" y="2221992"/>
            <a:ext cx="658368" cy="201168"/>
          </a:xfrm>
          <a:prstGeom prst="rect">
            <a:avLst/>
          </a:prstGeom>
          <a:noFill/>
          <a:ln/>
        </p:spPr>
        <p:txBody>
          <a:bodyPr wrap="square" lIns="0" tIns="0" rIns="0" bIns="0" rtlCol="0" anchor="ctr"/>
          <a:lstStyle/>
          <a:p>
            <a:pPr algn="ctr" indent="0" marL="0">
              <a:buNone/>
            </a:pPr>
            <a:r>
              <a:rPr lang="en-US" sz="1500" b="1" dirty="0">
                <a:solidFill>
                  <a:srgbClr val="0B1F33"/>
                </a:solidFill>
                <a:latin typeface="Cambria" pitchFamily="34" charset="0"/>
                <a:ea typeface="Cambria" pitchFamily="34" charset="-122"/>
                <a:cs typeface="Cambria" pitchFamily="34" charset="-120"/>
              </a:rPr>
              <a:t>3</a:t>
            </a:r>
            <a:endParaRPr lang="en-US" sz="1500" dirty="0"/>
          </a:p>
        </p:txBody>
      </p:sp>
      <p:sp>
        <p:nvSpPr>
          <p:cNvPr id="19" name="Text 17"/>
          <p:cNvSpPr/>
          <p:nvPr/>
        </p:nvSpPr>
        <p:spPr>
          <a:xfrm>
            <a:off x="5358384" y="3017520"/>
            <a:ext cx="1572768" cy="320040"/>
          </a:xfrm>
          <a:prstGeom prst="rect">
            <a:avLst/>
          </a:prstGeom>
          <a:noFill/>
          <a:ln/>
        </p:spPr>
        <p:txBody>
          <a:bodyPr wrap="square" lIns="0" tIns="0" rIns="0" bIns="0" rtlCol="0" anchor="ctr"/>
          <a:lstStyle/>
          <a:p>
            <a:pPr algn="ctr" indent="0" marL="0">
              <a:buNone/>
            </a:pPr>
            <a:r>
              <a:rPr lang="en-US" sz="1800" b="1" dirty="0">
                <a:solidFill>
                  <a:srgbClr val="14213D"/>
                </a:solidFill>
                <a:latin typeface="Cambria" pitchFamily="34" charset="0"/>
                <a:ea typeface="Cambria" pitchFamily="34" charset="-122"/>
                <a:cs typeface="Cambria" pitchFamily="34" charset="-120"/>
              </a:rPr>
              <a:t>Transfer</a:t>
            </a:r>
            <a:endParaRPr lang="en-US" sz="1800" dirty="0"/>
          </a:p>
        </p:txBody>
      </p:sp>
      <p:sp>
        <p:nvSpPr>
          <p:cNvPr id="20" name="Text 18"/>
          <p:cNvSpPr/>
          <p:nvPr/>
        </p:nvSpPr>
        <p:spPr>
          <a:xfrm>
            <a:off x="5358384" y="3593592"/>
            <a:ext cx="1572768" cy="822960"/>
          </a:xfrm>
          <a:prstGeom prst="rect">
            <a:avLst/>
          </a:prstGeom>
          <a:noFill/>
          <a:ln/>
        </p:spPr>
        <p:txBody>
          <a:bodyPr wrap="square" lIns="508" tIns="508" rIns="508" bIns="508" rtlCol="0" anchor="ctr">
            <a:normAutofit/>
          </a:bodyPr>
          <a:lstStyle/>
          <a:p>
            <a:pPr algn="ctr" indent="0" marL="0">
              <a:buNone/>
            </a:pPr>
            <a:r>
              <a:rPr lang="en-US" sz="1100" dirty="0">
                <a:solidFill>
                  <a:srgbClr val="526477"/>
                </a:solidFill>
                <a:latin typeface="Arial" pitchFamily="34" charset="0"/>
                <a:ea typeface="Arial" pitchFamily="34" charset="-122"/>
                <a:cs typeface="Arial" pitchFamily="34" charset="-120"/>
              </a:rPr>
              <a:t>Cross-patient evaluation</a:t>
            </a:r>
            <a:endParaRPr lang="en-US" sz="1100" dirty="0"/>
          </a:p>
        </p:txBody>
      </p:sp>
      <p:sp>
        <p:nvSpPr>
          <p:cNvPr id="21" name="Shape 19"/>
          <p:cNvSpPr/>
          <p:nvPr/>
        </p:nvSpPr>
        <p:spPr>
          <a:xfrm>
            <a:off x="7132320" y="3182112"/>
            <a:ext cx="256032" cy="365760"/>
          </a:xfrm>
          <a:prstGeom prst="chevron">
            <a:avLst/>
          </a:prstGeom>
          <a:solidFill>
            <a:srgbClr val="9AB1BC"/>
          </a:solidFill>
          <a:ln w="12700">
            <a:solidFill>
              <a:srgbClr val="9AB1BC"/>
            </a:solidFill>
            <a:prstDash val="solid"/>
          </a:ln>
        </p:spPr>
      </p:sp>
      <p:sp>
        <p:nvSpPr>
          <p:cNvPr id="22" name="Shape 20"/>
          <p:cNvSpPr/>
          <p:nvPr/>
        </p:nvSpPr>
        <p:spPr>
          <a:xfrm>
            <a:off x="7461504" y="1828800"/>
            <a:ext cx="1901952" cy="3154680"/>
          </a:xfrm>
          <a:prstGeom prst="roundRect">
            <a:avLst>
              <a:gd name="adj" fmla="val 3846"/>
            </a:avLst>
          </a:prstGeom>
          <a:solidFill>
            <a:srgbClr val="EDF4F7"/>
          </a:solidFill>
          <a:ln w="12700">
            <a:solidFill>
              <a:srgbClr val="D7E1E7"/>
            </a:solidFill>
            <a:prstDash val="solid"/>
          </a:ln>
          <a:effectLst>
            <a:outerShdw sx="100000" sy="100000" kx="0" ky="0" algn="bl" rotWithShape="0" blurRad="19050" dist="50800" dir="2700000">
              <a:srgbClr val="000000">
                <a:alpha val="12000"/>
              </a:srgbClr>
            </a:outerShdw>
          </a:effectLst>
        </p:spPr>
      </p:sp>
      <p:sp>
        <p:nvSpPr>
          <p:cNvPr id="23" name="Shape 21"/>
          <p:cNvSpPr/>
          <p:nvPr/>
        </p:nvSpPr>
        <p:spPr>
          <a:xfrm>
            <a:off x="8074152" y="2075688"/>
            <a:ext cx="658368" cy="658368"/>
          </a:xfrm>
          <a:prstGeom prst="ellipse">
            <a:avLst/>
          </a:prstGeom>
          <a:solidFill>
            <a:srgbClr val="2A9D8F"/>
          </a:solidFill>
          <a:ln w="12700">
            <a:solidFill>
              <a:srgbClr val="2A9D8F"/>
            </a:solidFill>
            <a:prstDash val="solid"/>
          </a:ln>
        </p:spPr>
      </p:sp>
      <p:sp>
        <p:nvSpPr>
          <p:cNvPr id="24" name="Text 22"/>
          <p:cNvSpPr/>
          <p:nvPr/>
        </p:nvSpPr>
        <p:spPr>
          <a:xfrm>
            <a:off x="8074152" y="2221992"/>
            <a:ext cx="658368" cy="20116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5" name="Text 23"/>
          <p:cNvSpPr/>
          <p:nvPr/>
        </p:nvSpPr>
        <p:spPr>
          <a:xfrm>
            <a:off x="7626096" y="3017520"/>
            <a:ext cx="1572768" cy="320040"/>
          </a:xfrm>
          <a:prstGeom prst="rect">
            <a:avLst/>
          </a:prstGeom>
          <a:noFill/>
          <a:ln/>
        </p:spPr>
        <p:txBody>
          <a:bodyPr wrap="square" lIns="0" tIns="0" rIns="0" bIns="0" rtlCol="0" anchor="ctr"/>
          <a:lstStyle/>
          <a:p>
            <a:pPr algn="ctr" indent="0" marL="0">
              <a:buNone/>
            </a:pPr>
            <a:r>
              <a:rPr lang="en-US" sz="1800" b="1" dirty="0">
                <a:solidFill>
                  <a:srgbClr val="14213D"/>
                </a:solidFill>
                <a:latin typeface="Cambria" pitchFamily="34" charset="0"/>
                <a:ea typeface="Cambria" pitchFamily="34" charset="-122"/>
                <a:cs typeface="Cambria" pitchFamily="34" charset="-120"/>
              </a:rPr>
              <a:t>Compress</a:t>
            </a:r>
            <a:endParaRPr lang="en-US" sz="1800" dirty="0"/>
          </a:p>
        </p:txBody>
      </p:sp>
      <p:sp>
        <p:nvSpPr>
          <p:cNvPr id="26" name="Text 24"/>
          <p:cNvSpPr/>
          <p:nvPr/>
        </p:nvSpPr>
        <p:spPr>
          <a:xfrm>
            <a:off x="7626096" y="3593592"/>
            <a:ext cx="1572768" cy="822960"/>
          </a:xfrm>
          <a:prstGeom prst="rect">
            <a:avLst/>
          </a:prstGeom>
          <a:noFill/>
          <a:ln/>
        </p:spPr>
        <p:txBody>
          <a:bodyPr wrap="square" lIns="508" tIns="508" rIns="508" bIns="508" rtlCol="0" anchor="ctr">
            <a:normAutofit/>
          </a:bodyPr>
          <a:lstStyle/>
          <a:p>
            <a:pPr algn="ctr" indent="0" marL="0">
              <a:buNone/>
            </a:pPr>
            <a:r>
              <a:rPr lang="en-US" sz="1100" dirty="0">
                <a:solidFill>
                  <a:srgbClr val="526477"/>
                </a:solidFill>
                <a:latin typeface="Arial" pitchFamily="34" charset="0"/>
                <a:ea typeface="Arial" pitchFamily="34" charset="-122"/>
                <a:cs typeface="Arial" pitchFamily="34" charset="-120"/>
              </a:rPr>
              <a:t>BERT teacher to TinyBERT student</a:t>
            </a:r>
            <a:endParaRPr lang="en-US" sz="1100" dirty="0"/>
          </a:p>
        </p:txBody>
      </p:sp>
      <p:sp>
        <p:nvSpPr>
          <p:cNvPr id="27" name="Shape 25"/>
          <p:cNvSpPr/>
          <p:nvPr/>
        </p:nvSpPr>
        <p:spPr>
          <a:xfrm>
            <a:off x="9400032" y="3182112"/>
            <a:ext cx="256032" cy="365760"/>
          </a:xfrm>
          <a:prstGeom prst="chevron">
            <a:avLst/>
          </a:prstGeom>
          <a:solidFill>
            <a:srgbClr val="9AB1BC"/>
          </a:solidFill>
          <a:ln w="12700">
            <a:solidFill>
              <a:srgbClr val="9AB1BC"/>
            </a:solidFill>
            <a:prstDash val="solid"/>
          </a:ln>
        </p:spPr>
      </p:sp>
      <p:sp>
        <p:nvSpPr>
          <p:cNvPr id="28" name="Shape 26"/>
          <p:cNvSpPr/>
          <p:nvPr/>
        </p:nvSpPr>
        <p:spPr>
          <a:xfrm>
            <a:off x="9729216" y="1828800"/>
            <a:ext cx="1901952" cy="3154680"/>
          </a:xfrm>
          <a:prstGeom prst="roundRect">
            <a:avLst>
              <a:gd name="adj" fmla="val 3846"/>
            </a:avLst>
          </a:prstGeom>
          <a:solidFill>
            <a:srgbClr val="FFFFFF"/>
          </a:solidFill>
          <a:ln w="25400">
            <a:solidFill>
              <a:srgbClr val="E76F51"/>
            </a:solidFill>
            <a:prstDash val="solid"/>
          </a:ln>
          <a:effectLst>
            <a:outerShdw sx="100000" sy="100000" kx="0" ky="0" algn="bl" rotWithShape="0" blurRad="19050" dist="50800" dir="2700000">
              <a:srgbClr val="000000">
                <a:alpha val="12000"/>
              </a:srgbClr>
            </a:outerShdw>
          </a:effectLst>
        </p:spPr>
      </p:sp>
      <p:sp>
        <p:nvSpPr>
          <p:cNvPr id="29" name="Shape 27"/>
          <p:cNvSpPr/>
          <p:nvPr/>
        </p:nvSpPr>
        <p:spPr>
          <a:xfrm>
            <a:off x="10341864" y="2075688"/>
            <a:ext cx="658368" cy="658368"/>
          </a:xfrm>
          <a:prstGeom prst="ellipse">
            <a:avLst/>
          </a:prstGeom>
          <a:solidFill>
            <a:srgbClr val="0B1F33"/>
          </a:solidFill>
          <a:ln w="12700">
            <a:solidFill>
              <a:srgbClr val="0B1F33"/>
            </a:solidFill>
            <a:prstDash val="solid"/>
          </a:ln>
        </p:spPr>
      </p:sp>
      <p:sp>
        <p:nvSpPr>
          <p:cNvPr id="30" name="Text 28"/>
          <p:cNvSpPr/>
          <p:nvPr/>
        </p:nvSpPr>
        <p:spPr>
          <a:xfrm>
            <a:off x="10341864" y="2221992"/>
            <a:ext cx="658368" cy="20116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31" name="Text 29"/>
          <p:cNvSpPr/>
          <p:nvPr/>
        </p:nvSpPr>
        <p:spPr>
          <a:xfrm>
            <a:off x="9893808" y="3017520"/>
            <a:ext cx="1572768" cy="320040"/>
          </a:xfrm>
          <a:prstGeom prst="rect">
            <a:avLst/>
          </a:prstGeom>
          <a:noFill/>
          <a:ln/>
        </p:spPr>
        <p:txBody>
          <a:bodyPr wrap="square" lIns="0" tIns="0" rIns="0" bIns="0" rtlCol="0" anchor="ctr"/>
          <a:lstStyle/>
          <a:p>
            <a:pPr algn="ctr" indent="0" marL="0">
              <a:buNone/>
            </a:pPr>
            <a:r>
              <a:rPr lang="en-US" sz="1800" b="1" dirty="0">
                <a:solidFill>
                  <a:srgbClr val="14213D"/>
                </a:solidFill>
                <a:latin typeface="Cambria" pitchFamily="34" charset="0"/>
                <a:ea typeface="Cambria" pitchFamily="34" charset="-122"/>
                <a:cs typeface="Cambria" pitchFamily="34" charset="-120"/>
              </a:rPr>
              <a:t>Assess</a:t>
            </a:r>
            <a:endParaRPr lang="en-US" sz="1800" dirty="0"/>
          </a:p>
        </p:txBody>
      </p:sp>
      <p:sp>
        <p:nvSpPr>
          <p:cNvPr id="32" name="Text 30"/>
          <p:cNvSpPr/>
          <p:nvPr/>
        </p:nvSpPr>
        <p:spPr>
          <a:xfrm>
            <a:off x="9893808" y="3593592"/>
            <a:ext cx="1572768" cy="822960"/>
          </a:xfrm>
          <a:prstGeom prst="rect">
            <a:avLst/>
          </a:prstGeom>
          <a:noFill/>
          <a:ln/>
        </p:spPr>
        <p:txBody>
          <a:bodyPr wrap="square" lIns="508" tIns="508" rIns="508" bIns="508" rtlCol="0" anchor="ctr">
            <a:normAutofit/>
          </a:bodyPr>
          <a:lstStyle/>
          <a:p>
            <a:pPr algn="ctr" indent="0" marL="0">
              <a:buNone/>
            </a:pPr>
            <a:r>
              <a:rPr lang="en-US" sz="1100" dirty="0">
                <a:solidFill>
                  <a:srgbClr val="526477"/>
                </a:solidFill>
                <a:latin typeface="Arial" pitchFamily="34" charset="0"/>
                <a:ea typeface="Arial" pitchFamily="34" charset="-122"/>
                <a:cs typeface="Arial" pitchFamily="34" charset="-120"/>
              </a:rPr>
              <a:t>RMSE, MAE, CEG, SEG, and efficiency</a:t>
            </a:r>
            <a:endParaRPr lang="en-US" sz="1100" dirty="0"/>
          </a:p>
        </p:txBody>
      </p:sp>
      <p:sp>
        <p:nvSpPr>
          <p:cNvPr id="33" name="Text 31"/>
          <p:cNvSpPr/>
          <p:nvPr/>
        </p:nvSpPr>
        <p:spPr>
          <a:xfrm>
            <a:off x="1115568" y="5440680"/>
            <a:ext cx="9921240" cy="365760"/>
          </a:xfrm>
          <a:prstGeom prst="rect">
            <a:avLst/>
          </a:prstGeom>
          <a:noFill/>
          <a:ln/>
        </p:spPr>
        <p:txBody>
          <a:bodyPr wrap="square" lIns="0" tIns="0" rIns="0" bIns="0" rtlCol="0" anchor="ctr"/>
          <a:lstStyle/>
          <a:p>
            <a:pPr algn="ctr" indent="0" marL="0">
              <a:buNone/>
            </a:pPr>
            <a:r>
              <a:rPr lang="en-US" sz="1900" b="1" dirty="0">
                <a:solidFill>
                  <a:srgbClr val="007C83"/>
                </a:solidFill>
                <a:latin typeface="Cambria" pitchFamily="34" charset="0"/>
                <a:ea typeface="Cambria" pitchFamily="34" charset="-122"/>
                <a:cs typeface="Cambria" pitchFamily="34" charset="-120"/>
              </a:rPr>
              <a:t>The contribution is the complete evidence chain - not a single leaderboard number.</a:t>
            </a:r>
            <a:endParaRPr lang="en-US" sz="1900" dirty="0"/>
          </a:p>
        </p:txBody>
      </p:sp>
      <p:sp>
        <p:nvSpPr>
          <p:cNvPr id="34" name="Text 32"/>
          <p:cNvSpPr/>
          <p:nvPr/>
        </p:nvSpPr>
        <p:spPr>
          <a:xfrm>
            <a:off x="548640" y="6236208"/>
            <a:ext cx="10927080" cy="164592"/>
          </a:xfrm>
          <a:prstGeom prst="rect">
            <a:avLst/>
          </a:prstGeom>
          <a:noFill/>
          <a:ln/>
        </p:spPr>
        <p:txBody>
          <a:bodyPr wrap="square" lIns="0" tIns="0" rIns="0" bIns="0" rtlCol="0" anchor="ctr">
            <a:normAutofit/>
          </a:bodyPr>
          <a:lstStyle/>
          <a:p>
            <a:pPr indent="0" marL="0">
              <a:buNone/>
            </a:pPr>
            <a:r>
              <a:rPr lang="en-US" sz="750" i="1" dirty="0">
                <a:solidFill>
                  <a:srgbClr val="66788A"/>
                </a:solidFill>
                <a:latin typeface="Arial" pitchFamily="34" charset="0"/>
                <a:ea typeface="Arial" pitchFamily="34" charset="-122"/>
                <a:cs typeface="Arial" pitchFamily="34" charset="-120"/>
              </a:rPr>
              <a:t>Source: DiabLLM methodology and experimental sections.</a:t>
            </a:r>
            <a:endParaRPr lang="en-US" sz="750" dirty="0"/>
          </a:p>
        </p:txBody>
      </p:sp>
      <p:sp>
        <p:nvSpPr>
          <p:cNvPr id="25" name="Slide Number Placeholder 0"/>
          <p:cNvSpPr>
            <a:spLocks noGrp="1"/>
          </p:cNvSpPr>
          <p:nvPr>
            <p:ph type="sldNum" sz="quarter" idx="4294967295"/>
          </p:nvPr>
        </p:nvSpPr>
        <p:spPr>
          <a:xfrm>
            <a:off x="11686032" y="20116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0040"/>
            <a:ext cx="4114800" cy="201168"/>
          </a:xfrm>
          <a:prstGeom prst="rect">
            <a:avLst/>
          </a:prstGeom>
          <a:noFill/>
          <a:ln/>
        </p:spPr>
        <p:txBody>
          <a:bodyPr wrap="square" lIns="0" tIns="0" rIns="0" bIns="0" rtlCol="0" anchor="ctr"/>
          <a:lstStyle/>
          <a:p>
            <a:pPr indent="0" marL="0">
              <a:buNone/>
            </a:pPr>
            <a:r>
              <a:rPr lang="en-US" sz="900" b="1" spc="120" kern="0" dirty="0">
                <a:solidFill>
                  <a:srgbClr val="007C83"/>
                </a:solidFill>
                <a:latin typeface="Arial" pitchFamily="34" charset="0"/>
                <a:ea typeface="Arial" pitchFamily="34" charset="-122"/>
                <a:cs typeface="Arial" pitchFamily="34" charset="-120"/>
              </a:rPr>
              <a:t>DATA AND PROTOCOL</a:t>
            </a:r>
            <a:endParaRPr lang="en-US" sz="900" dirty="0"/>
          </a:p>
        </p:txBody>
      </p:sp>
      <p:sp>
        <p:nvSpPr>
          <p:cNvPr id="3" name="Text 1"/>
          <p:cNvSpPr/>
          <p:nvPr/>
        </p:nvSpPr>
        <p:spPr>
          <a:xfrm>
            <a:off x="548640" y="594360"/>
            <a:ext cx="10789920" cy="621792"/>
          </a:xfrm>
          <a:prstGeom prst="rect">
            <a:avLst/>
          </a:prstGeom>
          <a:noFill/>
          <a:ln/>
        </p:spPr>
        <p:txBody>
          <a:bodyPr wrap="square" lIns="0" tIns="0" rIns="0" bIns="0" rtlCol="0" anchor="ctr">
            <a:normAutofit/>
          </a:bodyPr>
          <a:lstStyle/>
          <a:p>
            <a:pPr indent="0" marL="0">
              <a:buNone/>
            </a:pPr>
            <a:r>
              <a:rPr lang="en-US" sz="2600" b="1" dirty="0">
                <a:solidFill>
                  <a:srgbClr val="14213D"/>
                </a:solidFill>
                <a:latin typeface="Cambria" pitchFamily="34" charset="0"/>
                <a:ea typeface="Cambria" pitchFamily="34" charset="-122"/>
                <a:cs typeface="Cambria" pitchFamily="34" charset="-120"/>
              </a:rPr>
              <a:t>Two public T1DM cohorts test personalization and external transfer</a:t>
            </a:r>
            <a:endParaRPr lang="en-US" sz="2600" dirty="0"/>
          </a:p>
        </p:txBody>
      </p:sp>
      <p:sp>
        <p:nvSpPr>
          <p:cNvPr id="4" name="Shape 2"/>
          <p:cNvSpPr/>
          <p:nvPr/>
        </p:nvSpPr>
        <p:spPr>
          <a:xfrm>
            <a:off x="658368" y="1417320"/>
            <a:ext cx="5285232" cy="4343400"/>
          </a:xfrm>
          <a:prstGeom prst="roundRect">
            <a:avLst>
              <a:gd name="adj" fmla="val 1684"/>
            </a:avLst>
          </a:prstGeom>
          <a:solidFill>
            <a:srgbClr val="0B1F33"/>
          </a:solidFill>
          <a:ln w="12700">
            <a:solidFill>
              <a:srgbClr val="0B1F33"/>
            </a:solidFill>
            <a:prstDash val="solid"/>
          </a:ln>
          <a:effectLst>
            <a:outerShdw sx="100000" sy="100000" kx="0" ky="0" algn="bl" rotWithShape="0" blurRad="19050" dist="50800" dir="2700000">
              <a:srgbClr val="000000">
                <a:alpha val="12000"/>
              </a:srgbClr>
            </a:outerShdw>
          </a:effectLst>
        </p:spPr>
      </p:sp>
      <p:sp>
        <p:nvSpPr>
          <p:cNvPr id="5" name="Text 3"/>
          <p:cNvSpPr/>
          <p:nvPr/>
        </p:nvSpPr>
        <p:spPr>
          <a:xfrm>
            <a:off x="960120" y="1773936"/>
            <a:ext cx="2286000" cy="36576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OhioT1DM</a:t>
            </a:r>
            <a:endParaRPr lang="en-US" sz="2500" dirty="0"/>
          </a:p>
        </p:txBody>
      </p:sp>
      <p:sp>
        <p:nvSpPr>
          <p:cNvPr id="6" name="Shape 4"/>
          <p:cNvSpPr/>
          <p:nvPr/>
        </p:nvSpPr>
        <p:spPr>
          <a:xfrm>
            <a:off x="932688" y="2423160"/>
            <a:ext cx="1325880" cy="1188720"/>
          </a:xfrm>
          <a:prstGeom prst="roundRect">
            <a:avLst>
              <a:gd name="adj" fmla="val 6154"/>
            </a:avLst>
          </a:prstGeom>
          <a:solidFill>
            <a:srgbClr val="173149"/>
          </a:solidFill>
          <a:ln w="12700">
            <a:solidFill>
              <a:srgbClr val="D3E0E5"/>
            </a:solidFill>
            <a:prstDash val="solid"/>
          </a:ln>
          <a:effectLst>
            <a:outerShdw sx="100000" sy="100000" kx="0" ky="0" algn="bl" rotWithShape="0" blurRad="19050" dist="50800" dir="2700000">
              <a:srgbClr val="000000">
                <a:alpha val="12000"/>
              </a:srgbClr>
            </a:outerShdw>
          </a:effectLst>
        </p:spPr>
      </p:sp>
      <p:sp>
        <p:nvSpPr>
          <p:cNvPr id="7" name="Text 5"/>
          <p:cNvSpPr/>
          <p:nvPr/>
        </p:nvSpPr>
        <p:spPr>
          <a:xfrm>
            <a:off x="1115568" y="2587752"/>
            <a:ext cx="960120" cy="393192"/>
          </a:xfrm>
          <a:prstGeom prst="rect">
            <a:avLst/>
          </a:prstGeom>
          <a:noFill/>
          <a:ln/>
        </p:spPr>
        <p:txBody>
          <a:bodyPr wrap="square" lIns="0" tIns="0" rIns="0" bIns="0" rtlCol="0" anchor="ctr">
            <a:normAutofit/>
          </a:bodyPr>
          <a:lstStyle/>
          <a:p>
            <a:pPr indent="0" marL="0">
              <a:buNone/>
            </a:pPr>
            <a:r>
              <a:rPr lang="en-US" sz="2600" b="1" dirty="0">
                <a:solidFill>
                  <a:srgbClr val="E9C46A"/>
                </a:solidFill>
                <a:latin typeface="Cambria" pitchFamily="34" charset="0"/>
                <a:ea typeface="Cambria" pitchFamily="34" charset="-122"/>
                <a:cs typeface="Cambria" pitchFamily="34" charset="-120"/>
              </a:rPr>
              <a:t>12</a:t>
            </a:r>
            <a:endParaRPr lang="en-US" sz="2600" dirty="0"/>
          </a:p>
        </p:txBody>
      </p:sp>
      <p:sp>
        <p:nvSpPr>
          <p:cNvPr id="8" name="Text 6"/>
          <p:cNvSpPr/>
          <p:nvPr/>
        </p:nvSpPr>
        <p:spPr>
          <a:xfrm>
            <a:off x="1115568" y="3054096"/>
            <a:ext cx="960120" cy="219456"/>
          </a:xfrm>
          <a:prstGeom prst="rect">
            <a:avLst/>
          </a:prstGeom>
          <a:noFill/>
          <a:ln/>
        </p:spPr>
        <p:txBody>
          <a:bodyPr wrap="square" lIns="0" tIns="0" rIns="0" bIns="0" rtlCol="0" anchor="ctr">
            <a:normAutofit/>
          </a:bodyPr>
          <a:lstStyle/>
          <a:p>
            <a:pPr indent="0" marL="0">
              <a:buNone/>
            </a:pPr>
            <a:r>
              <a:rPr lang="en-US" sz="1100" b="1" dirty="0">
                <a:solidFill>
                  <a:srgbClr val="14213D"/>
                </a:solidFill>
                <a:latin typeface="Arial" pitchFamily="34" charset="0"/>
                <a:ea typeface="Arial" pitchFamily="34" charset="-122"/>
                <a:cs typeface="Arial" pitchFamily="34" charset="-120"/>
              </a:rPr>
              <a:t>adults</a:t>
            </a:r>
            <a:endParaRPr lang="en-US" sz="1100" dirty="0"/>
          </a:p>
        </p:txBody>
      </p:sp>
      <p:sp>
        <p:nvSpPr>
          <p:cNvPr id="9" name="Text 7"/>
          <p:cNvSpPr/>
          <p:nvPr/>
        </p:nvSpPr>
        <p:spPr>
          <a:xfrm>
            <a:off x="1115568" y="3328416"/>
            <a:ext cx="960120" cy="182880"/>
          </a:xfrm>
          <a:prstGeom prst="rect">
            <a:avLst/>
          </a:prstGeom>
          <a:noFill/>
          <a:ln/>
        </p:spPr>
        <p:txBody>
          <a:bodyPr wrap="square" lIns="0" tIns="0" rIns="0" bIns="0" rtlCol="0" anchor="ctr">
            <a:normAutofit/>
          </a:bodyPr>
          <a:lstStyle/>
          <a:p>
            <a:pPr indent="0" marL="0">
              <a:buNone/>
            </a:pPr>
            <a:r>
              <a:rPr lang="en-US" sz="850" dirty="0">
                <a:solidFill>
                  <a:srgbClr val="526477"/>
                </a:solidFill>
                <a:latin typeface="Arial" pitchFamily="34" charset="0"/>
                <a:ea typeface="Arial" pitchFamily="34" charset="-122"/>
                <a:cs typeface="Arial" pitchFamily="34" charset="-120"/>
              </a:rPr>
              <a:t>with T1DM</a:t>
            </a:r>
            <a:endParaRPr lang="en-US" sz="850" dirty="0"/>
          </a:p>
        </p:txBody>
      </p:sp>
      <p:sp>
        <p:nvSpPr>
          <p:cNvPr id="10" name="Shape 8"/>
          <p:cNvSpPr/>
          <p:nvPr/>
        </p:nvSpPr>
        <p:spPr>
          <a:xfrm>
            <a:off x="2468880" y="2423160"/>
            <a:ext cx="1325880" cy="1188720"/>
          </a:xfrm>
          <a:prstGeom prst="roundRect">
            <a:avLst>
              <a:gd name="adj" fmla="val 6154"/>
            </a:avLst>
          </a:prstGeom>
          <a:solidFill>
            <a:srgbClr val="173149"/>
          </a:solidFill>
          <a:ln w="12700">
            <a:solidFill>
              <a:srgbClr val="D3E0E5"/>
            </a:solidFill>
            <a:prstDash val="solid"/>
          </a:ln>
          <a:effectLst>
            <a:outerShdw sx="100000" sy="100000" kx="0" ky="0" algn="bl" rotWithShape="0" blurRad="19050" dist="50800" dir="2700000">
              <a:srgbClr val="000000">
                <a:alpha val="12000"/>
              </a:srgbClr>
            </a:outerShdw>
          </a:effectLst>
        </p:spPr>
      </p:sp>
      <p:sp>
        <p:nvSpPr>
          <p:cNvPr id="11" name="Text 9"/>
          <p:cNvSpPr/>
          <p:nvPr/>
        </p:nvSpPr>
        <p:spPr>
          <a:xfrm>
            <a:off x="2651760" y="2587752"/>
            <a:ext cx="960120" cy="393192"/>
          </a:xfrm>
          <a:prstGeom prst="rect">
            <a:avLst/>
          </a:prstGeom>
          <a:noFill/>
          <a:ln/>
        </p:spPr>
        <p:txBody>
          <a:bodyPr wrap="square" lIns="0" tIns="0" rIns="0" bIns="0" rtlCol="0" anchor="ctr">
            <a:normAutofit/>
          </a:bodyPr>
          <a:lstStyle/>
          <a:p>
            <a:pPr indent="0" marL="0">
              <a:buNone/>
            </a:pPr>
            <a:r>
              <a:rPr lang="en-US" sz="2600" b="1" dirty="0">
                <a:solidFill>
                  <a:srgbClr val="E9C46A"/>
                </a:solidFill>
                <a:latin typeface="Cambria" pitchFamily="34" charset="0"/>
                <a:ea typeface="Cambria" pitchFamily="34" charset="-122"/>
                <a:cs typeface="Cambria" pitchFamily="34" charset="-120"/>
              </a:rPr>
              <a:t>8</a:t>
            </a:r>
            <a:endParaRPr lang="en-US" sz="2600" dirty="0"/>
          </a:p>
        </p:txBody>
      </p:sp>
      <p:sp>
        <p:nvSpPr>
          <p:cNvPr id="12" name="Text 10"/>
          <p:cNvSpPr/>
          <p:nvPr/>
        </p:nvSpPr>
        <p:spPr>
          <a:xfrm>
            <a:off x="2651760" y="3054096"/>
            <a:ext cx="960120" cy="219456"/>
          </a:xfrm>
          <a:prstGeom prst="rect">
            <a:avLst/>
          </a:prstGeom>
          <a:noFill/>
          <a:ln/>
        </p:spPr>
        <p:txBody>
          <a:bodyPr wrap="square" lIns="0" tIns="0" rIns="0" bIns="0" rtlCol="0" anchor="ctr">
            <a:normAutofit/>
          </a:bodyPr>
          <a:lstStyle/>
          <a:p>
            <a:pPr indent="0" marL="0">
              <a:buNone/>
            </a:pPr>
            <a:r>
              <a:rPr lang="en-US" sz="1100" b="1" dirty="0">
                <a:solidFill>
                  <a:srgbClr val="14213D"/>
                </a:solidFill>
                <a:latin typeface="Arial" pitchFamily="34" charset="0"/>
                <a:ea typeface="Arial" pitchFamily="34" charset="-122"/>
                <a:cs typeface="Arial" pitchFamily="34" charset="-120"/>
              </a:rPr>
              <a:t>weeks</a:t>
            </a:r>
            <a:endParaRPr lang="en-US" sz="1100" dirty="0"/>
          </a:p>
        </p:txBody>
      </p:sp>
      <p:sp>
        <p:nvSpPr>
          <p:cNvPr id="13" name="Text 11"/>
          <p:cNvSpPr/>
          <p:nvPr/>
        </p:nvSpPr>
        <p:spPr>
          <a:xfrm>
            <a:off x="2651760" y="3328416"/>
            <a:ext cx="960120" cy="182880"/>
          </a:xfrm>
          <a:prstGeom prst="rect">
            <a:avLst/>
          </a:prstGeom>
          <a:noFill/>
          <a:ln/>
        </p:spPr>
        <p:txBody>
          <a:bodyPr wrap="square" lIns="0" tIns="0" rIns="0" bIns="0" rtlCol="0" anchor="ctr">
            <a:normAutofit/>
          </a:bodyPr>
          <a:lstStyle/>
          <a:p>
            <a:pPr indent="0" marL="0">
              <a:buNone/>
            </a:pPr>
            <a:r>
              <a:rPr lang="en-US" sz="850" dirty="0">
                <a:solidFill>
                  <a:srgbClr val="526477"/>
                </a:solidFill>
                <a:latin typeface="Arial" pitchFamily="34" charset="0"/>
                <a:ea typeface="Arial" pitchFamily="34" charset="-122"/>
                <a:cs typeface="Arial" pitchFamily="34" charset="-120"/>
              </a:rPr>
              <a:t>per cohort record</a:t>
            </a:r>
            <a:endParaRPr lang="en-US" sz="850" dirty="0"/>
          </a:p>
        </p:txBody>
      </p:sp>
      <p:sp>
        <p:nvSpPr>
          <p:cNvPr id="14" name="Shape 12"/>
          <p:cNvSpPr/>
          <p:nvPr/>
        </p:nvSpPr>
        <p:spPr>
          <a:xfrm>
            <a:off x="4005072" y="2423160"/>
            <a:ext cx="1325880" cy="1188720"/>
          </a:xfrm>
          <a:prstGeom prst="roundRect">
            <a:avLst>
              <a:gd name="adj" fmla="val 6154"/>
            </a:avLst>
          </a:prstGeom>
          <a:solidFill>
            <a:srgbClr val="173149"/>
          </a:solidFill>
          <a:ln w="12700">
            <a:solidFill>
              <a:srgbClr val="D3E0E5"/>
            </a:solidFill>
            <a:prstDash val="solid"/>
          </a:ln>
          <a:effectLst>
            <a:outerShdw sx="100000" sy="100000" kx="0" ky="0" algn="bl" rotWithShape="0" blurRad="19050" dist="50800" dir="2700000">
              <a:srgbClr val="000000">
                <a:alpha val="12000"/>
              </a:srgbClr>
            </a:outerShdw>
          </a:effectLst>
        </p:spPr>
      </p:sp>
      <p:sp>
        <p:nvSpPr>
          <p:cNvPr id="15" name="Text 13"/>
          <p:cNvSpPr/>
          <p:nvPr/>
        </p:nvSpPr>
        <p:spPr>
          <a:xfrm>
            <a:off x="4187952" y="2587752"/>
            <a:ext cx="960120" cy="393192"/>
          </a:xfrm>
          <a:prstGeom prst="rect">
            <a:avLst/>
          </a:prstGeom>
          <a:noFill/>
          <a:ln/>
        </p:spPr>
        <p:txBody>
          <a:bodyPr wrap="square" lIns="0" tIns="0" rIns="0" bIns="0" rtlCol="0" anchor="ctr">
            <a:normAutofit/>
          </a:bodyPr>
          <a:lstStyle/>
          <a:p>
            <a:pPr indent="0" marL="0">
              <a:buNone/>
            </a:pPr>
            <a:r>
              <a:rPr lang="en-US" sz="2600" b="1" dirty="0">
                <a:solidFill>
                  <a:srgbClr val="E9C46A"/>
                </a:solidFill>
                <a:latin typeface="Cambria" pitchFamily="34" charset="0"/>
                <a:ea typeface="Cambria" pitchFamily="34" charset="-122"/>
                <a:cs typeface="Cambria" pitchFamily="34" charset="-120"/>
              </a:rPr>
              <a:t>5</a:t>
            </a:r>
            <a:endParaRPr lang="en-US" sz="2600" dirty="0"/>
          </a:p>
        </p:txBody>
      </p:sp>
      <p:sp>
        <p:nvSpPr>
          <p:cNvPr id="16" name="Text 14"/>
          <p:cNvSpPr/>
          <p:nvPr/>
        </p:nvSpPr>
        <p:spPr>
          <a:xfrm>
            <a:off x="4187952" y="3054096"/>
            <a:ext cx="960120" cy="219456"/>
          </a:xfrm>
          <a:prstGeom prst="rect">
            <a:avLst/>
          </a:prstGeom>
          <a:noFill/>
          <a:ln/>
        </p:spPr>
        <p:txBody>
          <a:bodyPr wrap="square" lIns="0" tIns="0" rIns="0" bIns="0" rtlCol="0" anchor="ctr">
            <a:normAutofit/>
          </a:bodyPr>
          <a:lstStyle/>
          <a:p>
            <a:pPr indent="0" marL="0">
              <a:buNone/>
            </a:pPr>
            <a:r>
              <a:rPr lang="en-US" sz="1100" b="1" dirty="0">
                <a:solidFill>
                  <a:srgbClr val="14213D"/>
                </a:solidFill>
                <a:latin typeface="Arial" pitchFamily="34" charset="0"/>
                <a:ea typeface="Arial" pitchFamily="34" charset="-122"/>
                <a:cs typeface="Arial" pitchFamily="34" charset="-120"/>
              </a:rPr>
              <a:t>minutes</a:t>
            </a:r>
            <a:endParaRPr lang="en-US" sz="1100" dirty="0"/>
          </a:p>
        </p:txBody>
      </p:sp>
      <p:sp>
        <p:nvSpPr>
          <p:cNvPr id="17" name="Text 15"/>
          <p:cNvSpPr/>
          <p:nvPr/>
        </p:nvSpPr>
        <p:spPr>
          <a:xfrm>
            <a:off x="4187952" y="3328416"/>
            <a:ext cx="960120" cy="182880"/>
          </a:xfrm>
          <a:prstGeom prst="rect">
            <a:avLst/>
          </a:prstGeom>
          <a:noFill/>
          <a:ln/>
        </p:spPr>
        <p:txBody>
          <a:bodyPr wrap="square" lIns="0" tIns="0" rIns="0" bIns="0" rtlCol="0" anchor="ctr">
            <a:normAutofit/>
          </a:bodyPr>
          <a:lstStyle/>
          <a:p>
            <a:pPr indent="0" marL="0">
              <a:buNone/>
            </a:pPr>
            <a:r>
              <a:rPr lang="en-US" sz="850" dirty="0">
                <a:solidFill>
                  <a:srgbClr val="526477"/>
                </a:solidFill>
                <a:latin typeface="Arial" pitchFamily="34" charset="0"/>
                <a:ea typeface="Arial" pitchFamily="34" charset="-122"/>
                <a:cs typeface="Arial" pitchFamily="34" charset="-120"/>
              </a:rPr>
              <a:t>CGM sampling</a:t>
            </a:r>
            <a:endParaRPr lang="en-US" sz="850" dirty="0"/>
          </a:p>
        </p:txBody>
      </p:sp>
      <p:sp>
        <p:nvSpPr>
          <p:cNvPr id="18" name="Text 16"/>
          <p:cNvSpPr/>
          <p:nvPr/>
        </p:nvSpPr>
        <p:spPr>
          <a:xfrm>
            <a:off x="950976" y="4251960"/>
            <a:ext cx="4480560" cy="548640"/>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rial" pitchFamily="34" charset="0"/>
                <a:ea typeface="Arial" pitchFamily="34" charset="-122"/>
                <a:cs typeface="Arial" pitchFamily="34" charset="-120"/>
              </a:rPr>
              <a:t>Primary personalized and cross-patient evaluation</a:t>
            </a:r>
            <a:endParaRPr lang="en-US" sz="1500" dirty="0"/>
          </a:p>
        </p:txBody>
      </p:sp>
      <p:sp>
        <p:nvSpPr>
          <p:cNvPr id="19" name="Text 17"/>
          <p:cNvSpPr/>
          <p:nvPr/>
        </p:nvSpPr>
        <p:spPr>
          <a:xfrm>
            <a:off x="950976" y="4892040"/>
            <a:ext cx="4434840" cy="411480"/>
          </a:xfrm>
          <a:prstGeom prst="rect">
            <a:avLst/>
          </a:prstGeom>
          <a:noFill/>
          <a:ln/>
        </p:spPr>
        <p:txBody>
          <a:bodyPr wrap="square" lIns="0" tIns="0" rIns="0" bIns="0" rtlCol="0" anchor="ctr"/>
          <a:lstStyle/>
          <a:p>
            <a:pPr indent="0" marL="0">
              <a:buNone/>
            </a:pPr>
            <a:r>
              <a:rPr lang="en-US" sz="1050" dirty="0">
                <a:solidFill>
                  <a:srgbClr val="B9CBD5"/>
                </a:solidFill>
                <a:latin typeface="Arial" pitchFamily="34" charset="0"/>
                <a:ea typeface="Arial" pitchFamily="34" charset="-122"/>
                <a:cs typeface="Arial" pitchFamily="34" charset="-120"/>
              </a:rPr>
              <a:t>Predefined train/test sets; missing values preserved in the core protocol.</a:t>
            </a:r>
            <a:endParaRPr lang="en-US" sz="1050" dirty="0"/>
          </a:p>
        </p:txBody>
      </p:sp>
      <p:sp>
        <p:nvSpPr>
          <p:cNvPr id="20" name="Shape 18"/>
          <p:cNvSpPr/>
          <p:nvPr/>
        </p:nvSpPr>
        <p:spPr>
          <a:xfrm>
            <a:off x="6236208" y="1417320"/>
            <a:ext cx="5285232" cy="4343400"/>
          </a:xfrm>
          <a:prstGeom prst="roundRect">
            <a:avLst>
              <a:gd name="adj" fmla="val 1684"/>
            </a:avLst>
          </a:prstGeom>
          <a:solidFill>
            <a:srgbClr val="FFFFFF"/>
          </a:solidFill>
          <a:ln w="12700">
            <a:solidFill>
              <a:srgbClr val="BFD8D3"/>
            </a:solidFill>
            <a:prstDash val="solid"/>
          </a:ln>
          <a:effectLst>
            <a:outerShdw sx="100000" sy="100000" kx="0" ky="0" algn="bl" rotWithShape="0" blurRad="19050" dist="50800" dir="2700000">
              <a:srgbClr val="000000">
                <a:alpha val="12000"/>
              </a:srgbClr>
            </a:outerShdw>
          </a:effectLst>
        </p:spPr>
      </p:sp>
      <p:sp>
        <p:nvSpPr>
          <p:cNvPr id="21" name="Text 19"/>
          <p:cNvSpPr/>
          <p:nvPr/>
        </p:nvSpPr>
        <p:spPr>
          <a:xfrm>
            <a:off x="6537960" y="1773936"/>
            <a:ext cx="2286000" cy="365760"/>
          </a:xfrm>
          <a:prstGeom prst="rect">
            <a:avLst/>
          </a:prstGeom>
          <a:noFill/>
          <a:ln/>
        </p:spPr>
        <p:txBody>
          <a:bodyPr wrap="square" lIns="0" tIns="0" rIns="0" bIns="0" rtlCol="0" anchor="ctr"/>
          <a:lstStyle/>
          <a:p>
            <a:pPr indent="0" marL="0">
              <a:buNone/>
            </a:pPr>
            <a:r>
              <a:rPr lang="en-US" sz="2500" b="1" dirty="0">
                <a:solidFill>
                  <a:srgbClr val="007C83"/>
                </a:solidFill>
                <a:latin typeface="Cambria" pitchFamily="34" charset="0"/>
                <a:ea typeface="Cambria" pitchFamily="34" charset="-122"/>
                <a:cs typeface="Cambria" pitchFamily="34" charset="-120"/>
              </a:rPr>
              <a:t>D1NAMO</a:t>
            </a:r>
            <a:endParaRPr lang="en-US" sz="2500" dirty="0"/>
          </a:p>
        </p:txBody>
      </p:sp>
      <p:sp>
        <p:nvSpPr>
          <p:cNvPr id="22" name="Shape 20"/>
          <p:cNvSpPr/>
          <p:nvPr/>
        </p:nvSpPr>
        <p:spPr>
          <a:xfrm>
            <a:off x="6510528" y="2423160"/>
            <a:ext cx="1325880" cy="1188720"/>
          </a:xfrm>
          <a:prstGeom prst="roundRect">
            <a:avLst>
              <a:gd name="adj" fmla="val 6154"/>
            </a:avLst>
          </a:prstGeom>
          <a:solidFill>
            <a:srgbClr val="EDF4F7"/>
          </a:solidFill>
          <a:ln w="12700">
            <a:solidFill>
              <a:srgbClr val="D3E0E5"/>
            </a:solidFill>
            <a:prstDash val="solid"/>
          </a:ln>
          <a:effectLst>
            <a:outerShdw sx="100000" sy="100000" kx="0" ky="0" algn="bl" rotWithShape="0" blurRad="19050" dist="50800" dir="2700000">
              <a:srgbClr val="000000">
                <a:alpha val="12000"/>
              </a:srgbClr>
            </a:outerShdw>
          </a:effectLst>
        </p:spPr>
      </p:sp>
      <p:sp>
        <p:nvSpPr>
          <p:cNvPr id="23" name="Text 21"/>
          <p:cNvSpPr/>
          <p:nvPr/>
        </p:nvSpPr>
        <p:spPr>
          <a:xfrm>
            <a:off x="6693408" y="2587752"/>
            <a:ext cx="960120" cy="393192"/>
          </a:xfrm>
          <a:prstGeom prst="rect">
            <a:avLst/>
          </a:prstGeom>
          <a:noFill/>
          <a:ln/>
        </p:spPr>
        <p:txBody>
          <a:bodyPr wrap="square" lIns="0" tIns="0" rIns="0" bIns="0" rtlCol="0" anchor="ctr">
            <a:normAutofit/>
          </a:bodyPr>
          <a:lstStyle/>
          <a:p>
            <a:pPr indent="0" marL="0">
              <a:buNone/>
            </a:pPr>
            <a:r>
              <a:rPr lang="en-US" sz="2600" b="1" dirty="0">
                <a:solidFill>
                  <a:srgbClr val="007C83"/>
                </a:solidFill>
                <a:latin typeface="Cambria" pitchFamily="34" charset="0"/>
                <a:ea typeface="Cambria" pitchFamily="34" charset="-122"/>
                <a:cs typeface="Cambria" pitchFamily="34" charset="-120"/>
              </a:rPr>
              <a:t>9</a:t>
            </a:r>
            <a:endParaRPr lang="en-US" sz="2600" dirty="0"/>
          </a:p>
        </p:txBody>
      </p:sp>
      <p:sp>
        <p:nvSpPr>
          <p:cNvPr id="24" name="Text 22"/>
          <p:cNvSpPr/>
          <p:nvPr/>
        </p:nvSpPr>
        <p:spPr>
          <a:xfrm>
            <a:off x="6693408" y="3054096"/>
            <a:ext cx="960120" cy="219456"/>
          </a:xfrm>
          <a:prstGeom prst="rect">
            <a:avLst/>
          </a:prstGeom>
          <a:noFill/>
          <a:ln/>
        </p:spPr>
        <p:txBody>
          <a:bodyPr wrap="square" lIns="0" tIns="0" rIns="0" bIns="0" rtlCol="0" anchor="ctr">
            <a:normAutofit/>
          </a:bodyPr>
          <a:lstStyle/>
          <a:p>
            <a:pPr indent="0" marL="0">
              <a:buNone/>
            </a:pPr>
            <a:r>
              <a:rPr lang="en-US" sz="1100" b="1" dirty="0">
                <a:solidFill>
                  <a:srgbClr val="14213D"/>
                </a:solidFill>
                <a:latin typeface="Arial" pitchFamily="34" charset="0"/>
                <a:ea typeface="Arial" pitchFamily="34" charset="-122"/>
                <a:cs typeface="Arial" pitchFamily="34" charset="-120"/>
              </a:rPr>
              <a:t>people</a:t>
            </a:r>
            <a:endParaRPr lang="en-US" sz="1100" dirty="0"/>
          </a:p>
        </p:txBody>
      </p:sp>
      <p:sp>
        <p:nvSpPr>
          <p:cNvPr id="25" name="Text 23"/>
          <p:cNvSpPr/>
          <p:nvPr/>
        </p:nvSpPr>
        <p:spPr>
          <a:xfrm>
            <a:off x="6693408" y="3328416"/>
            <a:ext cx="960120" cy="182880"/>
          </a:xfrm>
          <a:prstGeom prst="rect">
            <a:avLst/>
          </a:prstGeom>
          <a:noFill/>
          <a:ln/>
        </p:spPr>
        <p:txBody>
          <a:bodyPr wrap="square" lIns="0" tIns="0" rIns="0" bIns="0" rtlCol="0" anchor="ctr">
            <a:normAutofit/>
          </a:bodyPr>
          <a:lstStyle/>
          <a:p>
            <a:pPr indent="0" marL="0">
              <a:buNone/>
            </a:pPr>
            <a:r>
              <a:rPr lang="en-US" sz="850" dirty="0">
                <a:solidFill>
                  <a:srgbClr val="526477"/>
                </a:solidFill>
                <a:latin typeface="Arial" pitchFamily="34" charset="0"/>
                <a:ea typeface="Arial" pitchFamily="34" charset="-122"/>
                <a:cs typeface="Arial" pitchFamily="34" charset="-120"/>
              </a:rPr>
              <a:t>in the dataset</a:t>
            </a:r>
            <a:endParaRPr lang="en-US" sz="850" dirty="0"/>
          </a:p>
        </p:txBody>
      </p:sp>
      <p:sp>
        <p:nvSpPr>
          <p:cNvPr id="26" name="Shape 24"/>
          <p:cNvSpPr/>
          <p:nvPr/>
        </p:nvSpPr>
        <p:spPr>
          <a:xfrm>
            <a:off x="8046720" y="2423160"/>
            <a:ext cx="1325880" cy="1188720"/>
          </a:xfrm>
          <a:prstGeom prst="roundRect">
            <a:avLst>
              <a:gd name="adj" fmla="val 6154"/>
            </a:avLst>
          </a:prstGeom>
          <a:solidFill>
            <a:srgbClr val="EDF4F7"/>
          </a:solidFill>
          <a:ln w="12700">
            <a:solidFill>
              <a:srgbClr val="D3E0E5"/>
            </a:solidFill>
            <a:prstDash val="solid"/>
          </a:ln>
          <a:effectLst>
            <a:outerShdw sx="100000" sy="100000" kx="0" ky="0" algn="bl" rotWithShape="0" blurRad="19050" dist="50800" dir="2700000">
              <a:srgbClr val="000000">
                <a:alpha val="12000"/>
              </a:srgbClr>
            </a:outerShdw>
          </a:effectLst>
        </p:spPr>
      </p:sp>
      <p:sp>
        <p:nvSpPr>
          <p:cNvPr id="27" name="Text 25"/>
          <p:cNvSpPr/>
          <p:nvPr/>
        </p:nvSpPr>
        <p:spPr>
          <a:xfrm>
            <a:off x="8229600" y="2587752"/>
            <a:ext cx="960120" cy="393192"/>
          </a:xfrm>
          <a:prstGeom prst="rect">
            <a:avLst/>
          </a:prstGeom>
          <a:noFill/>
          <a:ln/>
        </p:spPr>
        <p:txBody>
          <a:bodyPr wrap="square" lIns="0" tIns="0" rIns="0" bIns="0" rtlCol="0" anchor="ctr">
            <a:normAutofit/>
          </a:bodyPr>
          <a:lstStyle/>
          <a:p>
            <a:pPr indent="0" marL="0">
              <a:buNone/>
            </a:pPr>
            <a:r>
              <a:rPr lang="en-US" sz="2600" b="1" dirty="0">
                <a:solidFill>
                  <a:srgbClr val="007C83"/>
                </a:solidFill>
                <a:latin typeface="Cambria" pitchFamily="34" charset="0"/>
                <a:ea typeface="Cambria" pitchFamily="34" charset="-122"/>
                <a:cs typeface="Cambria" pitchFamily="34" charset="-120"/>
              </a:rPr>
              <a:t>7</a:t>
            </a:r>
            <a:endParaRPr lang="en-US" sz="2600" dirty="0"/>
          </a:p>
        </p:txBody>
      </p:sp>
      <p:sp>
        <p:nvSpPr>
          <p:cNvPr id="28" name="Text 26"/>
          <p:cNvSpPr/>
          <p:nvPr/>
        </p:nvSpPr>
        <p:spPr>
          <a:xfrm>
            <a:off x="8229600" y="3054096"/>
            <a:ext cx="960120" cy="219456"/>
          </a:xfrm>
          <a:prstGeom prst="rect">
            <a:avLst/>
          </a:prstGeom>
          <a:noFill/>
          <a:ln/>
        </p:spPr>
        <p:txBody>
          <a:bodyPr wrap="square" lIns="0" tIns="0" rIns="0" bIns="0" rtlCol="0" anchor="ctr">
            <a:normAutofit/>
          </a:bodyPr>
          <a:lstStyle/>
          <a:p>
            <a:pPr indent="0" marL="0">
              <a:buNone/>
            </a:pPr>
            <a:r>
              <a:rPr lang="en-US" sz="1100" b="1" dirty="0">
                <a:solidFill>
                  <a:srgbClr val="14213D"/>
                </a:solidFill>
                <a:latin typeface="Arial" pitchFamily="34" charset="0"/>
                <a:ea typeface="Arial" pitchFamily="34" charset="-122"/>
                <a:cs typeface="Arial" pitchFamily="34" charset="-120"/>
              </a:rPr>
              <a:t>used</a:t>
            </a:r>
            <a:endParaRPr lang="en-US" sz="1100" dirty="0"/>
          </a:p>
        </p:txBody>
      </p:sp>
      <p:sp>
        <p:nvSpPr>
          <p:cNvPr id="29" name="Text 27"/>
          <p:cNvSpPr/>
          <p:nvPr/>
        </p:nvSpPr>
        <p:spPr>
          <a:xfrm>
            <a:off x="8229600" y="3328416"/>
            <a:ext cx="960120" cy="182880"/>
          </a:xfrm>
          <a:prstGeom prst="rect">
            <a:avLst/>
          </a:prstGeom>
          <a:noFill/>
          <a:ln/>
        </p:spPr>
        <p:txBody>
          <a:bodyPr wrap="square" lIns="0" tIns="0" rIns="0" bIns="0" rtlCol="0" anchor="ctr">
            <a:normAutofit/>
          </a:bodyPr>
          <a:lstStyle/>
          <a:p>
            <a:pPr indent="0" marL="0">
              <a:buNone/>
            </a:pPr>
            <a:r>
              <a:rPr lang="en-US" sz="850" dirty="0">
                <a:solidFill>
                  <a:srgbClr val="526477"/>
                </a:solidFill>
                <a:latin typeface="Arial" pitchFamily="34" charset="0"/>
                <a:ea typeface="Arial" pitchFamily="34" charset="-122"/>
                <a:cs typeface="Arial" pitchFamily="34" charset="-120"/>
              </a:rPr>
              <a:t>patients 1-7</a:t>
            </a:r>
            <a:endParaRPr lang="en-US" sz="850" dirty="0"/>
          </a:p>
        </p:txBody>
      </p:sp>
      <p:sp>
        <p:nvSpPr>
          <p:cNvPr id="30" name="Shape 28"/>
          <p:cNvSpPr/>
          <p:nvPr/>
        </p:nvSpPr>
        <p:spPr>
          <a:xfrm>
            <a:off x="9582912" y="2423160"/>
            <a:ext cx="1325880" cy="1188720"/>
          </a:xfrm>
          <a:prstGeom prst="roundRect">
            <a:avLst>
              <a:gd name="adj" fmla="val 6154"/>
            </a:avLst>
          </a:prstGeom>
          <a:solidFill>
            <a:srgbClr val="EDF4F7"/>
          </a:solidFill>
          <a:ln w="12700">
            <a:solidFill>
              <a:srgbClr val="D3E0E5"/>
            </a:solidFill>
            <a:prstDash val="solid"/>
          </a:ln>
          <a:effectLst>
            <a:outerShdw sx="100000" sy="100000" kx="0" ky="0" algn="bl" rotWithShape="0" blurRad="19050" dist="50800" dir="2700000">
              <a:srgbClr val="000000">
                <a:alpha val="12000"/>
              </a:srgbClr>
            </a:outerShdw>
          </a:effectLst>
        </p:spPr>
      </p:sp>
      <p:sp>
        <p:nvSpPr>
          <p:cNvPr id="31" name="Text 29"/>
          <p:cNvSpPr/>
          <p:nvPr/>
        </p:nvSpPr>
        <p:spPr>
          <a:xfrm>
            <a:off x="9765792" y="2587752"/>
            <a:ext cx="960120" cy="393192"/>
          </a:xfrm>
          <a:prstGeom prst="rect">
            <a:avLst/>
          </a:prstGeom>
          <a:noFill/>
          <a:ln/>
        </p:spPr>
        <p:txBody>
          <a:bodyPr wrap="square" lIns="0" tIns="0" rIns="0" bIns="0" rtlCol="0" anchor="ctr">
            <a:normAutofit/>
          </a:bodyPr>
          <a:lstStyle/>
          <a:p>
            <a:pPr indent="0" marL="0">
              <a:buNone/>
            </a:pPr>
            <a:r>
              <a:rPr lang="en-US" sz="2600" b="1" dirty="0">
                <a:solidFill>
                  <a:srgbClr val="007C83"/>
                </a:solidFill>
                <a:latin typeface="Cambria" pitchFamily="34" charset="0"/>
                <a:ea typeface="Cambria" pitchFamily="34" charset="-122"/>
                <a:cs typeface="Cambria" pitchFamily="34" charset="-120"/>
              </a:rPr>
              <a:t>4</a:t>
            </a:r>
            <a:endParaRPr lang="en-US" sz="2600" dirty="0"/>
          </a:p>
        </p:txBody>
      </p:sp>
      <p:sp>
        <p:nvSpPr>
          <p:cNvPr id="32" name="Text 30"/>
          <p:cNvSpPr/>
          <p:nvPr/>
        </p:nvSpPr>
        <p:spPr>
          <a:xfrm>
            <a:off x="9765792" y="3054096"/>
            <a:ext cx="960120" cy="219456"/>
          </a:xfrm>
          <a:prstGeom prst="rect">
            <a:avLst/>
          </a:prstGeom>
          <a:noFill/>
          <a:ln/>
        </p:spPr>
        <p:txBody>
          <a:bodyPr wrap="square" lIns="0" tIns="0" rIns="0" bIns="0" rtlCol="0" anchor="ctr">
            <a:normAutofit/>
          </a:bodyPr>
          <a:lstStyle/>
          <a:p>
            <a:pPr indent="0" marL="0">
              <a:buNone/>
            </a:pPr>
            <a:r>
              <a:rPr lang="en-US" sz="1100" b="1" dirty="0">
                <a:solidFill>
                  <a:srgbClr val="14213D"/>
                </a:solidFill>
                <a:latin typeface="Arial" pitchFamily="34" charset="0"/>
                <a:ea typeface="Arial" pitchFamily="34" charset="-122"/>
                <a:cs typeface="Arial" pitchFamily="34" charset="-120"/>
              </a:rPr>
              <a:t>weeks</a:t>
            </a:r>
            <a:endParaRPr lang="en-US" sz="1100" dirty="0"/>
          </a:p>
        </p:txBody>
      </p:sp>
      <p:sp>
        <p:nvSpPr>
          <p:cNvPr id="33" name="Text 31"/>
          <p:cNvSpPr/>
          <p:nvPr/>
        </p:nvSpPr>
        <p:spPr>
          <a:xfrm>
            <a:off x="9765792" y="3328416"/>
            <a:ext cx="960120" cy="182880"/>
          </a:xfrm>
          <a:prstGeom prst="rect">
            <a:avLst/>
          </a:prstGeom>
          <a:noFill/>
          <a:ln/>
        </p:spPr>
        <p:txBody>
          <a:bodyPr wrap="square" lIns="0" tIns="0" rIns="0" bIns="0" rtlCol="0" anchor="ctr">
            <a:normAutofit/>
          </a:bodyPr>
          <a:lstStyle/>
          <a:p>
            <a:pPr indent="0" marL="0">
              <a:buNone/>
            </a:pPr>
            <a:r>
              <a:rPr lang="en-US" sz="850" dirty="0">
                <a:solidFill>
                  <a:srgbClr val="526477"/>
                </a:solidFill>
                <a:latin typeface="Arial" pitchFamily="34" charset="0"/>
                <a:ea typeface="Arial" pitchFamily="34" charset="-122"/>
                <a:cs typeface="Arial" pitchFamily="34" charset="-120"/>
              </a:rPr>
              <a:t>collection period</a:t>
            </a:r>
            <a:endParaRPr lang="en-US" sz="850" dirty="0"/>
          </a:p>
        </p:txBody>
      </p:sp>
      <p:sp>
        <p:nvSpPr>
          <p:cNvPr id="34" name="Text 32"/>
          <p:cNvSpPr/>
          <p:nvPr/>
        </p:nvSpPr>
        <p:spPr>
          <a:xfrm>
            <a:off x="6537960" y="4251960"/>
            <a:ext cx="4297680" cy="411480"/>
          </a:xfrm>
          <a:prstGeom prst="rect">
            <a:avLst/>
          </a:prstGeom>
          <a:noFill/>
          <a:ln/>
        </p:spPr>
        <p:txBody>
          <a:bodyPr wrap="square" lIns="0" tIns="0" rIns="0" bIns="0" rtlCol="0" anchor="ctr"/>
          <a:lstStyle/>
          <a:p>
            <a:pPr indent="0" marL="0">
              <a:buNone/>
            </a:pPr>
            <a:r>
              <a:rPr lang="en-US" sz="1500" b="1" dirty="0">
                <a:solidFill>
                  <a:srgbClr val="14213D"/>
                </a:solidFill>
                <a:latin typeface="Arial" pitchFamily="34" charset="0"/>
                <a:ea typeface="Arial" pitchFamily="34" charset="-122"/>
                <a:cs typeface="Arial" pitchFamily="34" charset="-120"/>
              </a:rPr>
              <a:t>Complementary validation cohort</a:t>
            </a:r>
            <a:endParaRPr lang="en-US" sz="1500" dirty="0"/>
          </a:p>
        </p:txBody>
      </p:sp>
      <p:sp>
        <p:nvSpPr>
          <p:cNvPr id="35" name="Text 33"/>
          <p:cNvSpPr/>
          <p:nvPr/>
        </p:nvSpPr>
        <p:spPr>
          <a:xfrm>
            <a:off x="6537960" y="4892040"/>
            <a:ext cx="4434840" cy="411480"/>
          </a:xfrm>
          <a:prstGeom prst="rect">
            <a:avLst/>
          </a:prstGeom>
          <a:noFill/>
          <a:ln/>
        </p:spPr>
        <p:txBody>
          <a:bodyPr wrap="square" lIns="0" tIns="0" rIns="0" bIns="0" rtlCol="0" anchor="ctr"/>
          <a:lstStyle/>
          <a:p>
            <a:pPr indent="0" marL="0">
              <a:buNone/>
            </a:pPr>
            <a:r>
              <a:rPr lang="en-US" sz="1050" dirty="0">
                <a:solidFill>
                  <a:srgbClr val="526477"/>
                </a:solidFill>
                <a:latin typeface="Arial" pitchFamily="34" charset="0"/>
                <a:ea typeface="Arial" pitchFamily="34" charset="-122"/>
                <a:cs typeface="Arial" pitchFamily="34" charset="-120"/>
              </a:rPr>
              <a:t>Used to test whether the adaptation pattern extends beyond OhioT1DM.</a:t>
            </a:r>
            <a:endParaRPr lang="en-US" sz="1050" dirty="0"/>
          </a:p>
        </p:txBody>
      </p:sp>
      <p:sp>
        <p:nvSpPr>
          <p:cNvPr id="36" name="Text 34"/>
          <p:cNvSpPr/>
          <p:nvPr/>
        </p:nvSpPr>
        <p:spPr>
          <a:xfrm>
            <a:off x="548640" y="6236208"/>
            <a:ext cx="10927080" cy="164592"/>
          </a:xfrm>
          <a:prstGeom prst="rect">
            <a:avLst/>
          </a:prstGeom>
          <a:noFill/>
          <a:ln/>
        </p:spPr>
        <p:txBody>
          <a:bodyPr wrap="square" lIns="0" tIns="0" rIns="0" bIns="0" rtlCol="0" anchor="ctr">
            <a:normAutofit/>
          </a:bodyPr>
          <a:lstStyle/>
          <a:p>
            <a:pPr indent="0" marL="0">
              <a:buNone/>
            </a:pPr>
            <a:r>
              <a:rPr lang="en-US" sz="750" i="1" dirty="0">
                <a:solidFill>
                  <a:srgbClr val="66788A"/>
                </a:solidFill>
                <a:latin typeface="Arial" pitchFamily="34" charset="0"/>
                <a:ea typeface="Arial" pitchFamily="34" charset="-122"/>
                <a:cs typeface="Arial" pitchFamily="34" charset="-120"/>
              </a:rPr>
              <a:t>Source: DiabLLM experiments. OhioT1DM: Marling and Bunescu (2020); D1NAMO: Dubosson et al. (2018).</a:t>
            </a:r>
            <a:endParaRPr lang="en-US" sz="750" dirty="0"/>
          </a:p>
        </p:txBody>
      </p:sp>
      <p:sp>
        <p:nvSpPr>
          <p:cNvPr id="25" name="Slide Number Placeholder 0"/>
          <p:cNvSpPr>
            <a:spLocks noGrp="1"/>
          </p:cNvSpPr>
          <p:nvPr>
            <p:ph type="sldNum" sz="quarter" idx="4294967295"/>
          </p:nvPr>
        </p:nvSpPr>
        <p:spPr>
          <a:xfrm>
            <a:off x="11686032" y="20116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4114800" cy="201168"/>
          </a:xfrm>
          <a:prstGeom prst="rect">
            <a:avLst/>
          </a:prstGeom>
          <a:noFill/>
          <a:ln/>
        </p:spPr>
        <p:txBody>
          <a:bodyPr wrap="square" lIns="0" tIns="0" rIns="0" bIns="0" rtlCol="0" anchor="ctr"/>
          <a:lstStyle/>
          <a:p>
            <a:pPr indent="0" marL="0">
              <a:buNone/>
            </a:pPr>
            <a:r>
              <a:rPr lang="en-US" sz="900" b="1" spc="120" kern="0" dirty="0">
                <a:solidFill>
                  <a:srgbClr val="007C83"/>
                </a:solidFill>
                <a:latin typeface="Arial" pitchFamily="34" charset="0"/>
                <a:ea typeface="Arial" pitchFamily="34" charset="-122"/>
                <a:cs typeface="Arial" pitchFamily="34" charset="-120"/>
              </a:rPr>
              <a:t>ZERO-SHOT VERSUS FINE-TUNED</a:t>
            </a:r>
            <a:endParaRPr lang="en-US" sz="900" dirty="0"/>
          </a:p>
        </p:txBody>
      </p:sp>
      <p:sp>
        <p:nvSpPr>
          <p:cNvPr id="3" name="Text 1"/>
          <p:cNvSpPr/>
          <p:nvPr/>
        </p:nvSpPr>
        <p:spPr>
          <a:xfrm>
            <a:off x="548640" y="594360"/>
            <a:ext cx="10789920" cy="621792"/>
          </a:xfrm>
          <a:prstGeom prst="rect">
            <a:avLst/>
          </a:prstGeom>
          <a:noFill/>
          <a:ln/>
        </p:spPr>
        <p:txBody>
          <a:bodyPr wrap="square" lIns="0" tIns="0" rIns="0" bIns="0" rtlCol="0" anchor="ctr">
            <a:normAutofit/>
          </a:bodyPr>
          <a:lstStyle/>
          <a:p>
            <a:pPr indent="0" marL="0">
              <a:buNone/>
            </a:pPr>
            <a:r>
              <a:rPr lang="en-US" sz="2600" b="1" dirty="0">
                <a:solidFill>
                  <a:srgbClr val="14213D"/>
                </a:solidFill>
                <a:latin typeface="Cambria" pitchFamily="34" charset="0"/>
                <a:ea typeface="Cambria" pitchFamily="34" charset="-122"/>
                <a:cs typeface="Cambria" pitchFamily="34" charset="-120"/>
              </a:rPr>
              <a:t>Task-specific adaptation produces the largest accuracy gain</a:t>
            </a:r>
            <a:endParaRPr lang="en-US" sz="2600" dirty="0"/>
          </a:p>
        </p:txBody>
      </p:sp>
      <p:graphicFrame>
        <p:nvGraphicFramePr>
          <p:cNvPr id="4" name="Chart 0" descr=""/>
          <p:cNvGraphicFramePr/>
          <p:nvPr/>
        </p:nvGraphicFramePr>
        <p:xfrm>
          <a:off x="685800" y="1417320"/>
          <a:ext cx="6492240" cy="4343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43800" y="1508760"/>
            <a:ext cx="3977640" cy="4069080"/>
          </a:xfrm>
          <a:prstGeom prst="roundRect">
            <a:avLst>
              <a:gd name="adj" fmla="val 1839"/>
            </a:avLst>
          </a:prstGeom>
          <a:solidFill>
            <a:srgbClr val="0B1F33"/>
          </a:solidFill>
          <a:ln w="12700">
            <a:solidFill>
              <a:srgbClr val="0B1F33"/>
            </a:solidFill>
            <a:prstDash val="solid"/>
          </a:ln>
          <a:effectLst>
            <a:outerShdw sx="100000" sy="100000" kx="0" ky="0" algn="bl" rotWithShape="0" blurRad="19050" dist="50800" dir="2700000">
              <a:srgbClr val="000000">
                <a:alpha val="12000"/>
              </a:srgbClr>
            </a:outerShdw>
          </a:effectLst>
        </p:spPr>
      </p:sp>
      <p:sp>
        <p:nvSpPr>
          <p:cNvPr id="6" name="Text 3"/>
          <p:cNvSpPr/>
          <p:nvPr/>
        </p:nvSpPr>
        <p:spPr>
          <a:xfrm>
            <a:off x="7882128" y="1828800"/>
            <a:ext cx="329184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RMSE reduction after adaptation</a:t>
            </a:r>
            <a:endParaRPr lang="en-US" sz="2000" dirty="0"/>
          </a:p>
        </p:txBody>
      </p:sp>
      <p:sp>
        <p:nvSpPr>
          <p:cNvPr id="7" name="Text 4"/>
          <p:cNvSpPr/>
          <p:nvPr/>
        </p:nvSpPr>
        <p:spPr>
          <a:xfrm>
            <a:off x="8001000" y="2651760"/>
            <a:ext cx="1280160" cy="594360"/>
          </a:xfrm>
          <a:prstGeom prst="rect">
            <a:avLst/>
          </a:prstGeom>
          <a:noFill/>
          <a:ln/>
        </p:spPr>
        <p:txBody>
          <a:bodyPr wrap="square" lIns="0" tIns="0" rIns="0" bIns="0" rtlCol="0" anchor="ctr"/>
          <a:lstStyle/>
          <a:p>
            <a:pPr algn="ctr" indent="0" marL="0">
              <a:buNone/>
            </a:pPr>
            <a:r>
              <a:rPr lang="en-US" sz="3500" b="1" dirty="0">
                <a:solidFill>
                  <a:srgbClr val="E9C46A"/>
                </a:solidFill>
                <a:latin typeface="Cambria" pitchFamily="34" charset="0"/>
                <a:ea typeface="Cambria" pitchFamily="34" charset="-122"/>
                <a:cs typeface="Cambria" pitchFamily="34" charset="-120"/>
              </a:rPr>
              <a:t>34%</a:t>
            </a:r>
            <a:endParaRPr lang="en-US" sz="3500" dirty="0"/>
          </a:p>
        </p:txBody>
      </p:sp>
      <p:sp>
        <p:nvSpPr>
          <p:cNvPr id="8" name="Text 5"/>
          <p:cNvSpPr/>
          <p:nvPr/>
        </p:nvSpPr>
        <p:spPr>
          <a:xfrm>
            <a:off x="7973568" y="3310128"/>
            <a:ext cx="13716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Time-LLM</a:t>
            </a:r>
            <a:endParaRPr lang="en-US" sz="1100" dirty="0"/>
          </a:p>
        </p:txBody>
      </p:sp>
      <p:sp>
        <p:nvSpPr>
          <p:cNvPr id="9" name="Text 6"/>
          <p:cNvSpPr/>
          <p:nvPr/>
        </p:nvSpPr>
        <p:spPr>
          <a:xfrm>
            <a:off x="9710928" y="2651760"/>
            <a:ext cx="1143000" cy="594360"/>
          </a:xfrm>
          <a:prstGeom prst="rect">
            <a:avLst/>
          </a:prstGeom>
          <a:noFill/>
          <a:ln/>
        </p:spPr>
        <p:txBody>
          <a:bodyPr wrap="square" lIns="0" tIns="0" rIns="0" bIns="0" rtlCol="0" anchor="ctr"/>
          <a:lstStyle/>
          <a:p>
            <a:pPr algn="ctr" indent="0" marL="0">
              <a:buNone/>
            </a:pPr>
            <a:r>
              <a:rPr lang="en-US" sz="3500" b="1" dirty="0">
                <a:solidFill>
                  <a:srgbClr val="2A9D8F"/>
                </a:solidFill>
                <a:latin typeface="Cambria" pitchFamily="34" charset="0"/>
                <a:ea typeface="Cambria" pitchFamily="34" charset="-122"/>
                <a:cs typeface="Cambria" pitchFamily="34" charset="-120"/>
              </a:rPr>
              <a:t>6%</a:t>
            </a:r>
            <a:endParaRPr lang="en-US" sz="3500" dirty="0"/>
          </a:p>
        </p:txBody>
      </p:sp>
      <p:sp>
        <p:nvSpPr>
          <p:cNvPr id="10" name="Text 7"/>
          <p:cNvSpPr/>
          <p:nvPr/>
        </p:nvSpPr>
        <p:spPr>
          <a:xfrm>
            <a:off x="9601200" y="3310128"/>
            <a:ext cx="13716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Chronos</a:t>
            </a:r>
            <a:endParaRPr lang="en-US" sz="1100" dirty="0"/>
          </a:p>
        </p:txBody>
      </p:sp>
      <p:sp>
        <p:nvSpPr>
          <p:cNvPr id="11" name="Text 8"/>
          <p:cNvSpPr/>
          <p:nvPr/>
        </p:nvSpPr>
        <p:spPr>
          <a:xfrm>
            <a:off x="7973568" y="4069080"/>
            <a:ext cx="3200400" cy="438912"/>
          </a:xfrm>
          <a:prstGeom prst="rect">
            <a:avLst/>
          </a:prstGeom>
          <a:noFill/>
          <a:ln/>
        </p:spPr>
        <p:txBody>
          <a:bodyPr wrap="square" lIns="0" tIns="0" rIns="0" bIns="0" rtlCol="0" anchor="ctr"/>
          <a:lstStyle/>
          <a:p>
            <a:pPr algn="ctr" indent="0" marL="0">
              <a:buNone/>
            </a:pPr>
            <a:r>
              <a:rPr lang="en-US" sz="1200" dirty="0">
                <a:solidFill>
                  <a:srgbClr val="C7D7DF"/>
                </a:solidFill>
                <a:latin typeface="Arial" pitchFamily="34" charset="0"/>
                <a:ea typeface="Arial" pitchFamily="34" charset="-122"/>
                <a:cs typeface="Arial" pitchFamily="34" charset="-120"/>
              </a:rPr>
              <a:t>Same 30-minute history and 30-minute horizon</a:t>
            </a:r>
            <a:endParaRPr lang="en-US" sz="1200" dirty="0"/>
          </a:p>
        </p:txBody>
      </p:sp>
      <p:sp>
        <p:nvSpPr>
          <p:cNvPr id="12" name="Text 9"/>
          <p:cNvSpPr/>
          <p:nvPr/>
        </p:nvSpPr>
        <p:spPr>
          <a:xfrm>
            <a:off x="7955280" y="4663440"/>
            <a:ext cx="3246120" cy="530352"/>
          </a:xfrm>
          <a:prstGeom prst="rect">
            <a:avLst/>
          </a:prstGeom>
          <a:noFill/>
          <a:ln/>
        </p:spPr>
        <p:txBody>
          <a:bodyPr wrap="square" lIns="508" tIns="508" rIns="508" bIns="508"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Fine-tuning the modality bridge is more consequential than simply selecting a larger pretrained model.</a:t>
            </a:r>
            <a:endParaRPr lang="en-US" sz="1100" dirty="0"/>
          </a:p>
        </p:txBody>
      </p:sp>
      <p:sp>
        <p:nvSpPr>
          <p:cNvPr id="13" name="Text 10"/>
          <p:cNvSpPr/>
          <p:nvPr/>
        </p:nvSpPr>
        <p:spPr>
          <a:xfrm>
            <a:off x="548640" y="6236208"/>
            <a:ext cx="10927080" cy="164592"/>
          </a:xfrm>
          <a:prstGeom prst="rect">
            <a:avLst/>
          </a:prstGeom>
          <a:noFill/>
          <a:ln/>
        </p:spPr>
        <p:txBody>
          <a:bodyPr wrap="square" lIns="0" tIns="0" rIns="0" bIns="0" rtlCol="0" anchor="ctr">
            <a:normAutofit/>
          </a:bodyPr>
          <a:lstStyle/>
          <a:p>
            <a:pPr indent="0" marL="0">
              <a:buNone/>
            </a:pPr>
            <a:r>
              <a:rPr lang="en-US" sz="750" i="1" dirty="0">
                <a:solidFill>
                  <a:srgbClr val="66788A"/>
                </a:solidFill>
                <a:latin typeface="Arial" pitchFamily="34" charset="0"/>
                <a:ea typeface="Arial" pitchFamily="34" charset="-122"/>
                <a:cs typeface="Arial" pitchFamily="34" charset="-120"/>
              </a:rPr>
              <a:t>Sources: DiabLLM Tables: zero-shot and fine-tuned 30-minute results. Percentages calculated from table averages.</a:t>
            </a:r>
            <a:endParaRPr lang="en-US" sz="750" dirty="0"/>
          </a:p>
        </p:txBody>
      </p:sp>
      <p:sp>
        <p:nvSpPr>
          <p:cNvPr id="25" name="Slide Number Placeholder 0"/>
          <p:cNvSpPr>
            <a:spLocks noGrp="1"/>
          </p:cNvSpPr>
          <p:nvPr>
            <p:ph type="sldNum" sz="quarter" idx="4294967295"/>
          </p:nvPr>
        </p:nvSpPr>
        <p:spPr>
          <a:xfrm>
            <a:off x="11686032" y="20116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0040"/>
            <a:ext cx="4114800" cy="201168"/>
          </a:xfrm>
          <a:prstGeom prst="rect">
            <a:avLst/>
          </a:prstGeom>
          <a:noFill/>
          <a:ln/>
        </p:spPr>
        <p:txBody>
          <a:bodyPr wrap="square" lIns="0" tIns="0" rIns="0" bIns="0" rtlCol="0" anchor="ctr"/>
          <a:lstStyle/>
          <a:p>
            <a:pPr indent="0" marL="0">
              <a:buNone/>
            </a:pPr>
            <a:r>
              <a:rPr lang="en-US" sz="900" b="1" spc="120" kern="0" dirty="0">
                <a:solidFill>
                  <a:srgbClr val="007C83"/>
                </a:solidFill>
                <a:latin typeface="Arial" pitchFamily="34" charset="0"/>
                <a:ea typeface="Arial" pitchFamily="34" charset="-122"/>
                <a:cs typeface="Arial" pitchFamily="34" charset="-120"/>
              </a:rPr>
              <a:t>30-MINUTE OHIOT1DM BENCHMARK</a:t>
            </a:r>
            <a:endParaRPr lang="en-US" sz="900" dirty="0"/>
          </a:p>
        </p:txBody>
      </p:sp>
      <p:sp>
        <p:nvSpPr>
          <p:cNvPr id="3" name="Text 1"/>
          <p:cNvSpPr/>
          <p:nvPr/>
        </p:nvSpPr>
        <p:spPr>
          <a:xfrm>
            <a:off x="548640" y="594360"/>
            <a:ext cx="10789920" cy="621792"/>
          </a:xfrm>
          <a:prstGeom prst="rect">
            <a:avLst/>
          </a:prstGeom>
          <a:noFill/>
          <a:ln/>
        </p:spPr>
        <p:txBody>
          <a:bodyPr wrap="square" lIns="0" tIns="0" rIns="0" bIns="0" rtlCol="0" anchor="ctr">
            <a:normAutofit/>
          </a:bodyPr>
          <a:lstStyle/>
          <a:p>
            <a:pPr indent="0" marL="0">
              <a:buNone/>
            </a:pPr>
            <a:r>
              <a:rPr lang="en-US" sz="2600" b="1" dirty="0">
                <a:solidFill>
                  <a:srgbClr val="14213D"/>
                </a:solidFill>
                <a:latin typeface="Cambria" pitchFamily="34" charset="0"/>
                <a:ea typeface="Cambria" pitchFamily="34" charset="-122"/>
                <a:cs typeface="Cambria" pitchFamily="34" charset="-120"/>
              </a:rPr>
              <a:t>Fine-tuned Time-LLM reaches 16.10 mg/dL average RMSE</a:t>
            </a:r>
            <a:endParaRPr lang="en-US" sz="2600" dirty="0"/>
          </a:p>
        </p:txBody>
      </p:sp>
      <p:graphicFrame>
        <p:nvGraphicFramePr>
          <p:cNvPr id="4" name="Chart 0" descr=""/>
          <p:cNvGraphicFramePr/>
          <p:nvPr/>
        </p:nvGraphicFramePr>
        <p:xfrm>
          <a:off x="658368" y="1371600"/>
          <a:ext cx="7315200" cy="45262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444752"/>
            <a:ext cx="3218688" cy="4297680"/>
          </a:xfrm>
          <a:prstGeom prst="roundRect">
            <a:avLst>
              <a:gd name="adj" fmla="val 2273"/>
            </a:avLst>
          </a:prstGeom>
          <a:solidFill>
            <a:srgbClr val="FFFFFF"/>
          </a:solidFill>
          <a:ln w="12700">
            <a:solidFill>
              <a:srgbClr val="D7E1E7"/>
            </a:solidFill>
            <a:prstDash val="solid"/>
          </a:ln>
          <a:effectLst>
            <a:outerShdw sx="100000" sy="100000" kx="0" ky="0" algn="bl" rotWithShape="0" blurRad="19050" dist="50800" dir="2700000">
              <a:srgbClr val="000000">
                <a:alpha val="12000"/>
              </a:srgbClr>
            </a:outerShdw>
          </a:effectLst>
        </p:spPr>
      </p:sp>
      <p:sp>
        <p:nvSpPr>
          <p:cNvPr id="6" name="Text 3"/>
          <p:cNvSpPr/>
          <p:nvPr/>
        </p:nvSpPr>
        <p:spPr>
          <a:xfrm>
            <a:off x="8577072" y="1810512"/>
            <a:ext cx="2633472" cy="438912"/>
          </a:xfrm>
          <a:prstGeom prst="rect">
            <a:avLst/>
          </a:prstGeom>
          <a:noFill/>
          <a:ln/>
        </p:spPr>
        <p:txBody>
          <a:bodyPr wrap="square" lIns="0" tIns="0" rIns="0" bIns="0" rtlCol="0" anchor="ctr"/>
          <a:lstStyle/>
          <a:p>
            <a:pPr indent="0" marL="0">
              <a:buNone/>
            </a:pPr>
            <a:r>
              <a:rPr lang="en-US" sz="1900" b="1" dirty="0">
                <a:solidFill>
                  <a:srgbClr val="14213D"/>
                </a:solidFill>
                <a:latin typeface="Cambria" pitchFamily="34" charset="0"/>
                <a:ea typeface="Cambria" pitchFamily="34" charset="-122"/>
                <a:cs typeface="Cambria" pitchFamily="34" charset="-120"/>
              </a:rPr>
              <a:t>What the comparison supports</a:t>
            </a:r>
            <a:endParaRPr lang="en-US" sz="1900" dirty="0"/>
          </a:p>
        </p:txBody>
      </p:sp>
      <p:sp>
        <p:nvSpPr>
          <p:cNvPr id="7" name="Shape 4"/>
          <p:cNvSpPr/>
          <p:nvPr/>
        </p:nvSpPr>
        <p:spPr>
          <a:xfrm>
            <a:off x="8577072" y="2542032"/>
            <a:ext cx="320040" cy="320040"/>
          </a:xfrm>
          <a:prstGeom prst="ellipse">
            <a:avLst/>
          </a:prstGeom>
          <a:solidFill>
            <a:srgbClr val="007C83"/>
          </a:solidFill>
          <a:ln w="12700">
            <a:solidFill>
              <a:srgbClr val="007C83"/>
            </a:solidFill>
            <a:prstDash val="solid"/>
          </a:ln>
        </p:spPr>
      </p:sp>
      <p:sp>
        <p:nvSpPr>
          <p:cNvPr id="8" name="Text 5"/>
          <p:cNvSpPr/>
          <p:nvPr/>
        </p:nvSpPr>
        <p:spPr>
          <a:xfrm>
            <a:off x="8577072" y="2615184"/>
            <a:ext cx="320040"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9" name="Text 6"/>
          <p:cNvSpPr/>
          <p:nvPr/>
        </p:nvSpPr>
        <p:spPr>
          <a:xfrm>
            <a:off x="9034272" y="2487168"/>
            <a:ext cx="2084832" cy="566928"/>
          </a:xfrm>
          <a:prstGeom prst="rect">
            <a:avLst/>
          </a:prstGeom>
          <a:noFill/>
          <a:ln/>
        </p:spPr>
        <p:txBody>
          <a:bodyPr wrap="square" lIns="0" tIns="0" rIns="0" bIns="0" rtlCol="0" anchor="ctr">
            <a:normAutofit/>
          </a:bodyPr>
          <a:lstStyle/>
          <a:p>
            <a:pPr indent="0" marL="0">
              <a:buNone/>
            </a:pPr>
            <a:r>
              <a:rPr lang="en-US" sz="1100" dirty="0">
                <a:solidFill>
                  <a:srgbClr val="334155"/>
                </a:solidFill>
                <a:latin typeface="Arial" pitchFamily="34" charset="0"/>
                <a:ea typeface="Arial" pitchFamily="34" charset="-122"/>
                <a:cs typeface="Arial" pitchFamily="34" charset="-120"/>
              </a:rPr>
              <a:t>Time-LLM variants cluster near 16 mg/dL RMSE.</a:t>
            </a:r>
            <a:endParaRPr lang="en-US" sz="1100" dirty="0"/>
          </a:p>
        </p:txBody>
      </p:sp>
      <p:sp>
        <p:nvSpPr>
          <p:cNvPr id="10" name="Shape 7"/>
          <p:cNvSpPr/>
          <p:nvPr/>
        </p:nvSpPr>
        <p:spPr>
          <a:xfrm>
            <a:off x="8577072" y="3383280"/>
            <a:ext cx="320040" cy="320040"/>
          </a:xfrm>
          <a:prstGeom prst="ellipse">
            <a:avLst/>
          </a:prstGeom>
          <a:solidFill>
            <a:srgbClr val="E76F51"/>
          </a:solidFill>
          <a:ln w="12700">
            <a:solidFill>
              <a:srgbClr val="E76F51"/>
            </a:solidFill>
            <a:prstDash val="solid"/>
          </a:ln>
        </p:spPr>
      </p:sp>
      <p:sp>
        <p:nvSpPr>
          <p:cNvPr id="11" name="Text 8"/>
          <p:cNvSpPr/>
          <p:nvPr/>
        </p:nvSpPr>
        <p:spPr>
          <a:xfrm>
            <a:off x="8577072" y="3456432"/>
            <a:ext cx="320040"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2</a:t>
            </a:r>
            <a:endParaRPr lang="en-US" sz="850" dirty="0"/>
          </a:p>
        </p:txBody>
      </p:sp>
      <p:sp>
        <p:nvSpPr>
          <p:cNvPr id="12" name="Text 9"/>
          <p:cNvSpPr/>
          <p:nvPr/>
        </p:nvSpPr>
        <p:spPr>
          <a:xfrm>
            <a:off x="9034272" y="3328416"/>
            <a:ext cx="2084832" cy="566928"/>
          </a:xfrm>
          <a:prstGeom prst="rect">
            <a:avLst/>
          </a:prstGeom>
          <a:noFill/>
          <a:ln/>
        </p:spPr>
        <p:txBody>
          <a:bodyPr wrap="square" lIns="0" tIns="0" rIns="0" bIns="0" rtlCol="0" anchor="ctr">
            <a:normAutofit/>
          </a:bodyPr>
          <a:lstStyle/>
          <a:p>
            <a:pPr indent="0" marL="0">
              <a:buNone/>
            </a:pPr>
            <a:r>
              <a:rPr lang="en-US" sz="1100" dirty="0">
                <a:solidFill>
                  <a:srgbClr val="334155"/>
                </a:solidFill>
                <a:latin typeface="Arial" pitchFamily="34" charset="0"/>
                <a:ea typeface="Arial" pitchFamily="34" charset="-122"/>
                <a:cs typeface="Arial" pitchFamily="34" charset="-120"/>
              </a:rPr>
              <a:t>LLaMA-8 improves 12.1% over the matched Deep RL baseline.</a:t>
            </a:r>
            <a:endParaRPr lang="en-US" sz="1100" dirty="0"/>
          </a:p>
        </p:txBody>
      </p:sp>
      <p:sp>
        <p:nvSpPr>
          <p:cNvPr id="13" name="Shape 10"/>
          <p:cNvSpPr/>
          <p:nvPr/>
        </p:nvSpPr>
        <p:spPr>
          <a:xfrm>
            <a:off x="8577072" y="4224528"/>
            <a:ext cx="320040" cy="320040"/>
          </a:xfrm>
          <a:prstGeom prst="ellipse">
            <a:avLst/>
          </a:prstGeom>
          <a:solidFill>
            <a:srgbClr val="E9C46A"/>
          </a:solidFill>
          <a:ln w="12700">
            <a:solidFill>
              <a:srgbClr val="E9C46A"/>
            </a:solidFill>
            <a:prstDash val="solid"/>
          </a:ln>
        </p:spPr>
      </p:sp>
      <p:sp>
        <p:nvSpPr>
          <p:cNvPr id="14" name="Text 11"/>
          <p:cNvSpPr/>
          <p:nvPr/>
        </p:nvSpPr>
        <p:spPr>
          <a:xfrm>
            <a:off x="8577072" y="4297680"/>
            <a:ext cx="320040" cy="109728"/>
          </a:xfrm>
          <a:prstGeom prst="rect">
            <a:avLst/>
          </a:prstGeom>
          <a:noFill/>
          <a:ln/>
        </p:spPr>
        <p:txBody>
          <a:bodyPr wrap="square" lIns="0" tIns="0" rIns="0" bIns="0" rtlCol="0" anchor="ctr"/>
          <a:lstStyle/>
          <a:p>
            <a:pPr algn="ctr" indent="0" marL="0">
              <a:buNone/>
            </a:pPr>
            <a:r>
              <a:rPr lang="en-US" sz="850" b="1" dirty="0">
                <a:solidFill>
                  <a:srgbClr val="0B1F33"/>
                </a:solidFill>
                <a:latin typeface="Arial" pitchFamily="34" charset="0"/>
                <a:ea typeface="Arial" pitchFamily="34" charset="-122"/>
                <a:cs typeface="Arial" pitchFamily="34" charset="-120"/>
              </a:rPr>
              <a:t>3</a:t>
            </a:r>
            <a:endParaRPr lang="en-US" sz="850" dirty="0"/>
          </a:p>
        </p:txBody>
      </p:sp>
      <p:sp>
        <p:nvSpPr>
          <p:cNvPr id="15" name="Text 12"/>
          <p:cNvSpPr/>
          <p:nvPr/>
        </p:nvSpPr>
        <p:spPr>
          <a:xfrm>
            <a:off x="9034272" y="4169664"/>
            <a:ext cx="2084832" cy="566928"/>
          </a:xfrm>
          <a:prstGeom prst="rect">
            <a:avLst/>
          </a:prstGeom>
          <a:noFill/>
          <a:ln/>
        </p:spPr>
        <p:txBody>
          <a:bodyPr wrap="square" lIns="0" tIns="0" rIns="0" bIns="0" rtlCol="0" anchor="ctr">
            <a:normAutofit/>
          </a:bodyPr>
          <a:lstStyle/>
          <a:p>
            <a:pPr indent="0" marL="0">
              <a:buNone/>
            </a:pPr>
            <a:r>
              <a:rPr lang="en-US" sz="1100" dirty="0">
                <a:solidFill>
                  <a:srgbClr val="334155"/>
                </a:solidFill>
                <a:latin typeface="Arial" pitchFamily="34" charset="0"/>
                <a:ea typeface="Arial" pitchFamily="34" charset="-122"/>
                <a:cs typeface="Arial" pitchFamily="34" charset="-120"/>
              </a:rPr>
              <a:t>Chronos offers a smaller accuracy gain with faster fine-tuning.</a:t>
            </a:r>
            <a:endParaRPr lang="en-US" sz="1100" dirty="0"/>
          </a:p>
        </p:txBody>
      </p:sp>
      <p:sp>
        <p:nvSpPr>
          <p:cNvPr id="16" name="Text 13"/>
          <p:cNvSpPr/>
          <p:nvPr/>
        </p:nvSpPr>
        <p:spPr>
          <a:xfrm>
            <a:off x="8577072" y="5074920"/>
            <a:ext cx="685800" cy="201168"/>
          </a:xfrm>
          <a:prstGeom prst="rect">
            <a:avLst/>
          </a:prstGeom>
          <a:noFill/>
          <a:ln/>
        </p:spPr>
        <p:txBody>
          <a:bodyPr wrap="square" lIns="0" tIns="0" rIns="0" bIns="0" rtlCol="0" anchor="ctr"/>
          <a:lstStyle/>
          <a:p>
            <a:pPr indent="0" marL="0">
              <a:buNone/>
            </a:pPr>
            <a:r>
              <a:rPr lang="en-US" sz="950" b="1" dirty="0">
                <a:solidFill>
                  <a:srgbClr val="C94747"/>
                </a:solidFill>
                <a:latin typeface="Arial" pitchFamily="34" charset="0"/>
                <a:ea typeface="Arial" pitchFamily="34" charset="-122"/>
                <a:cs typeface="Arial" pitchFamily="34" charset="-120"/>
              </a:rPr>
              <a:t>Caution</a:t>
            </a:r>
            <a:endParaRPr lang="en-US" sz="950" dirty="0"/>
          </a:p>
        </p:txBody>
      </p:sp>
      <p:sp>
        <p:nvSpPr>
          <p:cNvPr id="17" name="Text 14"/>
          <p:cNvSpPr/>
          <p:nvPr/>
        </p:nvSpPr>
        <p:spPr>
          <a:xfrm>
            <a:off x="9235440" y="5029200"/>
            <a:ext cx="1874520" cy="438912"/>
          </a:xfrm>
          <a:prstGeom prst="rect">
            <a:avLst/>
          </a:prstGeom>
          <a:noFill/>
          <a:ln/>
        </p:spPr>
        <p:txBody>
          <a:bodyPr wrap="square" lIns="0" tIns="0" rIns="0" bIns="0" rtlCol="0" anchor="ctr">
            <a:normAutofit/>
          </a:bodyPr>
          <a:lstStyle/>
          <a:p>
            <a:pPr indent="0" marL="0">
              <a:buNone/>
            </a:pPr>
            <a:r>
              <a:rPr lang="en-US" sz="950" dirty="0">
                <a:solidFill>
                  <a:srgbClr val="526477"/>
                </a:solidFill>
                <a:latin typeface="Arial" pitchFamily="34" charset="0"/>
                <a:ea typeface="Arial" pitchFamily="34" charset="-122"/>
                <a:cs typeface="Arial" pitchFamily="34" charset="-120"/>
              </a:rPr>
              <a:t>Rows from other papers are contextual unless the protocol is explicitly matched.</a:t>
            </a:r>
            <a:endParaRPr lang="en-US" sz="950" dirty="0"/>
          </a:p>
        </p:txBody>
      </p:sp>
      <p:sp>
        <p:nvSpPr>
          <p:cNvPr id="18" name="Text 15"/>
          <p:cNvSpPr/>
          <p:nvPr/>
        </p:nvSpPr>
        <p:spPr>
          <a:xfrm>
            <a:off x="548640" y="6236208"/>
            <a:ext cx="10927080" cy="164592"/>
          </a:xfrm>
          <a:prstGeom prst="rect">
            <a:avLst/>
          </a:prstGeom>
          <a:noFill/>
          <a:ln/>
        </p:spPr>
        <p:txBody>
          <a:bodyPr wrap="square" lIns="0" tIns="0" rIns="0" bIns="0" rtlCol="0" anchor="ctr">
            <a:normAutofit/>
          </a:bodyPr>
          <a:lstStyle/>
          <a:p>
            <a:pPr indent="0" marL="0">
              <a:buNone/>
            </a:pPr>
            <a:r>
              <a:rPr lang="en-US" sz="750" i="1" dirty="0">
                <a:solidFill>
                  <a:srgbClr val="66788A"/>
                </a:solidFill>
                <a:latin typeface="Arial" pitchFamily="34" charset="0"/>
                <a:ea typeface="Arial" pitchFamily="34" charset="-122"/>
                <a:cs typeface="Arial" pitchFamily="34" charset="-120"/>
              </a:rPr>
              <a:t>Source: DiabLLM Table: Model Performance Comparison (30-minute history and horizon). Lower RMSE is better.</a:t>
            </a:r>
            <a:endParaRPr lang="en-US" sz="750" dirty="0"/>
          </a:p>
        </p:txBody>
      </p:sp>
      <p:sp>
        <p:nvSpPr>
          <p:cNvPr id="25" name="Slide Number Placeholder 0"/>
          <p:cNvSpPr>
            <a:spLocks noGrp="1"/>
          </p:cNvSpPr>
          <p:nvPr>
            <p:ph type="sldNum" sz="quarter" idx="4294967295"/>
          </p:nvPr>
        </p:nvSpPr>
        <p:spPr>
          <a:xfrm>
            <a:off x="11686032" y="20116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0040"/>
            <a:ext cx="4114800" cy="201168"/>
          </a:xfrm>
          <a:prstGeom prst="rect">
            <a:avLst/>
          </a:prstGeom>
          <a:noFill/>
          <a:ln/>
        </p:spPr>
        <p:txBody>
          <a:bodyPr wrap="square" lIns="0" tIns="0" rIns="0" bIns="0" rtlCol="0" anchor="ctr"/>
          <a:lstStyle/>
          <a:p>
            <a:pPr indent="0" marL="0">
              <a:buNone/>
            </a:pPr>
            <a:r>
              <a:rPr lang="en-US" sz="900" b="1" spc="120" kern="0" dirty="0">
                <a:solidFill>
                  <a:srgbClr val="007C83"/>
                </a:solidFill>
                <a:latin typeface="Arial" pitchFamily="34" charset="0"/>
                <a:ea typeface="Arial" pitchFamily="34" charset="-122"/>
                <a:cs typeface="Arial" pitchFamily="34" charset="-120"/>
              </a:rPr>
              <a:t>CLINICAL ERROR CHARACTERIZATION</a:t>
            </a:r>
            <a:endParaRPr lang="en-US" sz="900" dirty="0"/>
          </a:p>
        </p:txBody>
      </p:sp>
      <p:sp>
        <p:nvSpPr>
          <p:cNvPr id="3" name="Text 1"/>
          <p:cNvSpPr/>
          <p:nvPr/>
        </p:nvSpPr>
        <p:spPr>
          <a:xfrm>
            <a:off x="548640" y="594360"/>
            <a:ext cx="10789920" cy="621792"/>
          </a:xfrm>
          <a:prstGeom prst="rect">
            <a:avLst/>
          </a:prstGeom>
          <a:noFill/>
          <a:ln/>
        </p:spPr>
        <p:txBody>
          <a:bodyPr wrap="square" lIns="0" tIns="0" rIns="0" bIns="0" rtlCol="0" anchor="ctr">
            <a:normAutofit/>
          </a:bodyPr>
          <a:lstStyle/>
          <a:p>
            <a:pPr indent="0" marL="0">
              <a:buNone/>
            </a:pPr>
            <a:r>
              <a:rPr lang="en-US" sz="2600" b="1" dirty="0">
                <a:solidFill>
                  <a:srgbClr val="14213D"/>
                </a:solidFill>
                <a:latin typeface="Cambria" pitchFamily="34" charset="0"/>
                <a:ea typeface="Cambria" pitchFamily="34" charset="-122"/>
                <a:cs typeface="Cambria" pitchFamily="34" charset="-120"/>
              </a:rPr>
              <a:t>Error-grid analysis favors Time-LLM at the cohort level</a:t>
            </a:r>
            <a:endParaRPr lang="en-US" sz="2600" dirty="0"/>
          </a:p>
        </p:txBody>
      </p:sp>
      <p:sp>
        <p:nvSpPr>
          <p:cNvPr id="4" name="Shape 2"/>
          <p:cNvSpPr/>
          <p:nvPr/>
        </p:nvSpPr>
        <p:spPr>
          <a:xfrm>
            <a:off x="694944" y="1417320"/>
            <a:ext cx="2423160" cy="1417320"/>
          </a:xfrm>
          <a:prstGeom prst="roundRect">
            <a:avLst>
              <a:gd name="adj" fmla="val 5161"/>
            </a:avLst>
          </a:prstGeom>
          <a:solidFill>
            <a:srgbClr val="FFFFFF"/>
          </a:solidFill>
          <a:ln w="12700">
            <a:solidFill>
              <a:srgbClr val="D3E0E5"/>
            </a:solidFill>
            <a:prstDash val="solid"/>
          </a:ln>
          <a:effectLst>
            <a:outerShdw sx="100000" sy="100000" kx="0" ky="0" algn="bl" rotWithShape="0" blurRad="19050" dist="50800" dir="2700000">
              <a:srgbClr val="000000">
                <a:alpha val="12000"/>
              </a:srgbClr>
            </a:outerShdw>
          </a:effectLst>
        </p:spPr>
      </p:sp>
      <p:sp>
        <p:nvSpPr>
          <p:cNvPr id="5" name="Text 3"/>
          <p:cNvSpPr/>
          <p:nvPr/>
        </p:nvSpPr>
        <p:spPr>
          <a:xfrm>
            <a:off x="877824" y="1581912"/>
            <a:ext cx="2057400" cy="393192"/>
          </a:xfrm>
          <a:prstGeom prst="rect">
            <a:avLst/>
          </a:prstGeom>
          <a:noFill/>
          <a:ln/>
        </p:spPr>
        <p:txBody>
          <a:bodyPr wrap="square" lIns="0" tIns="0" rIns="0" bIns="0" rtlCol="0" anchor="ctr">
            <a:normAutofit/>
          </a:bodyPr>
          <a:lstStyle/>
          <a:p>
            <a:pPr indent="0" marL="0">
              <a:buNone/>
            </a:pPr>
            <a:r>
              <a:rPr lang="en-US" sz="2600" b="1" dirty="0">
                <a:solidFill>
                  <a:srgbClr val="007C83"/>
                </a:solidFill>
                <a:latin typeface="Cambria" pitchFamily="34" charset="0"/>
                <a:ea typeface="Cambria" pitchFamily="34" charset="-122"/>
                <a:cs typeface="Cambria" pitchFamily="34" charset="-120"/>
              </a:rPr>
              <a:t>99.58%</a:t>
            </a:r>
            <a:endParaRPr lang="en-US" sz="2600" dirty="0"/>
          </a:p>
        </p:txBody>
      </p:sp>
      <p:sp>
        <p:nvSpPr>
          <p:cNvPr id="6" name="Text 4"/>
          <p:cNvSpPr/>
          <p:nvPr/>
        </p:nvSpPr>
        <p:spPr>
          <a:xfrm>
            <a:off x="877824" y="2048256"/>
            <a:ext cx="2057400" cy="219456"/>
          </a:xfrm>
          <a:prstGeom prst="rect">
            <a:avLst/>
          </a:prstGeom>
          <a:noFill/>
          <a:ln/>
        </p:spPr>
        <p:txBody>
          <a:bodyPr wrap="square" lIns="0" tIns="0" rIns="0" bIns="0" rtlCol="0" anchor="ctr">
            <a:normAutofit/>
          </a:bodyPr>
          <a:lstStyle/>
          <a:p>
            <a:pPr indent="0" marL="0">
              <a:buNone/>
            </a:pPr>
            <a:r>
              <a:rPr lang="en-US" sz="1100" b="1" dirty="0">
                <a:solidFill>
                  <a:srgbClr val="14213D"/>
                </a:solidFill>
                <a:latin typeface="Arial" pitchFamily="34" charset="0"/>
                <a:ea typeface="Arial" pitchFamily="34" charset="-122"/>
                <a:cs typeface="Arial" pitchFamily="34" charset="-120"/>
              </a:rPr>
              <a:t>CEG Zone A</a:t>
            </a:r>
            <a:endParaRPr lang="en-US" sz="1100" dirty="0"/>
          </a:p>
        </p:txBody>
      </p:sp>
      <p:sp>
        <p:nvSpPr>
          <p:cNvPr id="7" name="Text 5"/>
          <p:cNvSpPr/>
          <p:nvPr/>
        </p:nvSpPr>
        <p:spPr>
          <a:xfrm>
            <a:off x="877824" y="2322576"/>
            <a:ext cx="2057400" cy="182880"/>
          </a:xfrm>
          <a:prstGeom prst="rect">
            <a:avLst/>
          </a:prstGeom>
          <a:noFill/>
          <a:ln/>
        </p:spPr>
        <p:txBody>
          <a:bodyPr wrap="square" lIns="0" tIns="0" rIns="0" bIns="0" rtlCol="0" anchor="ctr">
            <a:normAutofit/>
          </a:bodyPr>
          <a:lstStyle/>
          <a:p>
            <a:pPr indent="0" marL="0">
              <a:buNone/>
            </a:pPr>
            <a:r>
              <a:rPr lang="en-US" sz="850" dirty="0">
                <a:solidFill>
                  <a:srgbClr val="526477"/>
                </a:solidFill>
                <a:latin typeface="Arial" pitchFamily="34" charset="0"/>
                <a:ea typeface="Arial" pitchFamily="34" charset="-122"/>
                <a:cs typeface="Arial" pitchFamily="34" charset="-120"/>
              </a:rPr>
              <a:t>Time-LLM cohort result</a:t>
            </a:r>
            <a:endParaRPr lang="en-US" sz="850" dirty="0"/>
          </a:p>
        </p:txBody>
      </p:sp>
      <p:sp>
        <p:nvSpPr>
          <p:cNvPr id="8" name="Shape 6"/>
          <p:cNvSpPr/>
          <p:nvPr/>
        </p:nvSpPr>
        <p:spPr>
          <a:xfrm>
            <a:off x="3337560" y="1417320"/>
            <a:ext cx="2423160" cy="1417320"/>
          </a:xfrm>
          <a:prstGeom prst="roundRect">
            <a:avLst>
              <a:gd name="adj" fmla="val 5161"/>
            </a:avLst>
          </a:prstGeom>
          <a:solidFill>
            <a:srgbClr val="F4EAF5"/>
          </a:solidFill>
          <a:ln w="12700">
            <a:solidFill>
              <a:srgbClr val="D3E0E5"/>
            </a:solidFill>
            <a:prstDash val="solid"/>
          </a:ln>
          <a:effectLst>
            <a:outerShdw sx="100000" sy="100000" kx="0" ky="0" algn="bl" rotWithShape="0" blurRad="19050" dist="50800" dir="2700000">
              <a:srgbClr val="000000">
                <a:alpha val="12000"/>
              </a:srgbClr>
            </a:outerShdw>
          </a:effectLst>
        </p:spPr>
      </p:sp>
      <p:sp>
        <p:nvSpPr>
          <p:cNvPr id="9" name="Text 7"/>
          <p:cNvSpPr/>
          <p:nvPr/>
        </p:nvSpPr>
        <p:spPr>
          <a:xfrm>
            <a:off x="3520440" y="1581912"/>
            <a:ext cx="2057400" cy="393192"/>
          </a:xfrm>
          <a:prstGeom prst="rect">
            <a:avLst/>
          </a:prstGeom>
          <a:noFill/>
          <a:ln/>
        </p:spPr>
        <p:txBody>
          <a:bodyPr wrap="square" lIns="0" tIns="0" rIns="0" bIns="0" rtlCol="0" anchor="ctr">
            <a:normAutofit/>
          </a:bodyPr>
          <a:lstStyle/>
          <a:p>
            <a:pPr indent="0" marL="0">
              <a:buNone/>
            </a:pPr>
            <a:r>
              <a:rPr lang="en-US" sz="2600" b="1" dirty="0">
                <a:solidFill>
                  <a:srgbClr val="7E5A87"/>
                </a:solidFill>
                <a:latin typeface="Cambria" pitchFamily="34" charset="0"/>
                <a:ea typeface="Cambria" pitchFamily="34" charset="-122"/>
                <a:cs typeface="Cambria" pitchFamily="34" charset="-120"/>
              </a:rPr>
              <a:t>98.43%</a:t>
            </a:r>
            <a:endParaRPr lang="en-US" sz="2600" dirty="0"/>
          </a:p>
        </p:txBody>
      </p:sp>
      <p:sp>
        <p:nvSpPr>
          <p:cNvPr id="10" name="Text 8"/>
          <p:cNvSpPr/>
          <p:nvPr/>
        </p:nvSpPr>
        <p:spPr>
          <a:xfrm>
            <a:off x="3520440" y="2048256"/>
            <a:ext cx="2057400" cy="219456"/>
          </a:xfrm>
          <a:prstGeom prst="rect">
            <a:avLst/>
          </a:prstGeom>
          <a:noFill/>
          <a:ln/>
        </p:spPr>
        <p:txBody>
          <a:bodyPr wrap="square" lIns="0" tIns="0" rIns="0" bIns="0" rtlCol="0" anchor="ctr">
            <a:normAutofit/>
          </a:bodyPr>
          <a:lstStyle/>
          <a:p>
            <a:pPr indent="0" marL="0">
              <a:buNone/>
            </a:pPr>
            <a:r>
              <a:rPr lang="en-US" sz="1100" b="1" dirty="0">
                <a:solidFill>
                  <a:srgbClr val="14213D"/>
                </a:solidFill>
                <a:latin typeface="Arial" pitchFamily="34" charset="0"/>
                <a:ea typeface="Arial" pitchFamily="34" charset="-122"/>
                <a:cs typeface="Arial" pitchFamily="34" charset="-120"/>
              </a:rPr>
              <a:t>CEG Zone A</a:t>
            </a:r>
            <a:endParaRPr lang="en-US" sz="1100" dirty="0"/>
          </a:p>
        </p:txBody>
      </p:sp>
      <p:sp>
        <p:nvSpPr>
          <p:cNvPr id="11" name="Text 9"/>
          <p:cNvSpPr/>
          <p:nvPr/>
        </p:nvSpPr>
        <p:spPr>
          <a:xfrm>
            <a:off x="3520440" y="2322576"/>
            <a:ext cx="2057400" cy="182880"/>
          </a:xfrm>
          <a:prstGeom prst="rect">
            <a:avLst/>
          </a:prstGeom>
          <a:noFill/>
          <a:ln/>
        </p:spPr>
        <p:txBody>
          <a:bodyPr wrap="square" lIns="0" tIns="0" rIns="0" bIns="0" rtlCol="0" anchor="ctr">
            <a:normAutofit/>
          </a:bodyPr>
          <a:lstStyle/>
          <a:p>
            <a:pPr indent="0" marL="0">
              <a:buNone/>
            </a:pPr>
            <a:r>
              <a:rPr lang="en-US" sz="850" dirty="0">
                <a:solidFill>
                  <a:srgbClr val="526477"/>
                </a:solidFill>
                <a:latin typeface="Arial" pitchFamily="34" charset="0"/>
                <a:ea typeface="Arial" pitchFamily="34" charset="-122"/>
                <a:cs typeface="Arial" pitchFamily="34" charset="-120"/>
              </a:rPr>
              <a:t>Chronos cohort result</a:t>
            </a:r>
            <a:endParaRPr lang="en-US" sz="850" dirty="0"/>
          </a:p>
        </p:txBody>
      </p:sp>
      <p:sp>
        <p:nvSpPr>
          <p:cNvPr id="12" name="Shape 10"/>
          <p:cNvSpPr/>
          <p:nvPr/>
        </p:nvSpPr>
        <p:spPr>
          <a:xfrm>
            <a:off x="6199632" y="1417320"/>
            <a:ext cx="2423160" cy="1417320"/>
          </a:xfrm>
          <a:prstGeom prst="roundRect">
            <a:avLst>
              <a:gd name="adj" fmla="val 5161"/>
            </a:avLst>
          </a:prstGeom>
          <a:solidFill>
            <a:srgbClr val="FFFFFF"/>
          </a:solidFill>
          <a:ln w="12700">
            <a:solidFill>
              <a:srgbClr val="D3E0E5"/>
            </a:solidFill>
            <a:prstDash val="solid"/>
          </a:ln>
          <a:effectLst>
            <a:outerShdw sx="100000" sy="100000" kx="0" ky="0" algn="bl" rotWithShape="0" blurRad="19050" dist="50800" dir="2700000">
              <a:srgbClr val="000000">
                <a:alpha val="12000"/>
              </a:srgbClr>
            </a:outerShdw>
          </a:effectLst>
        </p:spPr>
      </p:sp>
      <p:sp>
        <p:nvSpPr>
          <p:cNvPr id="13" name="Text 11"/>
          <p:cNvSpPr/>
          <p:nvPr/>
        </p:nvSpPr>
        <p:spPr>
          <a:xfrm>
            <a:off x="6382512" y="1581912"/>
            <a:ext cx="2057400" cy="393192"/>
          </a:xfrm>
          <a:prstGeom prst="rect">
            <a:avLst/>
          </a:prstGeom>
          <a:noFill/>
          <a:ln/>
        </p:spPr>
        <p:txBody>
          <a:bodyPr wrap="square" lIns="0" tIns="0" rIns="0" bIns="0" rtlCol="0" anchor="ctr">
            <a:normAutofit/>
          </a:bodyPr>
          <a:lstStyle/>
          <a:p>
            <a:pPr indent="0" marL="0">
              <a:buNone/>
            </a:pPr>
            <a:r>
              <a:rPr lang="en-US" sz="2600" b="1" dirty="0">
                <a:solidFill>
                  <a:srgbClr val="007C83"/>
                </a:solidFill>
                <a:latin typeface="Cambria" pitchFamily="34" charset="0"/>
                <a:ea typeface="Cambria" pitchFamily="34" charset="-122"/>
                <a:cs typeface="Cambria" pitchFamily="34" charset="-120"/>
              </a:rPr>
              <a:t>97.15%</a:t>
            </a:r>
            <a:endParaRPr lang="en-US" sz="2600" dirty="0"/>
          </a:p>
        </p:txBody>
      </p:sp>
      <p:sp>
        <p:nvSpPr>
          <p:cNvPr id="14" name="Text 12"/>
          <p:cNvSpPr/>
          <p:nvPr/>
        </p:nvSpPr>
        <p:spPr>
          <a:xfrm>
            <a:off x="6382512" y="2048256"/>
            <a:ext cx="2057400" cy="219456"/>
          </a:xfrm>
          <a:prstGeom prst="rect">
            <a:avLst/>
          </a:prstGeom>
          <a:noFill/>
          <a:ln/>
        </p:spPr>
        <p:txBody>
          <a:bodyPr wrap="square" lIns="0" tIns="0" rIns="0" bIns="0" rtlCol="0" anchor="ctr">
            <a:normAutofit/>
          </a:bodyPr>
          <a:lstStyle/>
          <a:p>
            <a:pPr indent="0" marL="0">
              <a:buNone/>
            </a:pPr>
            <a:r>
              <a:rPr lang="en-US" sz="1100" b="1" dirty="0">
                <a:solidFill>
                  <a:srgbClr val="14213D"/>
                </a:solidFill>
                <a:latin typeface="Arial" pitchFamily="34" charset="0"/>
                <a:ea typeface="Arial" pitchFamily="34" charset="-122"/>
                <a:cs typeface="Arial" pitchFamily="34" charset="-120"/>
              </a:rPr>
              <a:t>SEG: None</a:t>
            </a:r>
            <a:endParaRPr lang="en-US" sz="1100" dirty="0"/>
          </a:p>
        </p:txBody>
      </p:sp>
      <p:sp>
        <p:nvSpPr>
          <p:cNvPr id="15" name="Text 13"/>
          <p:cNvSpPr/>
          <p:nvPr/>
        </p:nvSpPr>
        <p:spPr>
          <a:xfrm>
            <a:off x="6382512" y="2322576"/>
            <a:ext cx="2057400" cy="182880"/>
          </a:xfrm>
          <a:prstGeom prst="rect">
            <a:avLst/>
          </a:prstGeom>
          <a:noFill/>
          <a:ln/>
        </p:spPr>
        <p:txBody>
          <a:bodyPr wrap="square" lIns="0" tIns="0" rIns="0" bIns="0" rtlCol="0" anchor="ctr">
            <a:normAutofit/>
          </a:bodyPr>
          <a:lstStyle/>
          <a:p>
            <a:pPr indent="0" marL="0">
              <a:buNone/>
            </a:pPr>
            <a:r>
              <a:rPr lang="en-US" sz="850" dirty="0">
                <a:solidFill>
                  <a:srgbClr val="526477"/>
                </a:solidFill>
                <a:latin typeface="Arial" pitchFamily="34" charset="0"/>
                <a:ea typeface="Arial" pitchFamily="34" charset="-122"/>
                <a:cs typeface="Arial" pitchFamily="34" charset="-120"/>
              </a:rPr>
              <a:t>Time-LLM cohort result</a:t>
            </a:r>
            <a:endParaRPr lang="en-US" sz="850" dirty="0"/>
          </a:p>
        </p:txBody>
      </p:sp>
      <p:sp>
        <p:nvSpPr>
          <p:cNvPr id="16" name="Shape 14"/>
          <p:cNvSpPr/>
          <p:nvPr/>
        </p:nvSpPr>
        <p:spPr>
          <a:xfrm>
            <a:off x="8842248" y="1417320"/>
            <a:ext cx="2423160" cy="1417320"/>
          </a:xfrm>
          <a:prstGeom prst="roundRect">
            <a:avLst>
              <a:gd name="adj" fmla="val 5161"/>
            </a:avLst>
          </a:prstGeom>
          <a:solidFill>
            <a:srgbClr val="F4EAF5"/>
          </a:solidFill>
          <a:ln w="12700">
            <a:solidFill>
              <a:srgbClr val="D3E0E5"/>
            </a:solidFill>
            <a:prstDash val="solid"/>
          </a:ln>
          <a:effectLst>
            <a:outerShdw sx="100000" sy="100000" kx="0" ky="0" algn="bl" rotWithShape="0" blurRad="19050" dist="50800" dir="2700000">
              <a:srgbClr val="000000">
                <a:alpha val="12000"/>
              </a:srgbClr>
            </a:outerShdw>
          </a:effectLst>
        </p:spPr>
      </p:sp>
      <p:sp>
        <p:nvSpPr>
          <p:cNvPr id="17" name="Text 15"/>
          <p:cNvSpPr/>
          <p:nvPr/>
        </p:nvSpPr>
        <p:spPr>
          <a:xfrm>
            <a:off x="9025128" y="1581912"/>
            <a:ext cx="2057400" cy="393192"/>
          </a:xfrm>
          <a:prstGeom prst="rect">
            <a:avLst/>
          </a:prstGeom>
          <a:noFill/>
          <a:ln/>
        </p:spPr>
        <p:txBody>
          <a:bodyPr wrap="square" lIns="0" tIns="0" rIns="0" bIns="0" rtlCol="0" anchor="ctr">
            <a:normAutofit/>
          </a:bodyPr>
          <a:lstStyle/>
          <a:p>
            <a:pPr indent="0" marL="0">
              <a:buNone/>
            </a:pPr>
            <a:r>
              <a:rPr lang="en-US" sz="2600" b="1" dirty="0">
                <a:solidFill>
                  <a:srgbClr val="7E5A87"/>
                </a:solidFill>
                <a:latin typeface="Cambria" pitchFamily="34" charset="0"/>
                <a:ea typeface="Cambria" pitchFamily="34" charset="-122"/>
                <a:cs typeface="Cambria" pitchFamily="34" charset="-120"/>
              </a:rPr>
              <a:t>92.94%</a:t>
            </a:r>
            <a:endParaRPr lang="en-US" sz="2600" dirty="0"/>
          </a:p>
        </p:txBody>
      </p:sp>
      <p:sp>
        <p:nvSpPr>
          <p:cNvPr id="18" name="Text 16"/>
          <p:cNvSpPr/>
          <p:nvPr/>
        </p:nvSpPr>
        <p:spPr>
          <a:xfrm>
            <a:off x="9025128" y="2048256"/>
            <a:ext cx="2057400" cy="219456"/>
          </a:xfrm>
          <a:prstGeom prst="rect">
            <a:avLst/>
          </a:prstGeom>
          <a:noFill/>
          <a:ln/>
        </p:spPr>
        <p:txBody>
          <a:bodyPr wrap="square" lIns="0" tIns="0" rIns="0" bIns="0" rtlCol="0" anchor="ctr">
            <a:normAutofit/>
          </a:bodyPr>
          <a:lstStyle/>
          <a:p>
            <a:pPr indent="0" marL="0">
              <a:buNone/>
            </a:pPr>
            <a:r>
              <a:rPr lang="en-US" sz="1100" b="1" dirty="0">
                <a:solidFill>
                  <a:srgbClr val="14213D"/>
                </a:solidFill>
                <a:latin typeface="Arial" pitchFamily="34" charset="0"/>
                <a:ea typeface="Arial" pitchFamily="34" charset="-122"/>
                <a:cs typeface="Arial" pitchFamily="34" charset="-120"/>
              </a:rPr>
              <a:t>SEG: None</a:t>
            </a:r>
            <a:endParaRPr lang="en-US" sz="1100" dirty="0"/>
          </a:p>
        </p:txBody>
      </p:sp>
      <p:sp>
        <p:nvSpPr>
          <p:cNvPr id="19" name="Text 17"/>
          <p:cNvSpPr/>
          <p:nvPr/>
        </p:nvSpPr>
        <p:spPr>
          <a:xfrm>
            <a:off x="9025128" y="2322576"/>
            <a:ext cx="2057400" cy="182880"/>
          </a:xfrm>
          <a:prstGeom prst="rect">
            <a:avLst/>
          </a:prstGeom>
          <a:noFill/>
          <a:ln/>
        </p:spPr>
        <p:txBody>
          <a:bodyPr wrap="square" lIns="0" tIns="0" rIns="0" bIns="0" rtlCol="0" anchor="ctr">
            <a:normAutofit/>
          </a:bodyPr>
          <a:lstStyle/>
          <a:p>
            <a:pPr indent="0" marL="0">
              <a:buNone/>
            </a:pPr>
            <a:r>
              <a:rPr lang="en-US" sz="850" dirty="0">
                <a:solidFill>
                  <a:srgbClr val="526477"/>
                </a:solidFill>
                <a:latin typeface="Arial" pitchFamily="34" charset="0"/>
                <a:ea typeface="Arial" pitchFamily="34" charset="-122"/>
                <a:cs typeface="Arial" pitchFamily="34" charset="-120"/>
              </a:rPr>
              <a:t>Chronos cohort result</a:t>
            </a:r>
            <a:endParaRPr lang="en-US" sz="850" dirty="0"/>
          </a:p>
        </p:txBody>
      </p:sp>
      <p:pic>
        <p:nvPicPr>
          <p:cNvPr id="20" name="Image 0" descr="/home/amma/LLM-TIME/diab llm paper presention/diabllm_deck/assets/ceg-timellm.png">    </p:cNvPr>
          <p:cNvPicPr>
            <a:picLocks noChangeAspect="1"/>
          </p:cNvPicPr>
          <p:nvPr/>
        </p:nvPicPr>
        <p:blipFill>
          <a:blip r:embed="rId1"/>
          <a:stretch>
            <a:fillRect/>
          </a:stretch>
        </p:blipFill>
        <p:spPr>
          <a:xfrm>
            <a:off x="868680" y="3154680"/>
            <a:ext cx="2560320" cy="2450592"/>
          </a:xfrm>
          <a:prstGeom prst="rect">
            <a:avLst/>
          </a:prstGeom>
        </p:spPr>
      </p:pic>
      <p:pic>
        <p:nvPicPr>
          <p:cNvPr id="21" name="Image 1" descr="/home/amma/LLM-TIME/diab llm paper presention/diabllm_deck/assets/ceg-chronos.png">    </p:cNvPr>
          <p:cNvPicPr>
            <a:picLocks noChangeAspect="1"/>
          </p:cNvPicPr>
          <p:nvPr/>
        </p:nvPicPr>
        <p:blipFill>
          <a:blip r:embed="rId2"/>
          <a:stretch>
            <a:fillRect/>
          </a:stretch>
        </p:blipFill>
        <p:spPr>
          <a:xfrm>
            <a:off x="3493008" y="3154680"/>
            <a:ext cx="2560320" cy="2450592"/>
          </a:xfrm>
          <a:prstGeom prst="rect">
            <a:avLst/>
          </a:prstGeom>
        </p:spPr>
      </p:pic>
      <p:pic>
        <p:nvPicPr>
          <p:cNvPr id="22" name="Image 2" descr="/home/amma/LLM-TIME/diab llm paper presention/diabllm_deck/assets/seg-timellm.png">    </p:cNvPr>
          <p:cNvPicPr>
            <a:picLocks noChangeAspect="1"/>
          </p:cNvPicPr>
          <p:nvPr/>
        </p:nvPicPr>
        <p:blipFill>
          <a:blip r:embed="rId3"/>
          <a:stretch>
            <a:fillRect/>
          </a:stretch>
        </p:blipFill>
        <p:spPr>
          <a:xfrm>
            <a:off x="6309360" y="3246120"/>
            <a:ext cx="2560320" cy="1993392"/>
          </a:xfrm>
          <a:prstGeom prst="rect">
            <a:avLst/>
          </a:prstGeom>
        </p:spPr>
      </p:pic>
      <p:pic>
        <p:nvPicPr>
          <p:cNvPr id="23" name="Image 3" descr="/home/amma/LLM-TIME/diab llm paper presention/diabllm_deck/assets/seg-chronos.png">    </p:cNvPr>
          <p:cNvPicPr>
            <a:picLocks noChangeAspect="1"/>
          </p:cNvPicPr>
          <p:nvPr/>
        </p:nvPicPr>
        <p:blipFill>
          <a:blip r:embed="rId4"/>
          <a:stretch>
            <a:fillRect/>
          </a:stretch>
        </p:blipFill>
        <p:spPr>
          <a:xfrm>
            <a:off x="8933688" y="3246120"/>
            <a:ext cx="2560320" cy="1993392"/>
          </a:xfrm>
          <a:prstGeom prst="rect">
            <a:avLst/>
          </a:prstGeom>
        </p:spPr>
      </p:pic>
      <p:sp>
        <p:nvSpPr>
          <p:cNvPr id="24" name="Text 18"/>
          <p:cNvSpPr/>
          <p:nvPr/>
        </p:nvSpPr>
        <p:spPr>
          <a:xfrm>
            <a:off x="1527048" y="5641848"/>
            <a:ext cx="1188720" cy="182880"/>
          </a:xfrm>
          <a:prstGeom prst="rect">
            <a:avLst/>
          </a:prstGeom>
          <a:noFill/>
          <a:ln/>
        </p:spPr>
        <p:txBody>
          <a:bodyPr wrap="square" lIns="0" tIns="0" rIns="0" bIns="0" rtlCol="0" anchor="ctr"/>
          <a:lstStyle/>
          <a:p>
            <a:pPr algn="ctr" indent="0" marL="0">
              <a:buNone/>
            </a:pPr>
            <a:r>
              <a:rPr lang="en-US" sz="950" b="1" dirty="0">
                <a:solidFill>
                  <a:srgbClr val="007C83"/>
                </a:solidFill>
                <a:latin typeface="Arial" pitchFamily="34" charset="0"/>
                <a:ea typeface="Arial" pitchFamily="34" charset="-122"/>
                <a:cs typeface="Arial" pitchFamily="34" charset="-120"/>
              </a:rPr>
              <a:t>Time-LLM</a:t>
            </a:r>
            <a:endParaRPr lang="en-US" sz="950" dirty="0"/>
          </a:p>
        </p:txBody>
      </p:sp>
      <p:sp>
        <p:nvSpPr>
          <p:cNvPr id="25" name="Text 19"/>
          <p:cNvSpPr/>
          <p:nvPr/>
        </p:nvSpPr>
        <p:spPr>
          <a:xfrm>
            <a:off x="4160520" y="5641848"/>
            <a:ext cx="1188720" cy="182880"/>
          </a:xfrm>
          <a:prstGeom prst="rect">
            <a:avLst/>
          </a:prstGeom>
          <a:noFill/>
          <a:ln/>
        </p:spPr>
        <p:txBody>
          <a:bodyPr wrap="square" lIns="0" tIns="0" rIns="0" bIns="0" rtlCol="0" anchor="ctr"/>
          <a:lstStyle/>
          <a:p>
            <a:pPr algn="ctr" indent="0" marL="0">
              <a:buNone/>
            </a:pPr>
            <a:r>
              <a:rPr lang="en-US" sz="950" b="1" dirty="0">
                <a:solidFill>
                  <a:srgbClr val="7E5A87"/>
                </a:solidFill>
                <a:latin typeface="Arial" pitchFamily="34" charset="0"/>
                <a:ea typeface="Arial" pitchFamily="34" charset="-122"/>
                <a:cs typeface="Arial" pitchFamily="34" charset="-120"/>
              </a:rPr>
              <a:t>Chronos</a:t>
            </a:r>
            <a:endParaRPr lang="en-US" sz="950" dirty="0"/>
          </a:p>
        </p:txBody>
      </p:sp>
      <p:sp>
        <p:nvSpPr>
          <p:cNvPr id="26" name="Text 20"/>
          <p:cNvSpPr/>
          <p:nvPr/>
        </p:nvSpPr>
        <p:spPr>
          <a:xfrm>
            <a:off x="6967728" y="5486400"/>
            <a:ext cx="1188720" cy="182880"/>
          </a:xfrm>
          <a:prstGeom prst="rect">
            <a:avLst/>
          </a:prstGeom>
          <a:noFill/>
          <a:ln/>
        </p:spPr>
        <p:txBody>
          <a:bodyPr wrap="square" lIns="0" tIns="0" rIns="0" bIns="0" rtlCol="0" anchor="ctr"/>
          <a:lstStyle/>
          <a:p>
            <a:pPr algn="ctr" indent="0" marL="0">
              <a:buNone/>
            </a:pPr>
            <a:r>
              <a:rPr lang="en-US" sz="950" b="1" dirty="0">
                <a:solidFill>
                  <a:srgbClr val="007C83"/>
                </a:solidFill>
                <a:latin typeface="Arial" pitchFamily="34" charset="0"/>
                <a:ea typeface="Arial" pitchFamily="34" charset="-122"/>
                <a:cs typeface="Arial" pitchFamily="34" charset="-120"/>
              </a:rPr>
              <a:t>Time-LLM</a:t>
            </a:r>
            <a:endParaRPr lang="en-US" sz="950" dirty="0"/>
          </a:p>
        </p:txBody>
      </p:sp>
      <p:sp>
        <p:nvSpPr>
          <p:cNvPr id="27" name="Text 21"/>
          <p:cNvSpPr/>
          <p:nvPr/>
        </p:nvSpPr>
        <p:spPr>
          <a:xfrm>
            <a:off x="9601200" y="5486400"/>
            <a:ext cx="1188720" cy="182880"/>
          </a:xfrm>
          <a:prstGeom prst="rect">
            <a:avLst/>
          </a:prstGeom>
          <a:noFill/>
          <a:ln/>
        </p:spPr>
        <p:txBody>
          <a:bodyPr wrap="square" lIns="0" tIns="0" rIns="0" bIns="0" rtlCol="0" anchor="ctr"/>
          <a:lstStyle/>
          <a:p>
            <a:pPr algn="ctr" indent="0" marL="0">
              <a:buNone/>
            </a:pPr>
            <a:r>
              <a:rPr lang="en-US" sz="950" b="1" dirty="0">
                <a:solidFill>
                  <a:srgbClr val="7E5A87"/>
                </a:solidFill>
                <a:latin typeface="Arial" pitchFamily="34" charset="0"/>
                <a:ea typeface="Arial" pitchFamily="34" charset="-122"/>
                <a:cs typeface="Arial" pitchFamily="34" charset="-120"/>
              </a:rPr>
              <a:t>Chronos</a:t>
            </a:r>
            <a:endParaRPr lang="en-US" sz="950" dirty="0"/>
          </a:p>
        </p:txBody>
      </p:sp>
      <p:sp>
        <p:nvSpPr>
          <p:cNvPr id="28" name="Text 22"/>
          <p:cNvSpPr/>
          <p:nvPr/>
        </p:nvSpPr>
        <p:spPr>
          <a:xfrm>
            <a:off x="548640" y="6236208"/>
            <a:ext cx="10927080" cy="164592"/>
          </a:xfrm>
          <a:prstGeom prst="rect">
            <a:avLst/>
          </a:prstGeom>
          <a:noFill/>
          <a:ln/>
        </p:spPr>
        <p:txBody>
          <a:bodyPr wrap="square" lIns="0" tIns="0" rIns="0" bIns="0" rtlCol="0" anchor="ctr">
            <a:normAutofit/>
          </a:bodyPr>
          <a:lstStyle/>
          <a:p>
            <a:pPr indent="0" marL="0">
              <a:buNone/>
            </a:pPr>
            <a:r>
              <a:rPr lang="en-US" sz="750" i="1" dirty="0">
                <a:solidFill>
                  <a:srgbClr val="66788A"/>
                </a:solidFill>
                <a:latin typeface="Arial" pitchFamily="34" charset="0"/>
                <a:ea typeface="Arial" pitchFamily="34" charset="-122"/>
                <a:cs typeface="Arial" pitchFamily="34" charset="-120"/>
              </a:rPr>
              <a:t>Source: DiabLLM cohort-level CEG and SEG tables and figures, OhioT1DM, 30-minute horizon.</a:t>
            </a:r>
            <a:endParaRPr lang="en-US" sz="750" dirty="0"/>
          </a:p>
        </p:txBody>
      </p:sp>
      <p:sp>
        <p:nvSpPr>
          <p:cNvPr id="25" name="Slide Number Placeholder 0"/>
          <p:cNvSpPr>
            <a:spLocks noGrp="1"/>
          </p:cNvSpPr>
          <p:nvPr>
            <p:ph type="sldNum" sz="quarter" idx="4294967295"/>
          </p:nvPr>
        </p:nvSpPr>
        <p:spPr>
          <a:xfrm>
            <a:off x="11686032" y="20116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20040"/>
            <a:ext cx="4114800" cy="201168"/>
          </a:xfrm>
          <a:prstGeom prst="rect">
            <a:avLst/>
          </a:prstGeom>
          <a:noFill/>
          <a:ln/>
        </p:spPr>
        <p:txBody>
          <a:bodyPr wrap="square" lIns="0" tIns="0" rIns="0" bIns="0" rtlCol="0" anchor="ctr"/>
          <a:lstStyle/>
          <a:p>
            <a:pPr indent="0" marL="0">
              <a:buNone/>
            </a:pPr>
            <a:r>
              <a:rPr lang="en-US" sz="900" b="1" spc="120" kern="0" dirty="0">
                <a:solidFill>
                  <a:srgbClr val="007C83"/>
                </a:solidFill>
                <a:latin typeface="Arial" pitchFamily="34" charset="0"/>
                <a:ea typeface="Arial" pitchFamily="34" charset="-122"/>
                <a:cs typeface="Arial" pitchFamily="34" charset="-120"/>
              </a:rPr>
              <a:t>ROBUSTNESS TO SENSOR IMPERFECTIONS</a:t>
            </a:r>
            <a:endParaRPr lang="en-US" sz="900" dirty="0"/>
          </a:p>
        </p:txBody>
      </p:sp>
      <p:sp>
        <p:nvSpPr>
          <p:cNvPr id="3" name="Text 1"/>
          <p:cNvSpPr/>
          <p:nvPr/>
        </p:nvSpPr>
        <p:spPr>
          <a:xfrm>
            <a:off x="548640" y="594360"/>
            <a:ext cx="10789920" cy="621792"/>
          </a:xfrm>
          <a:prstGeom prst="rect">
            <a:avLst/>
          </a:prstGeom>
          <a:noFill/>
          <a:ln/>
        </p:spPr>
        <p:txBody>
          <a:bodyPr wrap="square" lIns="0" tIns="0" rIns="0" bIns="0" rtlCol="0" anchor="ctr">
            <a:normAutofit/>
          </a:bodyPr>
          <a:lstStyle/>
          <a:p>
            <a:pPr indent="0" marL="0">
              <a:buNone/>
            </a:pPr>
            <a:r>
              <a:rPr lang="en-US" sz="2600" b="1" dirty="0">
                <a:solidFill>
                  <a:srgbClr val="14213D"/>
                </a:solidFill>
                <a:latin typeface="Cambria" pitchFamily="34" charset="0"/>
                <a:ea typeface="Cambria" pitchFamily="34" charset="-122"/>
                <a:cs typeface="Cambria" pitchFamily="34" charset="-120"/>
              </a:rPr>
              <a:t>Denoising recovers much of the accuracy lost to corrupted CGM</a:t>
            </a:r>
            <a:endParaRPr lang="en-US" sz="2600" dirty="0"/>
          </a:p>
        </p:txBody>
      </p:sp>
      <p:graphicFrame>
        <p:nvGraphicFramePr>
          <p:cNvPr id="4" name="Chart 0" descr=""/>
          <p:cNvGraphicFramePr/>
          <p:nvPr/>
        </p:nvGraphicFramePr>
        <p:xfrm>
          <a:off x="658368" y="1417320"/>
          <a:ext cx="6583680" cy="4343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71232" y="1508760"/>
            <a:ext cx="3886200" cy="4114800"/>
          </a:xfrm>
          <a:prstGeom prst="roundRect">
            <a:avLst>
              <a:gd name="adj" fmla="val 1882"/>
            </a:avLst>
          </a:prstGeom>
          <a:solidFill>
            <a:srgbClr val="FFFFFF"/>
          </a:solidFill>
          <a:ln w="12700">
            <a:solidFill>
              <a:srgbClr val="D7E1E7"/>
            </a:solidFill>
            <a:prstDash val="solid"/>
          </a:ln>
          <a:effectLst>
            <a:outerShdw sx="100000" sy="100000" kx="0" ky="0" algn="bl" rotWithShape="0" blurRad="19050" dist="50800" dir="2700000">
              <a:srgbClr val="000000">
                <a:alpha val="12000"/>
              </a:srgbClr>
            </a:outerShdw>
          </a:effectLst>
        </p:spPr>
      </p:sp>
      <p:sp>
        <p:nvSpPr>
          <p:cNvPr id="6" name="Text 3"/>
          <p:cNvSpPr/>
          <p:nvPr/>
        </p:nvSpPr>
        <p:spPr>
          <a:xfrm>
            <a:off x="7882128" y="1847088"/>
            <a:ext cx="2286000" cy="320040"/>
          </a:xfrm>
          <a:prstGeom prst="rect">
            <a:avLst/>
          </a:prstGeom>
          <a:noFill/>
          <a:ln/>
        </p:spPr>
        <p:txBody>
          <a:bodyPr wrap="square" lIns="0" tIns="0" rIns="0" bIns="0" rtlCol="0" anchor="ctr"/>
          <a:lstStyle/>
          <a:p>
            <a:pPr indent="0" marL="0">
              <a:buNone/>
            </a:pPr>
            <a:r>
              <a:rPr lang="en-US" sz="1900" b="1" dirty="0">
                <a:solidFill>
                  <a:srgbClr val="14213D"/>
                </a:solidFill>
                <a:latin typeface="Cambria" pitchFamily="34" charset="0"/>
                <a:ea typeface="Cambria" pitchFamily="34" charset="-122"/>
                <a:cs typeface="Cambria" pitchFamily="34" charset="-120"/>
              </a:rPr>
              <a:t>Corruption model</a:t>
            </a:r>
            <a:endParaRPr lang="en-US" sz="1900" dirty="0"/>
          </a:p>
        </p:txBody>
      </p:sp>
      <p:sp>
        <p:nvSpPr>
          <p:cNvPr id="7" name="Shape 4"/>
          <p:cNvSpPr/>
          <p:nvPr/>
        </p:nvSpPr>
        <p:spPr>
          <a:xfrm>
            <a:off x="7882128" y="2423160"/>
            <a:ext cx="1417320" cy="384048"/>
          </a:xfrm>
          <a:prstGeom prst="roundRect">
            <a:avLst>
              <a:gd name="adj" fmla="val 19048"/>
            </a:avLst>
          </a:prstGeom>
          <a:solidFill>
            <a:srgbClr val="DCEFF4"/>
          </a:solidFill>
          <a:ln w="12700">
            <a:solidFill>
              <a:srgbClr val="DCEFF4"/>
            </a:solidFill>
            <a:prstDash val="solid"/>
          </a:ln>
        </p:spPr>
      </p:sp>
      <p:sp>
        <p:nvSpPr>
          <p:cNvPr id="8" name="Text 5"/>
          <p:cNvSpPr/>
          <p:nvPr/>
        </p:nvSpPr>
        <p:spPr>
          <a:xfrm>
            <a:off x="7882128" y="2496312"/>
            <a:ext cx="1417320" cy="164592"/>
          </a:xfrm>
          <a:prstGeom prst="rect">
            <a:avLst/>
          </a:prstGeom>
          <a:noFill/>
          <a:ln/>
        </p:spPr>
        <p:txBody>
          <a:bodyPr wrap="square" lIns="0" tIns="0" rIns="0" bIns="0" rtlCol="0" anchor="ctr">
            <a:normAutofit/>
          </a:bodyPr>
          <a:lstStyle/>
          <a:p>
            <a:pPr algn="ctr" indent="0" marL="0">
              <a:buNone/>
            </a:pPr>
            <a:r>
              <a:rPr lang="en-US" sz="1000" b="1" dirty="0">
                <a:solidFill>
                  <a:srgbClr val="14213D"/>
                </a:solidFill>
                <a:latin typeface="Arial" pitchFamily="34" charset="0"/>
                <a:ea typeface="Arial" pitchFamily="34" charset="-122"/>
                <a:cs typeface="Arial" pitchFamily="34" charset="-120"/>
              </a:rPr>
              <a:t>gain + offset</a:t>
            </a:r>
            <a:endParaRPr lang="en-US" sz="1000" dirty="0"/>
          </a:p>
        </p:txBody>
      </p:sp>
      <p:sp>
        <p:nvSpPr>
          <p:cNvPr id="9" name="Text 6"/>
          <p:cNvSpPr/>
          <p:nvPr/>
        </p:nvSpPr>
        <p:spPr>
          <a:xfrm>
            <a:off x="9464040" y="2523744"/>
            <a:ext cx="1600200" cy="164592"/>
          </a:xfrm>
          <a:prstGeom prst="rect">
            <a:avLst/>
          </a:prstGeom>
          <a:noFill/>
          <a:ln/>
        </p:spPr>
        <p:txBody>
          <a:bodyPr wrap="square" lIns="0" tIns="0" rIns="0" bIns="0" rtlCol="0" anchor="ctr">
            <a:normAutofit/>
          </a:bodyPr>
          <a:lstStyle/>
          <a:p>
            <a:pPr indent="0" marL="0">
              <a:buNone/>
            </a:pPr>
            <a:r>
              <a:rPr lang="en-US" sz="950" dirty="0">
                <a:solidFill>
                  <a:srgbClr val="526477"/>
                </a:solidFill>
                <a:latin typeface="Arial" pitchFamily="34" charset="0"/>
                <a:ea typeface="Arial" pitchFamily="34" charset="-122"/>
                <a:cs typeface="Arial" pitchFamily="34" charset="-120"/>
              </a:rPr>
              <a:t>calibration bias</a:t>
            </a:r>
            <a:endParaRPr lang="en-US" sz="950" dirty="0"/>
          </a:p>
        </p:txBody>
      </p:sp>
      <p:sp>
        <p:nvSpPr>
          <p:cNvPr id="10" name="Shape 7"/>
          <p:cNvSpPr/>
          <p:nvPr/>
        </p:nvSpPr>
        <p:spPr>
          <a:xfrm>
            <a:off x="7882128" y="3182112"/>
            <a:ext cx="1417320" cy="384048"/>
          </a:xfrm>
          <a:prstGeom prst="roundRect">
            <a:avLst>
              <a:gd name="adj" fmla="val 19048"/>
            </a:avLst>
          </a:prstGeom>
          <a:solidFill>
            <a:srgbClr val="FBE8E3"/>
          </a:solidFill>
          <a:ln w="12700">
            <a:solidFill>
              <a:srgbClr val="FBE8E3"/>
            </a:solidFill>
            <a:prstDash val="solid"/>
          </a:ln>
        </p:spPr>
      </p:sp>
      <p:sp>
        <p:nvSpPr>
          <p:cNvPr id="11" name="Text 8"/>
          <p:cNvSpPr/>
          <p:nvPr/>
        </p:nvSpPr>
        <p:spPr>
          <a:xfrm>
            <a:off x="7882128" y="3255264"/>
            <a:ext cx="1417320" cy="164592"/>
          </a:xfrm>
          <a:prstGeom prst="rect">
            <a:avLst/>
          </a:prstGeom>
          <a:noFill/>
          <a:ln/>
        </p:spPr>
        <p:txBody>
          <a:bodyPr wrap="square" lIns="0" tIns="0" rIns="0" bIns="0" rtlCol="0" anchor="ctr">
            <a:normAutofit/>
          </a:bodyPr>
          <a:lstStyle/>
          <a:p>
            <a:pPr algn="ctr" indent="0" marL="0">
              <a:buNone/>
            </a:pPr>
            <a:r>
              <a:rPr lang="en-US" sz="1000" b="1" dirty="0">
                <a:solidFill>
                  <a:srgbClr val="14213D"/>
                </a:solidFill>
                <a:latin typeface="Arial" pitchFamily="34" charset="0"/>
                <a:ea typeface="Arial" pitchFamily="34" charset="-122"/>
                <a:cs typeface="Arial" pitchFamily="34" charset="-120"/>
              </a:rPr>
              <a:t>AR(1) noise</a:t>
            </a:r>
            <a:endParaRPr lang="en-US" sz="1000" dirty="0"/>
          </a:p>
        </p:txBody>
      </p:sp>
      <p:sp>
        <p:nvSpPr>
          <p:cNvPr id="12" name="Text 9"/>
          <p:cNvSpPr/>
          <p:nvPr/>
        </p:nvSpPr>
        <p:spPr>
          <a:xfrm>
            <a:off x="9464040" y="3282696"/>
            <a:ext cx="1600200" cy="164592"/>
          </a:xfrm>
          <a:prstGeom prst="rect">
            <a:avLst/>
          </a:prstGeom>
          <a:noFill/>
          <a:ln/>
        </p:spPr>
        <p:txBody>
          <a:bodyPr wrap="square" lIns="0" tIns="0" rIns="0" bIns="0" rtlCol="0" anchor="ctr">
            <a:normAutofit/>
          </a:bodyPr>
          <a:lstStyle/>
          <a:p>
            <a:pPr indent="0" marL="0">
              <a:buNone/>
            </a:pPr>
            <a:r>
              <a:rPr lang="en-US" sz="950" dirty="0">
                <a:solidFill>
                  <a:srgbClr val="526477"/>
                </a:solidFill>
                <a:latin typeface="Arial" pitchFamily="34" charset="0"/>
                <a:ea typeface="Arial" pitchFamily="34" charset="-122"/>
                <a:cs typeface="Arial" pitchFamily="34" charset="-120"/>
              </a:rPr>
              <a:t>temporally correlated</a:t>
            </a:r>
            <a:endParaRPr lang="en-US" sz="950" dirty="0"/>
          </a:p>
        </p:txBody>
      </p:sp>
      <p:sp>
        <p:nvSpPr>
          <p:cNvPr id="13" name="Shape 10"/>
          <p:cNvSpPr/>
          <p:nvPr/>
        </p:nvSpPr>
        <p:spPr>
          <a:xfrm>
            <a:off x="7882128" y="3941064"/>
            <a:ext cx="1417320" cy="384048"/>
          </a:xfrm>
          <a:prstGeom prst="roundRect">
            <a:avLst>
              <a:gd name="adj" fmla="val 19048"/>
            </a:avLst>
          </a:prstGeom>
          <a:solidFill>
            <a:srgbClr val="F7EBCB"/>
          </a:solidFill>
          <a:ln w="12700">
            <a:solidFill>
              <a:srgbClr val="F7EBCB"/>
            </a:solidFill>
            <a:prstDash val="solid"/>
          </a:ln>
        </p:spPr>
      </p:sp>
      <p:sp>
        <p:nvSpPr>
          <p:cNvPr id="14" name="Text 11"/>
          <p:cNvSpPr/>
          <p:nvPr/>
        </p:nvSpPr>
        <p:spPr>
          <a:xfrm>
            <a:off x="7882128" y="4014216"/>
            <a:ext cx="1417320" cy="164592"/>
          </a:xfrm>
          <a:prstGeom prst="rect">
            <a:avLst/>
          </a:prstGeom>
          <a:noFill/>
          <a:ln/>
        </p:spPr>
        <p:txBody>
          <a:bodyPr wrap="square" lIns="0" tIns="0" rIns="0" bIns="0" rtlCol="0" anchor="ctr">
            <a:normAutofit/>
          </a:bodyPr>
          <a:lstStyle/>
          <a:p>
            <a:pPr algn="ctr" indent="0" marL="0">
              <a:buNone/>
            </a:pPr>
            <a:r>
              <a:rPr lang="en-US" sz="1000" b="1" dirty="0">
                <a:solidFill>
                  <a:srgbClr val="14213D"/>
                </a:solidFill>
                <a:latin typeface="Arial" pitchFamily="34" charset="0"/>
                <a:ea typeface="Arial" pitchFamily="34" charset="-122"/>
                <a:cs typeface="Arial" pitchFamily="34" charset="-120"/>
              </a:rPr>
              <a:t>dropout blocks</a:t>
            </a:r>
            <a:endParaRPr lang="en-US" sz="1000" dirty="0"/>
          </a:p>
        </p:txBody>
      </p:sp>
      <p:sp>
        <p:nvSpPr>
          <p:cNvPr id="15" name="Text 12"/>
          <p:cNvSpPr/>
          <p:nvPr/>
        </p:nvSpPr>
        <p:spPr>
          <a:xfrm>
            <a:off x="9464040" y="4041648"/>
            <a:ext cx="1600200" cy="164592"/>
          </a:xfrm>
          <a:prstGeom prst="rect">
            <a:avLst/>
          </a:prstGeom>
          <a:noFill/>
          <a:ln/>
        </p:spPr>
        <p:txBody>
          <a:bodyPr wrap="square" lIns="0" tIns="0" rIns="0" bIns="0" rtlCol="0" anchor="ctr">
            <a:normAutofit/>
          </a:bodyPr>
          <a:lstStyle/>
          <a:p>
            <a:pPr indent="0" marL="0">
              <a:buNone/>
            </a:pPr>
            <a:r>
              <a:rPr lang="en-US" sz="950" dirty="0">
                <a:solidFill>
                  <a:srgbClr val="526477"/>
                </a:solidFill>
                <a:latin typeface="Arial" pitchFamily="34" charset="0"/>
                <a:ea typeface="Arial" pitchFamily="34" charset="-122"/>
                <a:cs typeface="Arial" pitchFamily="34" charset="-120"/>
              </a:rPr>
              <a:t>~10% cumulative duration</a:t>
            </a:r>
            <a:endParaRPr lang="en-US" sz="950" dirty="0"/>
          </a:p>
        </p:txBody>
      </p:sp>
      <p:sp>
        <p:nvSpPr>
          <p:cNvPr id="16" name="Text 13"/>
          <p:cNvSpPr/>
          <p:nvPr/>
        </p:nvSpPr>
        <p:spPr>
          <a:xfrm>
            <a:off x="7882128" y="4846320"/>
            <a:ext cx="1645920" cy="228600"/>
          </a:xfrm>
          <a:prstGeom prst="rect">
            <a:avLst/>
          </a:prstGeom>
          <a:noFill/>
          <a:ln/>
        </p:spPr>
        <p:txBody>
          <a:bodyPr wrap="square" lIns="0" tIns="0" rIns="0" bIns="0" rtlCol="0" anchor="ctr"/>
          <a:lstStyle/>
          <a:p>
            <a:pPr indent="0" marL="0">
              <a:buNone/>
            </a:pPr>
            <a:r>
              <a:rPr lang="en-US" sz="1100" b="1" dirty="0">
                <a:solidFill>
                  <a:srgbClr val="007C83"/>
                </a:solidFill>
                <a:latin typeface="Arial" pitchFamily="34" charset="0"/>
                <a:ea typeface="Arial" pitchFamily="34" charset="-122"/>
                <a:cs typeface="Arial" pitchFamily="34" charset="-120"/>
              </a:rPr>
              <a:t>45-minute horizon</a:t>
            </a:r>
            <a:endParaRPr lang="en-US" sz="1100" dirty="0"/>
          </a:p>
        </p:txBody>
      </p:sp>
      <p:sp>
        <p:nvSpPr>
          <p:cNvPr id="17" name="Text 14"/>
          <p:cNvSpPr/>
          <p:nvPr/>
        </p:nvSpPr>
        <p:spPr>
          <a:xfrm>
            <a:off x="7882128" y="5138928"/>
            <a:ext cx="2926080" cy="320040"/>
          </a:xfrm>
          <a:prstGeom prst="rect">
            <a:avLst/>
          </a:prstGeom>
          <a:noFill/>
          <a:ln/>
        </p:spPr>
        <p:txBody>
          <a:bodyPr wrap="square" lIns="0" tIns="0" rIns="0" bIns="0" rtlCol="0" anchor="ctr">
            <a:normAutofit/>
          </a:bodyPr>
          <a:lstStyle/>
          <a:p>
            <a:pPr indent="0" marL="0">
              <a:buNone/>
            </a:pPr>
            <a:r>
              <a:rPr lang="en-US" sz="1050" dirty="0">
                <a:solidFill>
                  <a:srgbClr val="334155"/>
                </a:solidFill>
                <a:latin typeface="Arial" pitchFamily="34" charset="0"/>
                <a:ea typeface="Arial" pitchFamily="34" charset="-122"/>
                <a:cs typeface="Arial" pitchFamily="34" charset="-120"/>
              </a:rPr>
              <a:t>Denoised Time-LLM is ~26% lower RMSE than denoised Chronos.</a:t>
            </a:r>
            <a:endParaRPr lang="en-US" sz="1050" dirty="0"/>
          </a:p>
        </p:txBody>
      </p:sp>
      <p:sp>
        <p:nvSpPr>
          <p:cNvPr id="18" name="Text 15"/>
          <p:cNvSpPr/>
          <p:nvPr/>
        </p:nvSpPr>
        <p:spPr>
          <a:xfrm>
            <a:off x="548640" y="6236208"/>
            <a:ext cx="10927080" cy="164592"/>
          </a:xfrm>
          <a:prstGeom prst="rect">
            <a:avLst/>
          </a:prstGeom>
          <a:noFill/>
          <a:ln/>
        </p:spPr>
        <p:txBody>
          <a:bodyPr wrap="square" lIns="0" tIns="0" rIns="0" bIns="0" rtlCol="0" anchor="ctr">
            <a:normAutofit/>
          </a:bodyPr>
          <a:lstStyle/>
          <a:p>
            <a:pPr indent="0" marL="0">
              <a:buNone/>
            </a:pPr>
            <a:r>
              <a:rPr lang="en-US" sz="750" i="1" dirty="0">
                <a:solidFill>
                  <a:srgbClr val="66788A"/>
                </a:solidFill>
                <a:latin typeface="Arial" pitchFamily="34" charset="0"/>
                <a:ea typeface="Arial" pitchFamily="34" charset="-122"/>
                <a:cs typeface="Arial" pitchFamily="34" charset="-120"/>
              </a:rPr>
              <a:t>Source: DiabLLM robustness table. Cohort averages across 12 OhioT1DM patients; mean RMSE in mg/dL.</a:t>
            </a:r>
            <a:endParaRPr lang="en-US" sz="750" dirty="0"/>
          </a:p>
        </p:txBody>
      </p:sp>
      <p:sp>
        <p:nvSpPr>
          <p:cNvPr id="25" name="Slide Number Placeholder 0"/>
          <p:cNvSpPr>
            <a:spLocks noGrp="1"/>
          </p:cNvSpPr>
          <p:nvPr>
            <p:ph type="sldNum" sz="quarter" idx="4294967295"/>
          </p:nvPr>
        </p:nvSpPr>
        <p:spPr>
          <a:xfrm>
            <a:off x="11686032" y="20116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20040"/>
            <a:ext cx="4114800" cy="201168"/>
          </a:xfrm>
          <a:prstGeom prst="rect">
            <a:avLst/>
          </a:prstGeom>
          <a:noFill/>
          <a:ln/>
        </p:spPr>
        <p:txBody>
          <a:bodyPr wrap="square" lIns="0" tIns="0" rIns="0" bIns="0" rtlCol="0" anchor="ctr"/>
          <a:lstStyle/>
          <a:p>
            <a:pPr indent="0" marL="0">
              <a:buNone/>
            </a:pPr>
            <a:r>
              <a:rPr lang="en-US" sz="900" b="1" spc="120" kern="0" dirty="0">
                <a:solidFill>
                  <a:srgbClr val="007C83"/>
                </a:solidFill>
                <a:latin typeface="Arial" pitchFamily="34" charset="0"/>
                <a:ea typeface="Arial" pitchFamily="34" charset="-122"/>
                <a:cs typeface="Arial" pitchFamily="34" charset="-120"/>
              </a:rPr>
              <a:t>GENERALIZATION ACROSS INDIVIDUALS</a:t>
            </a:r>
            <a:endParaRPr lang="en-US" sz="900" dirty="0"/>
          </a:p>
        </p:txBody>
      </p:sp>
      <p:sp>
        <p:nvSpPr>
          <p:cNvPr id="3" name="Text 1"/>
          <p:cNvSpPr/>
          <p:nvPr/>
        </p:nvSpPr>
        <p:spPr>
          <a:xfrm>
            <a:off x="548640" y="594360"/>
            <a:ext cx="10789920" cy="621792"/>
          </a:xfrm>
          <a:prstGeom prst="rect">
            <a:avLst/>
          </a:prstGeom>
          <a:noFill/>
          <a:ln/>
        </p:spPr>
        <p:txBody>
          <a:bodyPr wrap="square" lIns="0" tIns="0" rIns="0" bIns="0" rtlCol="0" anchor="ctr">
            <a:normAutofit/>
          </a:bodyPr>
          <a:lstStyle/>
          <a:p>
            <a:pPr indent="0" marL="0">
              <a:buNone/>
            </a:pPr>
            <a:r>
              <a:rPr lang="en-US" sz="2600" b="1" dirty="0">
                <a:solidFill>
                  <a:srgbClr val="14213D"/>
                </a:solidFill>
                <a:latin typeface="Cambria" pitchFamily="34" charset="0"/>
                <a:ea typeface="Cambria" pitchFamily="34" charset="-122"/>
                <a:cs typeface="Cambria" pitchFamily="34" charset="-120"/>
              </a:rPr>
              <a:t>Cross-patient transfer shows limited degradation in the tested pairs</a:t>
            </a:r>
            <a:endParaRPr lang="en-US" sz="2600" dirty="0"/>
          </a:p>
        </p:txBody>
      </p:sp>
      <p:graphicFrame>
        <p:nvGraphicFramePr>
          <p:cNvPr id="4" name="Chart 0" descr=""/>
          <p:cNvGraphicFramePr/>
          <p:nvPr/>
        </p:nvGraphicFramePr>
        <p:xfrm>
          <a:off x="658368" y="1417320"/>
          <a:ext cx="7680960" cy="4389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613648" y="1508760"/>
            <a:ext cx="2834640" cy="4069080"/>
          </a:xfrm>
          <a:prstGeom prst="roundRect">
            <a:avLst>
              <a:gd name="adj" fmla="val 2581"/>
            </a:avLst>
          </a:prstGeom>
          <a:solidFill>
            <a:srgbClr val="0B1F33"/>
          </a:solidFill>
          <a:ln w="12700">
            <a:solidFill>
              <a:srgbClr val="0B1F33"/>
            </a:solidFill>
            <a:prstDash val="solid"/>
          </a:ln>
          <a:effectLst>
            <a:outerShdw sx="100000" sy="100000" kx="0" ky="0" algn="bl" rotWithShape="0" blurRad="19050" dist="50800" dir="2700000">
              <a:srgbClr val="000000">
                <a:alpha val="12000"/>
              </a:srgbClr>
            </a:outerShdw>
          </a:effectLst>
        </p:spPr>
      </p:sp>
      <p:sp>
        <p:nvSpPr>
          <p:cNvPr id="6" name="Text 3"/>
          <p:cNvSpPr/>
          <p:nvPr/>
        </p:nvSpPr>
        <p:spPr>
          <a:xfrm>
            <a:off x="8915400" y="1874520"/>
            <a:ext cx="2240280" cy="3200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What transfers?</a:t>
            </a:r>
            <a:endParaRPr lang="en-US" sz="2000" dirty="0"/>
          </a:p>
        </p:txBody>
      </p:sp>
      <p:sp>
        <p:nvSpPr>
          <p:cNvPr id="7" name="Text 4"/>
          <p:cNvSpPr/>
          <p:nvPr/>
        </p:nvSpPr>
        <p:spPr>
          <a:xfrm>
            <a:off x="8961120" y="2560320"/>
            <a:ext cx="2148840" cy="411480"/>
          </a:xfrm>
          <a:prstGeom prst="rect">
            <a:avLst/>
          </a:prstGeom>
          <a:noFill/>
          <a:ln/>
        </p:spPr>
        <p:txBody>
          <a:bodyPr wrap="square" lIns="0" tIns="0" rIns="0" bIns="0" rtlCol="0" anchor="ctr"/>
          <a:lstStyle/>
          <a:p>
            <a:pPr algn="ctr" indent="0" marL="0">
              <a:buNone/>
            </a:pPr>
            <a:r>
              <a:rPr lang="en-US" sz="1300" b="1" dirty="0">
                <a:solidFill>
                  <a:srgbClr val="E9C46A"/>
                </a:solidFill>
                <a:latin typeface="Arial" pitchFamily="34" charset="0"/>
                <a:ea typeface="Arial" pitchFamily="34" charset="-122"/>
                <a:cs typeface="Arial" pitchFamily="34" charset="-120"/>
              </a:rPr>
              <a:t>Temporal glucose patterns</a:t>
            </a:r>
            <a:endParaRPr lang="en-US" sz="1300" dirty="0"/>
          </a:p>
        </p:txBody>
      </p:sp>
      <p:sp>
        <p:nvSpPr>
          <p:cNvPr id="8" name="Text 5"/>
          <p:cNvSpPr/>
          <p:nvPr/>
        </p:nvSpPr>
        <p:spPr>
          <a:xfrm>
            <a:off x="8942832" y="3246120"/>
            <a:ext cx="2176272" cy="685800"/>
          </a:xfrm>
          <a:prstGeom prst="rect">
            <a:avLst/>
          </a:prstGeom>
          <a:noFill/>
          <a:ln/>
        </p:spPr>
        <p:txBody>
          <a:bodyPr wrap="square" lIns="508" tIns="508" rIns="508" bIns="508" rtlCol="0" anchor="ctr">
            <a:normAutofit/>
          </a:bodyPr>
          <a:lstStyle/>
          <a:p>
            <a:pPr algn="ctr" indent="0" marL="0">
              <a:buNone/>
            </a:pPr>
            <a:r>
              <a:rPr lang="en-US" sz="1100" dirty="0">
                <a:solidFill>
                  <a:srgbClr val="FFFFFF"/>
                </a:solidFill>
                <a:latin typeface="Arial" pitchFamily="34" charset="0"/>
                <a:ea typeface="Arial" pitchFamily="34" charset="-122"/>
                <a:cs typeface="Arial" pitchFamily="34" charset="-120"/>
              </a:rPr>
              <a:t>Training on patient 584 slightly improves Chronos performance on patient 570.</a:t>
            </a:r>
            <a:endParaRPr lang="en-US" sz="1100" dirty="0"/>
          </a:p>
        </p:txBody>
      </p:sp>
      <p:sp>
        <p:nvSpPr>
          <p:cNvPr id="9" name="Text 6"/>
          <p:cNvSpPr/>
          <p:nvPr/>
        </p:nvSpPr>
        <p:spPr>
          <a:xfrm>
            <a:off x="9619488" y="4251960"/>
            <a:ext cx="822960" cy="228600"/>
          </a:xfrm>
          <a:prstGeom prst="rect">
            <a:avLst/>
          </a:prstGeom>
          <a:noFill/>
          <a:ln/>
        </p:spPr>
        <p:txBody>
          <a:bodyPr wrap="square" lIns="0" tIns="0" rIns="0" bIns="0" rtlCol="0" anchor="ctr"/>
          <a:lstStyle/>
          <a:p>
            <a:pPr algn="ctr" indent="0" marL="0">
              <a:buNone/>
            </a:pPr>
            <a:r>
              <a:rPr lang="en-US" sz="1000" b="1" dirty="0">
                <a:solidFill>
                  <a:srgbClr val="E76F51"/>
                </a:solidFill>
                <a:latin typeface="Arial" pitchFamily="34" charset="0"/>
                <a:ea typeface="Arial" pitchFamily="34" charset="-122"/>
                <a:cs typeface="Arial" pitchFamily="34" charset="-120"/>
              </a:rPr>
              <a:t>Boundary</a:t>
            </a:r>
            <a:endParaRPr lang="en-US" sz="1000" dirty="0"/>
          </a:p>
        </p:txBody>
      </p:sp>
      <p:sp>
        <p:nvSpPr>
          <p:cNvPr id="10" name="Text 7"/>
          <p:cNvSpPr/>
          <p:nvPr/>
        </p:nvSpPr>
        <p:spPr>
          <a:xfrm>
            <a:off x="8942832" y="4572000"/>
            <a:ext cx="2176272" cy="566928"/>
          </a:xfrm>
          <a:prstGeom prst="rect">
            <a:avLst/>
          </a:prstGeom>
          <a:noFill/>
          <a:ln/>
        </p:spPr>
        <p:txBody>
          <a:bodyPr wrap="square" lIns="508" tIns="508" rIns="508" bIns="508" rtlCol="0" anchor="ctr">
            <a:normAutofit/>
          </a:bodyPr>
          <a:lstStyle/>
          <a:p>
            <a:pPr algn="ctr" indent="0" marL="0">
              <a:buNone/>
            </a:pPr>
            <a:r>
              <a:rPr lang="en-US" sz="1000" dirty="0">
                <a:solidFill>
                  <a:srgbClr val="CAD9E1"/>
                </a:solidFill>
                <a:latin typeface="Arial" pitchFamily="34" charset="0"/>
                <a:ea typeface="Arial" pitchFamily="34" charset="-122"/>
                <a:cs typeface="Arial" pitchFamily="34" charset="-120"/>
              </a:rPr>
              <a:t>Only two patients are used in this transfer matrix; population-level generalization is unresolved.</a:t>
            </a:r>
            <a:endParaRPr lang="en-US" sz="1000" dirty="0"/>
          </a:p>
        </p:txBody>
      </p:sp>
      <p:sp>
        <p:nvSpPr>
          <p:cNvPr id="11" name="Text 8"/>
          <p:cNvSpPr/>
          <p:nvPr/>
        </p:nvSpPr>
        <p:spPr>
          <a:xfrm>
            <a:off x="548640" y="6236208"/>
            <a:ext cx="10927080" cy="164592"/>
          </a:xfrm>
          <a:prstGeom prst="rect">
            <a:avLst/>
          </a:prstGeom>
          <a:noFill/>
          <a:ln/>
        </p:spPr>
        <p:txBody>
          <a:bodyPr wrap="square" lIns="0" tIns="0" rIns="0" bIns="0" rtlCol="0" anchor="ctr">
            <a:normAutofit/>
          </a:bodyPr>
          <a:lstStyle/>
          <a:p>
            <a:pPr indent="0" marL="0">
              <a:buNone/>
            </a:pPr>
            <a:r>
              <a:rPr lang="en-US" sz="750" i="1" dirty="0">
                <a:solidFill>
                  <a:srgbClr val="66788A"/>
                </a:solidFill>
                <a:latin typeface="Arial" pitchFamily="34" charset="0"/>
                <a:ea typeface="Arial" pitchFamily="34" charset="-122"/>
                <a:cs typeface="Arial" pitchFamily="34" charset="-120"/>
              </a:rPr>
              <a:t>Source: DiabLLM cross-patient performance table. Labels are Train ID to Test ID; metric is RMSE in mg/dL.</a:t>
            </a:r>
            <a:endParaRPr lang="en-US" sz="750" dirty="0"/>
          </a:p>
        </p:txBody>
      </p:sp>
      <p:sp>
        <p:nvSpPr>
          <p:cNvPr id="25" name="Slide Number Placeholder 0"/>
          <p:cNvSpPr>
            <a:spLocks noGrp="1"/>
          </p:cNvSpPr>
          <p:nvPr>
            <p:ph type="sldNum" sz="quarter" idx="4294967295"/>
          </p:nvPr>
        </p:nvSpPr>
        <p:spPr>
          <a:xfrm>
            <a:off x="11686032" y="20116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20040"/>
            <a:ext cx="4114800" cy="201168"/>
          </a:xfrm>
          <a:prstGeom prst="rect">
            <a:avLst/>
          </a:prstGeom>
          <a:noFill/>
          <a:ln/>
        </p:spPr>
        <p:txBody>
          <a:bodyPr wrap="square" lIns="0" tIns="0" rIns="0" bIns="0" rtlCol="0" anchor="ctr"/>
          <a:lstStyle/>
          <a:p>
            <a:pPr indent="0" marL="0">
              <a:buNone/>
            </a:pPr>
            <a:r>
              <a:rPr lang="en-US" sz="900" b="1" spc="120" kern="0" dirty="0">
                <a:solidFill>
                  <a:srgbClr val="007C83"/>
                </a:solidFill>
                <a:latin typeface="Arial" pitchFamily="34" charset="0"/>
                <a:ea typeface="Arial" pitchFamily="34" charset="-122"/>
                <a:cs typeface="Arial" pitchFamily="34" charset="-120"/>
              </a:rPr>
              <a:t>KNOWLEDGE DISTILLATION</a:t>
            </a:r>
            <a:endParaRPr lang="en-US" sz="900" dirty="0"/>
          </a:p>
        </p:txBody>
      </p:sp>
      <p:sp>
        <p:nvSpPr>
          <p:cNvPr id="3" name="Text 1"/>
          <p:cNvSpPr/>
          <p:nvPr/>
        </p:nvSpPr>
        <p:spPr>
          <a:xfrm>
            <a:off x="548640" y="594360"/>
            <a:ext cx="10789920" cy="621792"/>
          </a:xfrm>
          <a:prstGeom prst="rect">
            <a:avLst/>
          </a:prstGeom>
          <a:noFill/>
          <a:ln/>
        </p:spPr>
        <p:txBody>
          <a:bodyPr wrap="square" lIns="0" tIns="0" rIns="0" bIns="0" rtlCol="0" anchor="ctr">
            <a:normAutofit/>
          </a:bodyPr>
          <a:lstStyle/>
          <a:p>
            <a:pPr indent="0" marL="0">
              <a:buNone/>
            </a:pPr>
            <a:r>
              <a:rPr lang="en-US" sz="2600" b="1" dirty="0">
                <a:solidFill>
                  <a:srgbClr val="14213D"/>
                </a:solidFill>
                <a:latin typeface="Cambria" pitchFamily="34" charset="0"/>
                <a:ea typeface="Cambria" pitchFamily="34" charset="-122"/>
                <a:cs typeface="Cambria" pitchFamily="34" charset="-120"/>
              </a:rPr>
              <a:t>Distillation preserves BERT-level accuracy with a 45M-parameter student</a:t>
            </a:r>
            <a:endParaRPr lang="en-US" sz="2600" dirty="0"/>
          </a:p>
        </p:txBody>
      </p:sp>
      <p:sp>
        <p:nvSpPr>
          <p:cNvPr id="4" name="Shape 2"/>
          <p:cNvSpPr/>
          <p:nvPr/>
        </p:nvSpPr>
        <p:spPr>
          <a:xfrm>
            <a:off x="685800" y="1508760"/>
            <a:ext cx="2880360" cy="3474720"/>
          </a:xfrm>
          <a:prstGeom prst="roundRect">
            <a:avLst>
              <a:gd name="adj" fmla="val 2540"/>
            </a:avLst>
          </a:prstGeom>
          <a:solidFill>
            <a:srgbClr val="0B1F33"/>
          </a:solidFill>
          <a:ln w="12700">
            <a:solidFill>
              <a:srgbClr val="0B1F33"/>
            </a:solidFill>
            <a:prstDash val="solid"/>
          </a:ln>
          <a:effectLst>
            <a:outerShdw sx="100000" sy="100000" kx="0" ky="0" algn="bl" rotWithShape="0" blurRad="19050" dist="50800" dir="2700000">
              <a:srgbClr val="000000">
                <a:alpha val="12000"/>
              </a:srgbClr>
            </a:outerShdw>
          </a:effectLst>
        </p:spPr>
      </p:sp>
      <p:sp>
        <p:nvSpPr>
          <p:cNvPr id="5" name="Text 3"/>
          <p:cNvSpPr/>
          <p:nvPr/>
        </p:nvSpPr>
        <p:spPr>
          <a:xfrm>
            <a:off x="1051560" y="1828800"/>
            <a:ext cx="2148840" cy="228600"/>
          </a:xfrm>
          <a:prstGeom prst="rect">
            <a:avLst/>
          </a:prstGeom>
          <a:noFill/>
          <a:ln/>
        </p:spPr>
        <p:txBody>
          <a:bodyPr wrap="square" lIns="0" tIns="0" rIns="0" bIns="0" rtlCol="0" anchor="ctr"/>
          <a:lstStyle/>
          <a:p>
            <a:pPr algn="ctr" indent="0" marL="0">
              <a:buNone/>
            </a:pPr>
            <a:r>
              <a:rPr lang="en-US" sz="1000" b="1" spc="100" kern="0" dirty="0">
                <a:solidFill>
                  <a:srgbClr val="E9C46A"/>
                </a:solidFill>
                <a:latin typeface="Arial" pitchFamily="34" charset="0"/>
                <a:ea typeface="Arial" pitchFamily="34" charset="-122"/>
                <a:cs typeface="Arial" pitchFamily="34" charset="-120"/>
              </a:rPr>
              <a:t>TEACHER</a:t>
            </a:r>
            <a:endParaRPr lang="en-US" sz="1000" dirty="0"/>
          </a:p>
        </p:txBody>
      </p:sp>
      <p:sp>
        <p:nvSpPr>
          <p:cNvPr id="6" name="Text 4"/>
          <p:cNvSpPr/>
          <p:nvPr/>
        </p:nvSpPr>
        <p:spPr>
          <a:xfrm>
            <a:off x="987552" y="2331720"/>
            <a:ext cx="2286000" cy="777240"/>
          </a:xfrm>
          <a:prstGeom prst="rect">
            <a:avLst/>
          </a:prstGeom>
          <a:noFill/>
          <a:ln/>
        </p:spPr>
        <p:txBody>
          <a:bodyPr wrap="square" lIns="0" tIns="0" rIns="0" bIns="0"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Time-LLM</a:t>
            </a:r>
            <a:endParaRPr lang="en-US" sz="2700" dirty="0"/>
          </a:p>
          <a:p>
            <a:pPr algn="ctr" indent="0" marL="0">
              <a:buNone/>
            </a:pPr>
            <a:r>
              <a:rPr lang="en-US" sz="2700" b="1" dirty="0">
                <a:solidFill>
                  <a:srgbClr val="FFFFFF"/>
                </a:solidFill>
                <a:latin typeface="Cambria" pitchFamily="34" charset="0"/>
                <a:ea typeface="Cambria" pitchFamily="34" charset="-122"/>
                <a:cs typeface="Cambria" pitchFamily="34" charset="-120"/>
              </a:rPr>
              <a:t>BERT</a:t>
            </a:r>
            <a:endParaRPr lang="en-US" sz="2700" dirty="0"/>
          </a:p>
        </p:txBody>
      </p:sp>
      <p:sp>
        <p:nvSpPr>
          <p:cNvPr id="7" name="Text 5"/>
          <p:cNvSpPr/>
          <p:nvPr/>
        </p:nvSpPr>
        <p:spPr>
          <a:xfrm>
            <a:off x="987552" y="3337560"/>
            <a:ext cx="2286000" cy="256032"/>
          </a:xfrm>
          <a:prstGeom prst="rect">
            <a:avLst/>
          </a:prstGeom>
          <a:noFill/>
          <a:ln/>
        </p:spPr>
        <p:txBody>
          <a:bodyPr wrap="square" lIns="0" tIns="0" rIns="0" bIns="0" rtlCol="0" anchor="ctr"/>
          <a:lstStyle/>
          <a:p>
            <a:pPr algn="ctr" indent="0" marL="0">
              <a:buNone/>
            </a:pPr>
            <a:r>
              <a:rPr lang="en-US" sz="1050" dirty="0">
                <a:solidFill>
                  <a:srgbClr val="BCD0DA"/>
                </a:solidFill>
                <a:latin typeface="Arial" pitchFamily="34" charset="0"/>
                <a:ea typeface="Arial" pitchFamily="34" charset="-122"/>
                <a:cs typeface="Arial" pitchFamily="34" charset="-120"/>
              </a:rPr>
              <a:t>12 layers  •  768 dimensions</a:t>
            </a:r>
            <a:endParaRPr lang="en-US" sz="1050" dirty="0"/>
          </a:p>
        </p:txBody>
      </p:sp>
      <p:sp>
        <p:nvSpPr>
          <p:cNvPr id="8" name="Text 6"/>
          <p:cNvSpPr/>
          <p:nvPr/>
        </p:nvSpPr>
        <p:spPr>
          <a:xfrm>
            <a:off x="1051560" y="4069080"/>
            <a:ext cx="2148840" cy="320040"/>
          </a:xfrm>
          <a:prstGeom prst="rect">
            <a:avLst/>
          </a:prstGeom>
          <a:noFill/>
          <a:ln/>
        </p:spPr>
        <p:txBody>
          <a:bodyPr wrap="square" lIns="0" tIns="0" rIns="0" bIns="0" rtlCol="0" anchor="ctr"/>
          <a:lstStyle/>
          <a:p>
            <a:pPr algn="ctr" indent="0" marL="0">
              <a:buNone/>
            </a:pPr>
            <a:r>
              <a:rPr lang="en-US" sz="2000" b="1" dirty="0">
                <a:solidFill>
                  <a:srgbClr val="E9C46A"/>
                </a:solidFill>
                <a:latin typeface="Cambria" pitchFamily="34" charset="0"/>
                <a:ea typeface="Cambria" pitchFamily="34" charset="-122"/>
                <a:cs typeface="Cambria" pitchFamily="34" charset="-120"/>
              </a:rPr>
              <a:t>RMSE 20.967</a:t>
            </a:r>
            <a:endParaRPr lang="en-US" sz="2000" dirty="0"/>
          </a:p>
        </p:txBody>
      </p:sp>
      <p:sp>
        <p:nvSpPr>
          <p:cNvPr id="9" name="Shape 7"/>
          <p:cNvSpPr/>
          <p:nvPr/>
        </p:nvSpPr>
        <p:spPr>
          <a:xfrm>
            <a:off x="3858768" y="2880360"/>
            <a:ext cx="960120" cy="365760"/>
          </a:xfrm>
          <a:prstGeom prst="chevron">
            <a:avLst/>
          </a:prstGeom>
          <a:solidFill>
            <a:srgbClr val="E76F51"/>
          </a:solidFill>
          <a:ln w="12700">
            <a:solidFill>
              <a:srgbClr val="E76F51"/>
            </a:solidFill>
            <a:prstDash val="solid"/>
          </a:ln>
        </p:spPr>
      </p:sp>
      <p:sp>
        <p:nvSpPr>
          <p:cNvPr id="10" name="Text 8"/>
          <p:cNvSpPr/>
          <p:nvPr/>
        </p:nvSpPr>
        <p:spPr>
          <a:xfrm>
            <a:off x="3547872" y="3456432"/>
            <a:ext cx="1554480" cy="384048"/>
          </a:xfrm>
          <a:prstGeom prst="rect">
            <a:avLst/>
          </a:prstGeom>
          <a:noFill/>
          <a:ln/>
        </p:spPr>
        <p:txBody>
          <a:bodyPr wrap="square" lIns="0" tIns="0" rIns="0" bIns="0" rtlCol="0" anchor="ctr">
            <a:normAutofit/>
          </a:bodyPr>
          <a:lstStyle/>
          <a:p>
            <a:pPr algn="ctr" indent="0" marL="0">
              <a:buNone/>
            </a:pPr>
            <a:r>
              <a:rPr lang="en-US" sz="950" dirty="0">
                <a:solidFill>
                  <a:srgbClr val="526477"/>
                </a:solidFill>
                <a:latin typeface="Arial" pitchFamily="34" charset="0"/>
                <a:ea typeface="Arial" pitchFamily="34" charset="-122"/>
                <a:cs typeface="Arial" pitchFamily="34" charset="-120"/>
              </a:rPr>
              <a:t>ground truth + teacher alignment</a:t>
            </a:r>
            <a:endParaRPr lang="en-US" sz="950" dirty="0"/>
          </a:p>
        </p:txBody>
      </p:sp>
      <p:sp>
        <p:nvSpPr>
          <p:cNvPr id="11" name="Shape 9"/>
          <p:cNvSpPr/>
          <p:nvPr/>
        </p:nvSpPr>
        <p:spPr>
          <a:xfrm>
            <a:off x="5120640" y="1508760"/>
            <a:ext cx="2880360" cy="3474720"/>
          </a:xfrm>
          <a:prstGeom prst="roundRect">
            <a:avLst>
              <a:gd name="adj" fmla="val 2540"/>
            </a:avLst>
          </a:prstGeom>
          <a:solidFill>
            <a:srgbClr val="FFFFFF"/>
          </a:solidFill>
          <a:ln w="25400">
            <a:solidFill>
              <a:srgbClr val="A6D3C7"/>
            </a:solidFill>
            <a:prstDash val="solid"/>
          </a:ln>
          <a:effectLst>
            <a:outerShdw sx="100000" sy="100000" kx="0" ky="0" algn="bl" rotWithShape="0" blurRad="19050" dist="50800" dir="2700000">
              <a:srgbClr val="000000">
                <a:alpha val="12000"/>
              </a:srgbClr>
            </a:outerShdw>
          </a:effectLst>
        </p:spPr>
      </p:sp>
      <p:sp>
        <p:nvSpPr>
          <p:cNvPr id="12" name="Text 10"/>
          <p:cNvSpPr/>
          <p:nvPr/>
        </p:nvSpPr>
        <p:spPr>
          <a:xfrm>
            <a:off x="5486400" y="1828800"/>
            <a:ext cx="2148840" cy="228600"/>
          </a:xfrm>
          <a:prstGeom prst="rect">
            <a:avLst/>
          </a:prstGeom>
          <a:noFill/>
          <a:ln/>
        </p:spPr>
        <p:txBody>
          <a:bodyPr wrap="square" lIns="0" tIns="0" rIns="0" bIns="0" rtlCol="0" anchor="ctr"/>
          <a:lstStyle/>
          <a:p>
            <a:pPr algn="ctr" indent="0" marL="0">
              <a:buNone/>
            </a:pPr>
            <a:r>
              <a:rPr lang="en-US" sz="1000" b="1" spc="100" kern="0" dirty="0">
                <a:solidFill>
                  <a:srgbClr val="007C83"/>
                </a:solidFill>
                <a:latin typeface="Arial" pitchFamily="34" charset="0"/>
                <a:ea typeface="Arial" pitchFamily="34" charset="-122"/>
                <a:cs typeface="Arial" pitchFamily="34" charset="-120"/>
              </a:rPr>
              <a:t>STUDENT</a:t>
            </a:r>
            <a:endParaRPr lang="en-US" sz="1000" dirty="0"/>
          </a:p>
        </p:txBody>
      </p:sp>
      <p:sp>
        <p:nvSpPr>
          <p:cNvPr id="13" name="Text 11"/>
          <p:cNvSpPr/>
          <p:nvPr/>
        </p:nvSpPr>
        <p:spPr>
          <a:xfrm>
            <a:off x="5422392" y="2331720"/>
            <a:ext cx="2286000" cy="777240"/>
          </a:xfrm>
          <a:prstGeom prst="rect">
            <a:avLst/>
          </a:prstGeom>
          <a:noFill/>
          <a:ln/>
        </p:spPr>
        <p:txBody>
          <a:bodyPr wrap="square" lIns="0" tIns="0" rIns="0" bIns="0" rtlCol="0" anchor="ctr"/>
          <a:lstStyle/>
          <a:p>
            <a:pPr algn="ctr" indent="0" marL="0">
              <a:buNone/>
            </a:pPr>
            <a:r>
              <a:rPr lang="en-US" sz="2700" b="1" dirty="0">
                <a:solidFill>
                  <a:srgbClr val="14213D"/>
                </a:solidFill>
                <a:latin typeface="Cambria" pitchFamily="34" charset="0"/>
                <a:ea typeface="Cambria" pitchFamily="34" charset="-122"/>
                <a:cs typeface="Cambria" pitchFamily="34" charset="-120"/>
              </a:rPr>
              <a:t>Time-LLM</a:t>
            </a:r>
            <a:endParaRPr lang="en-US" sz="2700" dirty="0"/>
          </a:p>
          <a:p>
            <a:pPr algn="ctr" indent="0" marL="0">
              <a:buNone/>
            </a:pPr>
            <a:r>
              <a:rPr lang="en-US" sz="2700" b="1" dirty="0">
                <a:solidFill>
                  <a:srgbClr val="14213D"/>
                </a:solidFill>
                <a:latin typeface="Cambria" pitchFamily="34" charset="0"/>
                <a:ea typeface="Cambria" pitchFamily="34" charset="-122"/>
                <a:cs typeface="Cambria" pitchFamily="34" charset="-120"/>
              </a:rPr>
              <a:t>TinyBERT</a:t>
            </a:r>
            <a:endParaRPr lang="en-US" sz="2700" dirty="0"/>
          </a:p>
        </p:txBody>
      </p:sp>
      <p:sp>
        <p:nvSpPr>
          <p:cNvPr id="14" name="Text 12"/>
          <p:cNvSpPr/>
          <p:nvPr/>
        </p:nvSpPr>
        <p:spPr>
          <a:xfrm>
            <a:off x="5422392" y="3337560"/>
            <a:ext cx="2286000" cy="256032"/>
          </a:xfrm>
          <a:prstGeom prst="rect">
            <a:avLst/>
          </a:prstGeom>
          <a:noFill/>
          <a:ln/>
        </p:spPr>
        <p:txBody>
          <a:bodyPr wrap="square" lIns="0" tIns="0" rIns="0" bIns="0" rtlCol="0" anchor="ctr"/>
          <a:lstStyle/>
          <a:p>
            <a:pPr algn="ctr" indent="0" marL="0">
              <a:buNone/>
            </a:pPr>
            <a:r>
              <a:rPr lang="en-US" sz="1050" dirty="0">
                <a:solidFill>
                  <a:srgbClr val="526477"/>
                </a:solidFill>
                <a:latin typeface="Arial" pitchFamily="34" charset="0"/>
                <a:ea typeface="Arial" pitchFamily="34" charset="-122"/>
                <a:cs typeface="Arial" pitchFamily="34" charset="-120"/>
              </a:rPr>
              <a:t>4 layers  •  312 dimensions</a:t>
            </a:r>
            <a:endParaRPr lang="en-US" sz="1050" dirty="0"/>
          </a:p>
        </p:txBody>
      </p:sp>
      <p:sp>
        <p:nvSpPr>
          <p:cNvPr id="15" name="Text 13"/>
          <p:cNvSpPr/>
          <p:nvPr/>
        </p:nvSpPr>
        <p:spPr>
          <a:xfrm>
            <a:off x="5486400" y="4069080"/>
            <a:ext cx="2148840" cy="320040"/>
          </a:xfrm>
          <a:prstGeom prst="rect">
            <a:avLst/>
          </a:prstGeom>
          <a:noFill/>
          <a:ln/>
        </p:spPr>
        <p:txBody>
          <a:bodyPr wrap="square" lIns="0" tIns="0" rIns="0" bIns="0" rtlCol="0" anchor="ctr"/>
          <a:lstStyle/>
          <a:p>
            <a:pPr algn="ctr" indent="0" marL="0">
              <a:buNone/>
            </a:pPr>
            <a:r>
              <a:rPr lang="en-US" sz="2000" b="1" dirty="0">
                <a:solidFill>
                  <a:srgbClr val="007C83"/>
                </a:solidFill>
                <a:latin typeface="Cambria" pitchFamily="34" charset="0"/>
                <a:ea typeface="Cambria" pitchFamily="34" charset="-122"/>
                <a:cs typeface="Cambria" pitchFamily="34" charset="-120"/>
              </a:rPr>
              <a:t>RMSE 20.953</a:t>
            </a:r>
            <a:endParaRPr lang="en-US" sz="2000" dirty="0"/>
          </a:p>
        </p:txBody>
      </p:sp>
      <p:sp>
        <p:nvSpPr>
          <p:cNvPr id="16" name="Shape 14"/>
          <p:cNvSpPr/>
          <p:nvPr/>
        </p:nvSpPr>
        <p:spPr>
          <a:xfrm>
            <a:off x="8366760" y="1508760"/>
            <a:ext cx="3108960" cy="3474720"/>
          </a:xfrm>
          <a:prstGeom prst="roundRect">
            <a:avLst>
              <a:gd name="adj" fmla="val 2353"/>
            </a:avLst>
          </a:prstGeom>
          <a:solidFill>
            <a:srgbClr val="EAF5F1"/>
          </a:solidFill>
          <a:ln w="12700">
            <a:solidFill>
              <a:srgbClr val="A6D3C7"/>
            </a:solidFill>
            <a:prstDash val="solid"/>
          </a:ln>
          <a:effectLst>
            <a:outerShdw sx="100000" sy="100000" kx="0" ky="0" algn="bl" rotWithShape="0" blurRad="19050" dist="50800" dir="2700000">
              <a:srgbClr val="000000">
                <a:alpha val="12000"/>
              </a:srgbClr>
            </a:outerShdw>
          </a:effectLst>
        </p:spPr>
      </p:sp>
      <p:sp>
        <p:nvSpPr>
          <p:cNvPr id="17" name="Text 15"/>
          <p:cNvSpPr/>
          <p:nvPr/>
        </p:nvSpPr>
        <p:spPr>
          <a:xfrm>
            <a:off x="8732520" y="1874520"/>
            <a:ext cx="2377440" cy="320040"/>
          </a:xfrm>
          <a:prstGeom prst="rect">
            <a:avLst/>
          </a:prstGeom>
          <a:noFill/>
          <a:ln/>
        </p:spPr>
        <p:txBody>
          <a:bodyPr wrap="square" lIns="0" tIns="0" rIns="0" bIns="0" rtlCol="0" anchor="ctr"/>
          <a:lstStyle/>
          <a:p>
            <a:pPr algn="ctr" indent="0" marL="0">
              <a:buNone/>
            </a:pPr>
            <a:r>
              <a:rPr lang="en-US" sz="1900" b="1" dirty="0">
                <a:solidFill>
                  <a:srgbClr val="14213D"/>
                </a:solidFill>
                <a:latin typeface="Cambria" pitchFamily="34" charset="0"/>
                <a:ea typeface="Cambria" pitchFamily="34" charset="-122"/>
                <a:cs typeface="Cambria" pitchFamily="34" charset="-120"/>
              </a:rPr>
              <a:t>Across 12 patients</a:t>
            </a:r>
            <a:endParaRPr lang="en-US" sz="1900" dirty="0"/>
          </a:p>
        </p:txBody>
      </p:sp>
      <p:sp>
        <p:nvSpPr>
          <p:cNvPr id="18" name="Text 16"/>
          <p:cNvSpPr/>
          <p:nvPr/>
        </p:nvSpPr>
        <p:spPr>
          <a:xfrm>
            <a:off x="8869680" y="2514600"/>
            <a:ext cx="2103120" cy="640080"/>
          </a:xfrm>
          <a:prstGeom prst="rect">
            <a:avLst/>
          </a:prstGeom>
          <a:noFill/>
          <a:ln/>
        </p:spPr>
        <p:txBody>
          <a:bodyPr wrap="square" lIns="0" tIns="0" rIns="0" bIns="0" rtlCol="0" anchor="ctr"/>
          <a:lstStyle/>
          <a:p>
            <a:pPr algn="ctr" indent="0" marL="0">
              <a:buNone/>
            </a:pPr>
            <a:r>
              <a:rPr lang="en-US" sz="3800" b="1" dirty="0">
                <a:solidFill>
                  <a:srgbClr val="007C83"/>
                </a:solidFill>
                <a:latin typeface="Cambria" pitchFamily="34" charset="0"/>
                <a:ea typeface="Cambria" pitchFamily="34" charset="-122"/>
                <a:cs typeface="Cambria" pitchFamily="34" charset="-120"/>
              </a:rPr>
              <a:t>0.014</a:t>
            </a:r>
            <a:endParaRPr lang="en-US" sz="3800" dirty="0"/>
          </a:p>
        </p:txBody>
      </p:sp>
      <p:sp>
        <p:nvSpPr>
          <p:cNvPr id="19" name="Text 17"/>
          <p:cNvSpPr/>
          <p:nvPr/>
        </p:nvSpPr>
        <p:spPr>
          <a:xfrm>
            <a:off x="8823960" y="3182112"/>
            <a:ext cx="2194560" cy="292608"/>
          </a:xfrm>
          <a:prstGeom prst="rect">
            <a:avLst/>
          </a:prstGeom>
          <a:noFill/>
          <a:ln/>
        </p:spPr>
        <p:txBody>
          <a:bodyPr wrap="square" lIns="0" tIns="0" rIns="0" bIns="0" rtlCol="0" anchor="ctr"/>
          <a:lstStyle/>
          <a:p>
            <a:pPr algn="ctr" indent="0" marL="0">
              <a:buNone/>
            </a:pPr>
            <a:r>
              <a:rPr lang="en-US" sz="1100" b="1" dirty="0">
                <a:solidFill>
                  <a:srgbClr val="14213D"/>
                </a:solidFill>
                <a:latin typeface="Arial" pitchFamily="34" charset="0"/>
                <a:ea typeface="Arial" pitchFamily="34" charset="-122"/>
                <a:cs typeface="Arial" pitchFamily="34" charset="-120"/>
              </a:rPr>
              <a:t>mg/dL lower average RMSE</a:t>
            </a:r>
            <a:endParaRPr lang="en-US" sz="1100" dirty="0"/>
          </a:p>
        </p:txBody>
      </p:sp>
      <p:sp>
        <p:nvSpPr>
          <p:cNvPr id="20" name="Text 18"/>
          <p:cNvSpPr/>
          <p:nvPr/>
        </p:nvSpPr>
        <p:spPr>
          <a:xfrm>
            <a:off x="8732520" y="3886200"/>
            <a:ext cx="2377440" cy="594360"/>
          </a:xfrm>
          <a:prstGeom prst="rect">
            <a:avLst/>
          </a:prstGeom>
          <a:noFill/>
          <a:ln/>
        </p:spPr>
        <p:txBody>
          <a:bodyPr wrap="square" lIns="508" tIns="508" rIns="508" bIns="508" rtlCol="0" anchor="ctr">
            <a:normAutofit/>
          </a:bodyPr>
          <a:lstStyle/>
          <a:p>
            <a:pPr algn="ctr" indent="0" marL="0">
              <a:buNone/>
            </a:pPr>
            <a:r>
              <a:rPr lang="en-US" sz="1050" dirty="0">
                <a:solidFill>
                  <a:srgbClr val="526477"/>
                </a:solidFill>
                <a:latin typeface="Arial" pitchFamily="34" charset="0"/>
                <a:ea typeface="Arial" pitchFamily="34" charset="-122"/>
                <a:cs typeface="Arial" pitchFamily="34" charset="-120"/>
              </a:rPr>
              <a:t>No significance claim; predictive performance is effectively matched at the reported precision.</a:t>
            </a:r>
            <a:endParaRPr lang="en-US" sz="1050" dirty="0"/>
          </a:p>
        </p:txBody>
      </p:sp>
      <p:sp>
        <p:nvSpPr>
          <p:cNvPr id="21" name="Text 19"/>
          <p:cNvSpPr/>
          <p:nvPr/>
        </p:nvSpPr>
        <p:spPr>
          <a:xfrm>
            <a:off x="3063240" y="5413248"/>
            <a:ext cx="6126480" cy="365760"/>
          </a:xfrm>
          <a:prstGeom prst="rect">
            <a:avLst/>
          </a:prstGeom>
          <a:noFill/>
          <a:ln/>
        </p:spPr>
        <p:txBody>
          <a:bodyPr wrap="square" lIns="0" tIns="0" rIns="0" bIns="0" rtlCol="0" anchor="ctr"/>
          <a:lstStyle/>
          <a:p>
            <a:pPr algn="ctr" indent="0" marL="0">
              <a:buNone/>
            </a:pPr>
            <a:r>
              <a:rPr lang="en-US" sz="2000" i="1" dirty="0">
                <a:solidFill>
                  <a:srgbClr val="E76F51"/>
                </a:solidFill>
                <a:latin typeface="Cambria" pitchFamily="34" charset="0"/>
                <a:ea typeface="Cambria" pitchFamily="34" charset="-122"/>
                <a:cs typeface="Cambria" pitchFamily="34" charset="-120"/>
              </a:rPr>
              <a:t>Ldistill = alpha LGT + beta LMSE</a:t>
            </a:r>
            <a:endParaRPr lang="en-US" sz="2000" dirty="0"/>
          </a:p>
        </p:txBody>
      </p:sp>
      <p:sp>
        <p:nvSpPr>
          <p:cNvPr id="22" name="Text 20"/>
          <p:cNvSpPr/>
          <p:nvPr/>
        </p:nvSpPr>
        <p:spPr>
          <a:xfrm>
            <a:off x="548640" y="6236208"/>
            <a:ext cx="10927080" cy="164592"/>
          </a:xfrm>
          <a:prstGeom prst="rect">
            <a:avLst/>
          </a:prstGeom>
          <a:noFill/>
          <a:ln/>
        </p:spPr>
        <p:txBody>
          <a:bodyPr wrap="square" lIns="0" tIns="0" rIns="0" bIns="0" rtlCol="0" anchor="ctr">
            <a:normAutofit/>
          </a:bodyPr>
          <a:lstStyle/>
          <a:p>
            <a:pPr indent="0" marL="0">
              <a:buNone/>
            </a:pPr>
            <a:r>
              <a:rPr lang="en-US" sz="750" i="1" dirty="0">
                <a:solidFill>
                  <a:srgbClr val="66788A"/>
                </a:solidFill>
                <a:latin typeface="Arial" pitchFamily="34" charset="0"/>
                <a:ea typeface="Arial" pitchFamily="34" charset="-122"/>
                <a:cs typeface="Arial" pitchFamily="34" charset="-120"/>
              </a:rPr>
              <a:t>Sources: DiabLLM distillation methodology and 12-patient distillation results table.</a:t>
            </a:r>
            <a:endParaRPr lang="en-US" sz="750" dirty="0"/>
          </a:p>
        </p:txBody>
      </p:sp>
      <p:sp>
        <p:nvSpPr>
          <p:cNvPr id="25" name="Slide Number Placeholder 0"/>
          <p:cNvSpPr>
            <a:spLocks noGrp="1"/>
          </p:cNvSpPr>
          <p:nvPr>
            <p:ph type="sldNum" sz="quarter" idx="4294967295"/>
          </p:nvPr>
        </p:nvSpPr>
        <p:spPr>
          <a:xfrm>
            <a:off x="11686032" y="20116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20040"/>
            <a:ext cx="4114800" cy="201168"/>
          </a:xfrm>
          <a:prstGeom prst="rect">
            <a:avLst/>
          </a:prstGeom>
          <a:noFill/>
          <a:ln/>
        </p:spPr>
        <p:txBody>
          <a:bodyPr wrap="square" lIns="0" tIns="0" rIns="0" bIns="0" rtlCol="0" anchor="ctr"/>
          <a:lstStyle/>
          <a:p>
            <a:pPr indent="0" marL="0">
              <a:buNone/>
            </a:pPr>
            <a:r>
              <a:rPr lang="en-US" sz="900" b="1" spc="120" kern="0" dirty="0">
                <a:solidFill>
                  <a:srgbClr val="007C83"/>
                </a:solidFill>
                <a:latin typeface="Arial" pitchFamily="34" charset="0"/>
                <a:ea typeface="Arial" pitchFamily="34" charset="-122"/>
                <a:cs typeface="Arial" pitchFamily="34" charset="-120"/>
              </a:rPr>
              <a:t>INFERENCE EFFICIENCY</a:t>
            </a:r>
            <a:endParaRPr lang="en-US" sz="900" dirty="0"/>
          </a:p>
        </p:txBody>
      </p:sp>
      <p:sp>
        <p:nvSpPr>
          <p:cNvPr id="3" name="Text 1"/>
          <p:cNvSpPr/>
          <p:nvPr/>
        </p:nvSpPr>
        <p:spPr>
          <a:xfrm>
            <a:off x="548640" y="594360"/>
            <a:ext cx="10789920" cy="621792"/>
          </a:xfrm>
          <a:prstGeom prst="rect">
            <a:avLst/>
          </a:prstGeom>
          <a:noFill/>
          <a:ln/>
        </p:spPr>
        <p:txBody>
          <a:bodyPr wrap="square" lIns="0" tIns="0" rIns="0" bIns="0" rtlCol="0" anchor="ctr">
            <a:normAutofit/>
          </a:bodyPr>
          <a:lstStyle/>
          <a:p>
            <a:pPr indent="0" marL="0">
              <a:buNone/>
            </a:pPr>
            <a:r>
              <a:rPr lang="en-US" sz="2600" b="1" dirty="0">
                <a:solidFill>
                  <a:srgbClr val="14213D"/>
                </a:solidFill>
                <a:latin typeface="Cambria" pitchFamily="34" charset="0"/>
                <a:ea typeface="Cambria" pitchFamily="34" charset="-122"/>
                <a:cs typeface="Cambria" pitchFamily="34" charset="-120"/>
              </a:rPr>
              <a:t>Compression changes the deployment trade-off by orders of magnitude</a:t>
            </a:r>
            <a:endParaRPr lang="en-US" sz="2600" dirty="0"/>
          </a:p>
        </p:txBody>
      </p:sp>
      <p:sp>
        <p:nvSpPr>
          <p:cNvPr id="4" name="Shape 2"/>
          <p:cNvSpPr/>
          <p:nvPr/>
        </p:nvSpPr>
        <p:spPr>
          <a:xfrm>
            <a:off x="713232" y="1508760"/>
            <a:ext cx="3337560" cy="4160520"/>
          </a:xfrm>
          <a:prstGeom prst="roundRect">
            <a:avLst>
              <a:gd name="adj" fmla="val 2192"/>
            </a:avLst>
          </a:prstGeom>
          <a:solidFill>
            <a:srgbClr val="FFFFFF"/>
          </a:solidFill>
          <a:ln w="12700">
            <a:solidFill>
              <a:srgbClr val="D7E1E7"/>
            </a:solidFill>
            <a:prstDash val="solid"/>
          </a:ln>
          <a:effectLst>
            <a:outerShdw sx="100000" sy="100000" kx="0" ky="0" algn="bl" rotWithShape="0" blurRad="19050" dist="50800" dir="2700000">
              <a:srgbClr val="000000">
                <a:alpha val="12000"/>
              </a:srgbClr>
            </a:outerShdw>
          </a:effectLst>
        </p:spPr>
      </p:sp>
      <p:sp>
        <p:nvSpPr>
          <p:cNvPr id="5" name="Text 3"/>
          <p:cNvSpPr/>
          <p:nvPr/>
        </p:nvSpPr>
        <p:spPr>
          <a:xfrm>
            <a:off x="987552" y="1847088"/>
            <a:ext cx="2788920" cy="320040"/>
          </a:xfrm>
          <a:prstGeom prst="rect">
            <a:avLst/>
          </a:prstGeom>
          <a:noFill/>
          <a:ln/>
        </p:spPr>
        <p:txBody>
          <a:bodyPr wrap="square" lIns="0" tIns="0" rIns="0" bIns="0" rtlCol="0" anchor="ctr"/>
          <a:lstStyle/>
          <a:p>
            <a:pPr algn="ctr" indent="0" marL="0">
              <a:buNone/>
            </a:pPr>
            <a:r>
              <a:rPr lang="en-US" sz="2000" b="1" dirty="0">
                <a:solidFill>
                  <a:srgbClr val="14213D"/>
                </a:solidFill>
                <a:latin typeface="Cambria" pitchFamily="34" charset="0"/>
                <a:ea typeface="Cambria" pitchFamily="34" charset="-122"/>
                <a:cs typeface="Cambria" pitchFamily="34" charset="-120"/>
              </a:rPr>
              <a:t>Parameters</a:t>
            </a:r>
            <a:endParaRPr lang="en-US" sz="2000" dirty="0"/>
          </a:p>
        </p:txBody>
      </p:sp>
      <p:sp>
        <p:nvSpPr>
          <p:cNvPr id="6" name="Text 4"/>
          <p:cNvSpPr/>
          <p:nvPr/>
        </p:nvSpPr>
        <p:spPr>
          <a:xfrm>
            <a:off x="1124712" y="2487168"/>
            <a:ext cx="2514600" cy="640080"/>
          </a:xfrm>
          <a:prstGeom prst="rect">
            <a:avLst/>
          </a:prstGeom>
          <a:noFill/>
          <a:ln/>
        </p:spPr>
        <p:txBody>
          <a:bodyPr wrap="square" lIns="0" tIns="0" rIns="0" bIns="0" rtlCol="0" anchor="ctr"/>
          <a:lstStyle/>
          <a:p>
            <a:pPr algn="ctr" indent="0" marL="0">
              <a:buNone/>
            </a:pPr>
            <a:r>
              <a:rPr lang="en-US" sz="3800" b="1" dirty="0">
                <a:solidFill>
                  <a:srgbClr val="007C83"/>
                </a:solidFill>
                <a:latin typeface="Cambria" pitchFamily="34" charset="0"/>
                <a:ea typeface="Cambria" pitchFamily="34" charset="-122"/>
                <a:cs typeface="Cambria" pitchFamily="34" charset="-120"/>
              </a:rPr>
              <a:t>6.3x</a:t>
            </a:r>
            <a:endParaRPr lang="en-US" sz="3800" dirty="0"/>
          </a:p>
        </p:txBody>
      </p:sp>
      <p:sp>
        <p:nvSpPr>
          <p:cNvPr id="7" name="Text 5"/>
          <p:cNvSpPr/>
          <p:nvPr/>
        </p:nvSpPr>
        <p:spPr>
          <a:xfrm>
            <a:off x="1353312" y="3127248"/>
            <a:ext cx="2057400" cy="228600"/>
          </a:xfrm>
          <a:prstGeom prst="rect">
            <a:avLst/>
          </a:prstGeom>
          <a:noFill/>
          <a:ln/>
        </p:spPr>
        <p:txBody>
          <a:bodyPr wrap="square" lIns="0" tIns="0" rIns="0" bIns="0" rtlCol="0" anchor="ctr"/>
          <a:lstStyle/>
          <a:p>
            <a:pPr algn="ctr" indent="0" marL="0">
              <a:buNone/>
            </a:pPr>
            <a:r>
              <a:rPr lang="en-US" sz="1100" b="1" dirty="0">
                <a:solidFill>
                  <a:srgbClr val="14213D"/>
                </a:solidFill>
                <a:latin typeface="Arial" pitchFamily="34" charset="0"/>
                <a:ea typeface="Arial" pitchFamily="34" charset="-122"/>
                <a:cs typeface="Arial" pitchFamily="34" charset="-120"/>
              </a:rPr>
              <a:t>smaller</a:t>
            </a:r>
            <a:endParaRPr lang="en-US" sz="1100" dirty="0"/>
          </a:p>
        </p:txBody>
      </p:sp>
      <p:sp>
        <p:nvSpPr>
          <p:cNvPr id="8" name="Text 6"/>
          <p:cNvSpPr/>
          <p:nvPr/>
        </p:nvSpPr>
        <p:spPr>
          <a:xfrm>
            <a:off x="1124712" y="3822192"/>
            <a:ext cx="2514600" cy="365760"/>
          </a:xfrm>
          <a:prstGeom prst="rect">
            <a:avLst/>
          </a:prstGeom>
          <a:noFill/>
          <a:ln/>
        </p:spPr>
        <p:txBody>
          <a:bodyPr wrap="square" lIns="0" tIns="0" rIns="0" bIns="0" rtlCol="0" anchor="ctr">
            <a:normAutofit/>
          </a:bodyPr>
          <a:lstStyle/>
          <a:p>
            <a:pPr algn="ctr" indent="0" marL="0">
              <a:buNone/>
            </a:pPr>
            <a:r>
              <a:rPr lang="en-US" sz="1100" dirty="0">
                <a:solidFill>
                  <a:srgbClr val="526477"/>
                </a:solidFill>
                <a:latin typeface="Arial" pitchFamily="34" charset="0"/>
                <a:ea typeface="Arial" pitchFamily="34" charset="-122"/>
                <a:cs typeface="Arial" pitchFamily="34" charset="-120"/>
              </a:rPr>
              <a:t>282.4M to 45.0M</a:t>
            </a:r>
            <a:endParaRPr lang="en-US" sz="1100" dirty="0"/>
          </a:p>
        </p:txBody>
      </p:sp>
      <p:sp>
        <p:nvSpPr>
          <p:cNvPr id="9" name="Text 7"/>
          <p:cNvSpPr/>
          <p:nvPr/>
        </p:nvSpPr>
        <p:spPr>
          <a:xfrm>
            <a:off x="1097280" y="4480560"/>
            <a:ext cx="2560320" cy="347472"/>
          </a:xfrm>
          <a:prstGeom prst="rect">
            <a:avLst/>
          </a:prstGeom>
          <a:noFill/>
          <a:ln/>
        </p:spPr>
        <p:txBody>
          <a:bodyPr wrap="square" lIns="0" tIns="0" rIns="0" bIns="0" rtlCol="0" anchor="ctr"/>
          <a:lstStyle/>
          <a:p>
            <a:pPr algn="ctr" indent="0" marL="0">
              <a:buNone/>
            </a:pPr>
            <a:r>
              <a:rPr lang="en-US" sz="950" dirty="0">
                <a:solidFill>
                  <a:srgbClr val="334155"/>
                </a:solidFill>
                <a:latin typeface="Arial" pitchFamily="34" charset="0"/>
                <a:ea typeface="Arial" pitchFamily="34" charset="-122"/>
                <a:cs typeface="Arial" pitchFamily="34" charset="-120"/>
              </a:rPr>
              <a:t>BERT teacher to distilled TinyBERT</a:t>
            </a:r>
            <a:endParaRPr lang="en-US" sz="950" dirty="0"/>
          </a:p>
        </p:txBody>
      </p:sp>
      <p:sp>
        <p:nvSpPr>
          <p:cNvPr id="10" name="Shape 8"/>
          <p:cNvSpPr/>
          <p:nvPr/>
        </p:nvSpPr>
        <p:spPr>
          <a:xfrm>
            <a:off x="4489704" y="1508760"/>
            <a:ext cx="3337560" cy="4160520"/>
          </a:xfrm>
          <a:prstGeom prst="roundRect">
            <a:avLst>
              <a:gd name="adj" fmla="val 2192"/>
            </a:avLst>
          </a:prstGeom>
          <a:solidFill>
            <a:srgbClr val="FFFFFF"/>
          </a:solidFill>
          <a:ln w="12700">
            <a:solidFill>
              <a:srgbClr val="D7E1E7"/>
            </a:solidFill>
            <a:prstDash val="solid"/>
          </a:ln>
          <a:effectLst>
            <a:outerShdw sx="100000" sy="100000" kx="0" ky="0" algn="bl" rotWithShape="0" blurRad="19050" dist="50800" dir="2700000">
              <a:srgbClr val="000000">
                <a:alpha val="12000"/>
              </a:srgbClr>
            </a:outerShdw>
          </a:effectLst>
        </p:spPr>
      </p:sp>
      <p:sp>
        <p:nvSpPr>
          <p:cNvPr id="11" name="Text 9"/>
          <p:cNvSpPr/>
          <p:nvPr/>
        </p:nvSpPr>
        <p:spPr>
          <a:xfrm>
            <a:off x="4764024" y="1847088"/>
            <a:ext cx="2788920" cy="320040"/>
          </a:xfrm>
          <a:prstGeom prst="rect">
            <a:avLst/>
          </a:prstGeom>
          <a:noFill/>
          <a:ln/>
        </p:spPr>
        <p:txBody>
          <a:bodyPr wrap="square" lIns="0" tIns="0" rIns="0" bIns="0" rtlCol="0" anchor="ctr"/>
          <a:lstStyle/>
          <a:p>
            <a:pPr algn="ctr" indent="0" marL="0">
              <a:buNone/>
            </a:pPr>
            <a:r>
              <a:rPr lang="en-US" sz="2000" b="1" dirty="0">
                <a:solidFill>
                  <a:srgbClr val="14213D"/>
                </a:solidFill>
                <a:latin typeface="Cambria" pitchFamily="34" charset="0"/>
                <a:ea typeface="Cambria" pitchFamily="34" charset="-122"/>
                <a:cs typeface="Cambria" pitchFamily="34" charset="-120"/>
              </a:rPr>
              <a:t>Disk size</a:t>
            </a:r>
            <a:endParaRPr lang="en-US" sz="2000" dirty="0"/>
          </a:p>
        </p:txBody>
      </p:sp>
      <p:sp>
        <p:nvSpPr>
          <p:cNvPr id="12" name="Text 10"/>
          <p:cNvSpPr/>
          <p:nvPr/>
        </p:nvSpPr>
        <p:spPr>
          <a:xfrm>
            <a:off x="4901184" y="2487168"/>
            <a:ext cx="2514600" cy="640080"/>
          </a:xfrm>
          <a:prstGeom prst="rect">
            <a:avLst/>
          </a:prstGeom>
          <a:noFill/>
          <a:ln/>
        </p:spPr>
        <p:txBody>
          <a:bodyPr wrap="square" lIns="0" tIns="0" rIns="0" bIns="0" rtlCol="0" anchor="ctr"/>
          <a:lstStyle/>
          <a:p>
            <a:pPr algn="ctr" indent="0" marL="0">
              <a:buNone/>
            </a:pPr>
            <a:r>
              <a:rPr lang="en-US" sz="3800" b="1" dirty="0">
                <a:solidFill>
                  <a:srgbClr val="007C83"/>
                </a:solidFill>
                <a:latin typeface="Cambria" pitchFamily="34" charset="0"/>
                <a:ea typeface="Cambria" pitchFamily="34" charset="-122"/>
                <a:cs typeface="Cambria" pitchFamily="34" charset="-120"/>
              </a:rPr>
              <a:t>6.3x</a:t>
            </a:r>
            <a:endParaRPr lang="en-US" sz="3800" dirty="0"/>
          </a:p>
        </p:txBody>
      </p:sp>
      <p:sp>
        <p:nvSpPr>
          <p:cNvPr id="13" name="Text 11"/>
          <p:cNvSpPr/>
          <p:nvPr/>
        </p:nvSpPr>
        <p:spPr>
          <a:xfrm>
            <a:off x="5129784" y="3127248"/>
            <a:ext cx="2057400" cy="228600"/>
          </a:xfrm>
          <a:prstGeom prst="rect">
            <a:avLst/>
          </a:prstGeom>
          <a:noFill/>
          <a:ln/>
        </p:spPr>
        <p:txBody>
          <a:bodyPr wrap="square" lIns="0" tIns="0" rIns="0" bIns="0" rtlCol="0" anchor="ctr"/>
          <a:lstStyle/>
          <a:p>
            <a:pPr algn="ctr" indent="0" marL="0">
              <a:buNone/>
            </a:pPr>
            <a:r>
              <a:rPr lang="en-US" sz="1100" b="1" dirty="0">
                <a:solidFill>
                  <a:srgbClr val="14213D"/>
                </a:solidFill>
                <a:latin typeface="Arial" pitchFamily="34" charset="0"/>
                <a:ea typeface="Arial" pitchFamily="34" charset="-122"/>
                <a:cs typeface="Arial" pitchFamily="34" charset="-120"/>
              </a:rPr>
              <a:t>smaller</a:t>
            </a:r>
            <a:endParaRPr lang="en-US" sz="1100" dirty="0"/>
          </a:p>
        </p:txBody>
      </p:sp>
      <p:sp>
        <p:nvSpPr>
          <p:cNvPr id="14" name="Text 12"/>
          <p:cNvSpPr/>
          <p:nvPr/>
        </p:nvSpPr>
        <p:spPr>
          <a:xfrm>
            <a:off x="4901184" y="3822192"/>
            <a:ext cx="2514600" cy="365760"/>
          </a:xfrm>
          <a:prstGeom prst="rect">
            <a:avLst/>
          </a:prstGeom>
          <a:noFill/>
          <a:ln/>
        </p:spPr>
        <p:txBody>
          <a:bodyPr wrap="square" lIns="0" tIns="0" rIns="0" bIns="0" rtlCol="0" anchor="ctr">
            <a:normAutofit/>
          </a:bodyPr>
          <a:lstStyle/>
          <a:p>
            <a:pPr algn="ctr" indent="0" marL="0">
              <a:buNone/>
            </a:pPr>
            <a:r>
              <a:rPr lang="en-US" sz="1100" dirty="0">
                <a:solidFill>
                  <a:srgbClr val="526477"/>
                </a:solidFill>
                <a:latin typeface="Arial" pitchFamily="34" charset="0"/>
                <a:ea typeface="Arial" pitchFamily="34" charset="-122"/>
                <a:cs typeface="Arial" pitchFamily="34" charset="-120"/>
              </a:rPr>
              <a:t>1077 MB to 172 MB</a:t>
            </a:r>
            <a:endParaRPr lang="en-US" sz="1100" dirty="0"/>
          </a:p>
        </p:txBody>
      </p:sp>
      <p:sp>
        <p:nvSpPr>
          <p:cNvPr id="15" name="Text 13"/>
          <p:cNvSpPr/>
          <p:nvPr/>
        </p:nvSpPr>
        <p:spPr>
          <a:xfrm>
            <a:off x="4873752" y="4480560"/>
            <a:ext cx="2560320" cy="347472"/>
          </a:xfrm>
          <a:prstGeom prst="rect">
            <a:avLst/>
          </a:prstGeom>
          <a:noFill/>
          <a:ln/>
        </p:spPr>
        <p:txBody>
          <a:bodyPr wrap="square" lIns="0" tIns="0" rIns="0" bIns="0" rtlCol="0" anchor="ctr"/>
          <a:lstStyle/>
          <a:p>
            <a:pPr algn="ctr" indent="0" marL="0">
              <a:buNone/>
            </a:pPr>
            <a:r>
              <a:rPr lang="en-US" sz="950" dirty="0">
                <a:solidFill>
                  <a:srgbClr val="334155"/>
                </a:solidFill>
                <a:latin typeface="Arial" pitchFamily="34" charset="0"/>
                <a:ea typeface="Arial" pitchFamily="34" charset="-122"/>
                <a:cs typeface="Arial" pitchFamily="34" charset="-120"/>
              </a:rPr>
              <a:t>BERT teacher to distilled TinyBERT</a:t>
            </a:r>
            <a:endParaRPr lang="en-US" sz="950" dirty="0"/>
          </a:p>
        </p:txBody>
      </p:sp>
      <p:sp>
        <p:nvSpPr>
          <p:cNvPr id="16" name="Shape 14"/>
          <p:cNvSpPr/>
          <p:nvPr/>
        </p:nvSpPr>
        <p:spPr>
          <a:xfrm>
            <a:off x="8266176" y="1508760"/>
            <a:ext cx="3337560" cy="4160520"/>
          </a:xfrm>
          <a:prstGeom prst="roundRect">
            <a:avLst>
              <a:gd name="adj" fmla="val 2192"/>
            </a:avLst>
          </a:prstGeom>
          <a:solidFill>
            <a:srgbClr val="0B1F33"/>
          </a:solidFill>
          <a:ln w="12700">
            <a:solidFill>
              <a:srgbClr val="0B1F33"/>
            </a:solidFill>
            <a:prstDash val="solid"/>
          </a:ln>
          <a:effectLst>
            <a:outerShdw sx="100000" sy="100000" kx="0" ky="0" algn="bl" rotWithShape="0" blurRad="19050" dist="50800" dir="2700000">
              <a:srgbClr val="000000">
                <a:alpha val="12000"/>
              </a:srgbClr>
            </a:outerShdw>
          </a:effectLst>
        </p:spPr>
      </p:sp>
      <p:sp>
        <p:nvSpPr>
          <p:cNvPr id="17" name="Text 15"/>
          <p:cNvSpPr/>
          <p:nvPr/>
        </p:nvSpPr>
        <p:spPr>
          <a:xfrm>
            <a:off x="8540496" y="1847088"/>
            <a:ext cx="2788920" cy="3200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Latency</a:t>
            </a:r>
            <a:endParaRPr lang="en-US" sz="2000" dirty="0"/>
          </a:p>
        </p:txBody>
      </p:sp>
      <p:sp>
        <p:nvSpPr>
          <p:cNvPr id="18" name="Text 16"/>
          <p:cNvSpPr/>
          <p:nvPr/>
        </p:nvSpPr>
        <p:spPr>
          <a:xfrm>
            <a:off x="8677656" y="2487168"/>
            <a:ext cx="2514600" cy="640080"/>
          </a:xfrm>
          <a:prstGeom prst="rect">
            <a:avLst/>
          </a:prstGeom>
          <a:noFill/>
          <a:ln/>
        </p:spPr>
        <p:txBody>
          <a:bodyPr wrap="square" lIns="0" tIns="0" rIns="0" bIns="0" rtlCol="0" anchor="ctr"/>
          <a:lstStyle/>
          <a:p>
            <a:pPr algn="ctr" indent="0" marL="0">
              <a:buNone/>
            </a:pPr>
            <a:r>
              <a:rPr lang="en-US" sz="3800" b="1" dirty="0">
                <a:solidFill>
                  <a:srgbClr val="E9C46A"/>
                </a:solidFill>
                <a:latin typeface="Cambria" pitchFamily="34" charset="0"/>
                <a:ea typeface="Cambria" pitchFamily="34" charset="-122"/>
                <a:cs typeface="Cambria" pitchFamily="34" charset="-120"/>
              </a:rPr>
              <a:t>163.8x</a:t>
            </a:r>
            <a:endParaRPr lang="en-US" sz="3800" dirty="0"/>
          </a:p>
        </p:txBody>
      </p:sp>
      <p:sp>
        <p:nvSpPr>
          <p:cNvPr id="19" name="Text 17"/>
          <p:cNvSpPr/>
          <p:nvPr/>
        </p:nvSpPr>
        <p:spPr>
          <a:xfrm>
            <a:off x="8906256" y="3127248"/>
            <a:ext cx="2057400" cy="2286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lower</a:t>
            </a:r>
            <a:endParaRPr lang="en-US" sz="1100" dirty="0"/>
          </a:p>
        </p:txBody>
      </p:sp>
      <p:sp>
        <p:nvSpPr>
          <p:cNvPr id="20" name="Text 18"/>
          <p:cNvSpPr/>
          <p:nvPr/>
        </p:nvSpPr>
        <p:spPr>
          <a:xfrm>
            <a:off x="8677656" y="3822192"/>
            <a:ext cx="2514600" cy="365760"/>
          </a:xfrm>
          <a:prstGeom prst="rect">
            <a:avLst/>
          </a:prstGeom>
          <a:noFill/>
          <a:ln/>
        </p:spPr>
        <p:txBody>
          <a:bodyPr wrap="square" lIns="0" tIns="0" rIns="0" bIns="0" rtlCol="0" anchor="ctr">
            <a:normAutofit/>
          </a:bodyPr>
          <a:lstStyle/>
          <a:p>
            <a:pPr algn="ctr" indent="0" marL="0">
              <a:buNone/>
            </a:pPr>
            <a:r>
              <a:rPr lang="en-US" sz="1100" dirty="0">
                <a:solidFill>
                  <a:srgbClr val="C7D7DF"/>
                </a:solidFill>
                <a:latin typeface="Arial" pitchFamily="34" charset="0"/>
                <a:ea typeface="Arial" pitchFamily="34" charset="-122"/>
                <a:cs typeface="Arial" pitchFamily="34" charset="-120"/>
              </a:rPr>
              <a:t>208218.8 ms to 1271.3 ms</a:t>
            </a:r>
            <a:endParaRPr lang="en-US" sz="1100" dirty="0"/>
          </a:p>
        </p:txBody>
      </p:sp>
      <p:sp>
        <p:nvSpPr>
          <p:cNvPr id="21" name="Text 19"/>
          <p:cNvSpPr/>
          <p:nvPr/>
        </p:nvSpPr>
        <p:spPr>
          <a:xfrm>
            <a:off x="8650224" y="4480560"/>
            <a:ext cx="2560320" cy="347472"/>
          </a:xfrm>
          <a:prstGeom prst="rect">
            <a:avLst/>
          </a:prstGeom>
          <a:noFill/>
          <a:ln/>
        </p:spPr>
        <p:txBody>
          <a:bodyPr wrap="square" lIns="0" tIns="0" rIns="0" bIns="0" rtlCol="0" anchor="ctr"/>
          <a:lstStyle/>
          <a:p>
            <a:pPr algn="ctr" indent="0" marL="0">
              <a:buNone/>
            </a:pPr>
            <a:r>
              <a:rPr lang="en-US" sz="950" dirty="0">
                <a:solidFill>
                  <a:srgbClr val="FFFFFF"/>
                </a:solidFill>
                <a:latin typeface="Arial" pitchFamily="34" charset="0"/>
                <a:ea typeface="Arial" pitchFamily="34" charset="-122"/>
                <a:cs typeface="Arial" pitchFamily="34" charset="-120"/>
              </a:rPr>
              <a:t>BERT teacher to distilled TinyBERT</a:t>
            </a:r>
            <a:endParaRPr lang="en-US" sz="950" dirty="0"/>
          </a:p>
        </p:txBody>
      </p:sp>
      <p:sp>
        <p:nvSpPr>
          <p:cNvPr id="22" name="Shape 20"/>
          <p:cNvSpPr/>
          <p:nvPr/>
        </p:nvSpPr>
        <p:spPr>
          <a:xfrm>
            <a:off x="3017520" y="5870448"/>
            <a:ext cx="6172200" cy="347472"/>
          </a:xfrm>
          <a:prstGeom prst="roundRect">
            <a:avLst>
              <a:gd name="adj" fmla="val 15789"/>
            </a:avLst>
          </a:prstGeom>
          <a:solidFill>
            <a:srgbClr val="FBE8E3"/>
          </a:solidFill>
          <a:ln w="12700">
            <a:solidFill>
              <a:srgbClr val="F3C8BE"/>
            </a:solidFill>
            <a:prstDash val="solid"/>
          </a:ln>
        </p:spPr>
      </p:sp>
      <p:sp>
        <p:nvSpPr>
          <p:cNvPr id="23" name="Text 21"/>
          <p:cNvSpPr/>
          <p:nvPr/>
        </p:nvSpPr>
        <p:spPr>
          <a:xfrm>
            <a:off x="3218688" y="5952744"/>
            <a:ext cx="5760720" cy="164592"/>
          </a:xfrm>
          <a:prstGeom prst="rect">
            <a:avLst/>
          </a:prstGeom>
          <a:noFill/>
          <a:ln/>
        </p:spPr>
        <p:txBody>
          <a:bodyPr wrap="square" lIns="0" tIns="0" rIns="0" bIns="0" rtlCol="0" anchor="ctr">
            <a:normAutofit/>
          </a:bodyPr>
          <a:lstStyle/>
          <a:p>
            <a:pPr algn="ctr" indent="0" marL="0">
              <a:buNone/>
            </a:pPr>
            <a:r>
              <a:rPr lang="en-US" sz="950" b="1" dirty="0">
                <a:solidFill>
                  <a:srgbClr val="C94747"/>
                </a:solidFill>
                <a:latin typeface="Arial" pitchFamily="34" charset="0"/>
                <a:ea typeface="Arial" pitchFamily="34" charset="-122"/>
                <a:cs typeface="Arial" pitchFamily="34" charset="-120"/>
              </a:rPr>
              <a:t>Boundary: measured under simulated constraints; physical edge-device deployment was not performed.</a:t>
            </a:r>
            <a:endParaRPr lang="en-US" sz="950" dirty="0"/>
          </a:p>
        </p:txBody>
      </p:sp>
      <p:sp>
        <p:nvSpPr>
          <p:cNvPr id="24" name="Text 22"/>
          <p:cNvSpPr/>
          <p:nvPr/>
        </p:nvSpPr>
        <p:spPr>
          <a:xfrm>
            <a:off x="548640" y="6236208"/>
            <a:ext cx="10927080" cy="164592"/>
          </a:xfrm>
          <a:prstGeom prst="rect">
            <a:avLst/>
          </a:prstGeom>
          <a:noFill/>
          <a:ln/>
        </p:spPr>
        <p:txBody>
          <a:bodyPr wrap="square" lIns="0" tIns="0" rIns="0" bIns="0" rtlCol="0" anchor="ctr">
            <a:normAutofit/>
          </a:bodyPr>
          <a:lstStyle/>
          <a:p>
            <a:pPr indent="0" marL="0">
              <a:buNone/>
            </a:pPr>
            <a:r>
              <a:rPr lang="en-US" sz="750" i="1" dirty="0">
                <a:solidFill>
                  <a:srgbClr val="66788A"/>
                </a:solidFill>
                <a:latin typeface="Arial" pitchFamily="34" charset="0"/>
                <a:ea typeface="Arial" pitchFamily="34" charset="-122"/>
                <a:cs typeface="Arial" pitchFamily="34" charset="-120"/>
              </a:rPr>
              <a:t>Source: DiabLLM inference metrics and limitations. Ratios calculated from reported values.</a:t>
            </a:r>
            <a:endParaRPr lang="en-US" sz="750" dirty="0"/>
          </a:p>
        </p:txBody>
      </p:sp>
      <p:sp>
        <p:nvSpPr>
          <p:cNvPr id="25" name="Slide Number Placeholder 0"/>
          <p:cNvSpPr>
            <a:spLocks noGrp="1"/>
          </p:cNvSpPr>
          <p:nvPr>
            <p:ph type="sldNum" sz="quarter" idx="4294967295"/>
          </p:nvPr>
        </p:nvSpPr>
        <p:spPr>
          <a:xfrm>
            <a:off x="11686032" y="20116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20040"/>
            <a:ext cx="4114800" cy="201168"/>
          </a:xfrm>
          <a:prstGeom prst="rect">
            <a:avLst/>
          </a:prstGeom>
          <a:noFill/>
          <a:ln/>
        </p:spPr>
        <p:txBody>
          <a:bodyPr wrap="square" lIns="0" tIns="0" rIns="0" bIns="0" rtlCol="0" anchor="ctr"/>
          <a:lstStyle/>
          <a:p>
            <a:pPr indent="0" marL="0">
              <a:buNone/>
            </a:pPr>
            <a:r>
              <a:rPr lang="en-US" sz="900" b="1" spc="120" kern="0" dirty="0">
                <a:solidFill>
                  <a:srgbClr val="007C83"/>
                </a:solidFill>
                <a:latin typeface="Arial" pitchFamily="34" charset="0"/>
                <a:ea typeface="Arial" pitchFamily="34" charset="-122"/>
                <a:cs typeface="Arial" pitchFamily="34" charset="-120"/>
              </a:rPr>
              <a:t>VALIDITY BOUNDARIES</a:t>
            </a:r>
            <a:endParaRPr lang="en-US" sz="900" dirty="0"/>
          </a:p>
        </p:txBody>
      </p:sp>
      <p:sp>
        <p:nvSpPr>
          <p:cNvPr id="3" name="Text 1"/>
          <p:cNvSpPr/>
          <p:nvPr/>
        </p:nvSpPr>
        <p:spPr>
          <a:xfrm>
            <a:off x="548640" y="594360"/>
            <a:ext cx="10789920" cy="621792"/>
          </a:xfrm>
          <a:prstGeom prst="rect">
            <a:avLst/>
          </a:prstGeom>
          <a:noFill/>
          <a:ln/>
        </p:spPr>
        <p:txBody>
          <a:bodyPr wrap="square" lIns="0" tIns="0" rIns="0" bIns="0" rtlCol="0" anchor="ctr">
            <a:normAutofit/>
          </a:bodyPr>
          <a:lstStyle/>
          <a:p>
            <a:pPr indent="0" marL="0">
              <a:buNone/>
            </a:pPr>
            <a:r>
              <a:rPr lang="en-US" sz="2600" b="1" dirty="0">
                <a:solidFill>
                  <a:srgbClr val="14213D"/>
                </a:solidFill>
                <a:latin typeface="Cambria" pitchFamily="34" charset="0"/>
                <a:ea typeface="Cambria" pitchFamily="34" charset="-122"/>
                <a:cs typeface="Cambria" pitchFamily="34" charset="-120"/>
              </a:rPr>
              <a:t>Strong retrospective results do not establish clinical readiness</a:t>
            </a:r>
            <a:endParaRPr lang="en-US" sz="2600" dirty="0"/>
          </a:p>
        </p:txBody>
      </p:sp>
      <p:sp>
        <p:nvSpPr>
          <p:cNvPr id="4" name="Shape 2"/>
          <p:cNvSpPr/>
          <p:nvPr/>
        </p:nvSpPr>
        <p:spPr>
          <a:xfrm>
            <a:off x="658368" y="1417320"/>
            <a:ext cx="3401568" cy="1783080"/>
          </a:xfrm>
          <a:prstGeom prst="roundRect">
            <a:avLst>
              <a:gd name="adj" fmla="val 4103"/>
            </a:avLst>
          </a:prstGeom>
          <a:solidFill>
            <a:srgbClr val="FFFFFF"/>
          </a:solidFill>
          <a:ln w="12700">
            <a:solidFill>
              <a:srgbClr val="D7E1E7"/>
            </a:solidFill>
            <a:prstDash val="solid"/>
          </a:ln>
          <a:effectLst>
            <a:outerShdw sx="100000" sy="100000" kx="0" ky="0" algn="bl" rotWithShape="0" blurRad="19050" dist="50800" dir="2700000">
              <a:srgbClr val="000000">
                <a:alpha val="12000"/>
              </a:srgbClr>
            </a:outerShdw>
          </a:effectLst>
        </p:spPr>
      </p:sp>
      <p:sp>
        <p:nvSpPr>
          <p:cNvPr id="5" name="Text 3"/>
          <p:cNvSpPr/>
          <p:nvPr/>
        </p:nvSpPr>
        <p:spPr>
          <a:xfrm>
            <a:off x="886968" y="1618488"/>
            <a:ext cx="960120" cy="182880"/>
          </a:xfrm>
          <a:prstGeom prst="rect">
            <a:avLst/>
          </a:prstGeom>
          <a:noFill/>
          <a:ln/>
        </p:spPr>
        <p:txBody>
          <a:bodyPr wrap="square" lIns="0" tIns="0" rIns="0" bIns="0" rtlCol="0" anchor="ctr"/>
          <a:lstStyle/>
          <a:p>
            <a:pPr indent="0" marL="0">
              <a:buNone/>
            </a:pPr>
            <a:r>
              <a:rPr lang="en-US" sz="850" b="1" spc="100" kern="0" dirty="0">
                <a:solidFill>
                  <a:srgbClr val="007C83"/>
                </a:solidFill>
                <a:latin typeface="Arial" pitchFamily="34" charset="0"/>
                <a:ea typeface="Arial" pitchFamily="34" charset="-122"/>
                <a:cs typeface="Arial" pitchFamily="34" charset="-120"/>
              </a:rPr>
              <a:t>DATA</a:t>
            </a:r>
            <a:endParaRPr lang="en-US" sz="850" dirty="0"/>
          </a:p>
        </p:txBody>
      </p:sp>
      <p:sp>
        <p:nvSpPr>
          <p:cNvPr id="6" name="Text 4"/>
          <p:cNvSpPr/>
          <p:nvPr/>
        </p:nvSpPr>
        <p:spPr>
          <a:xfrm>
            <a:off x="886968" y="1984248"/>
            <a:ext cx="2926080" cy="347472"/>
          </a:xfrm>
          <a:prstGeom prst="rect">
            <a:avLst/>
          </a:prstGeom>
          <a:noFill/>
          <a:ln/>
        </p:spPr>
        <p:txBody>
          <a:bodyPr wrap="square" lIns="0" tIns="0" rIns="0" bIns="0" rtlCol="0" anchor="ctr">
            <a:normAutofit/>
          </a:bodyPr>
          <a:lstStyle/>
          <a:p>
            <a:pPr indent="0" marL="0">
              <a:buNone/>
            </a:pPr>
            <a:r>
              <a:rPr lang="en-US" sz="1700" b="1" dirty="0">
                <a:solidFill>
                  <a:srgbClr val="14213D"/>
                </a:solidFill>
                <a:latin typeface="Cambria" pitchFamily="34" charset="0"/>
                <a:ea typeface="Cambria" pitchFamily="34" charset="-122"/>
                <a:cs typeface="Cambria" pitchFamily="34" charset="-120"/>
              </a:rPr>
              <a:t>Two small public T1DM cohorts</a:t>
            </a:r>
            <a:endParaRPr lang="en-US" sz="1700" dirty="0"/>
          </a:p>
        </p:txBody>
      </p:sp>
      <p:sp>
        <p:nvSpPr>
          <p:cNvPr id="7" name="Text 5"/>
          <p:cNvSpPr/>
          <p:nvPr/>
        </p:nvSpPr>
        <p:spPr>
          <a:xfrm>
            <a:off x="886968" y="2450592"/>
            <a:ext cx="2926080" cy="475488"/>
          </a:xfrm>
          <a:prstGeom prst="rect">
            <a:avLst/>
          </a:prstGeom>
          <a:noFill/>
          <a:ln/>
        </p:spPr>
        <p:txBody>
          <a:bodyPr wrap="square" lIns="0" tIns="0" rIns="0" bIns="0" rtlCol="0" anchor="ctr">
            <a:normAutofit/>
          </a:bodyPr>
          <a:lstStyle/>
          <a:p>
            <a:pPr indent="0" marL="0">
              <a:buNone/>
            </a:pPr>
            <a:r>
              <a:rPr lang="en-US" sz="1000" dirty="0">
                <a:solidFill>
                  <a:srgbClr val="526477"/>
                </a:solidFill>
                <a:latin typeface="Arial" pitchFamily="34" charset="0"/>
                <a:ea typeface="Arial" pitchFamily="34" charset="-122"/>
                <a:cs typeface="Arial" pitchFamily="34" charset="-120"/>
              </a:rPr>
              <a:t>Broader demographic and device diversity remains untested.</a:t>
            </a:r>
            <a:endParaRPr lang="en-US" sz="1000" dirty="0"/>
          </a:p>
        </p:txBody>
      </p:sp>
      <p:sp>
        <p:nvSpPr>
          <p:cNvPr id="8" name="Shape 6"/>
          <p:cNvSpPr/>
          <p:nvPr/>
        </p:nvSpPr>
        <p:spPr>
          <a:xfrm>
            <a:off x="4480560" y="1417320"/>
            <a:ext cx="3401568" cy="1783080"/>
          </a:xfrm>
          <a:prstGeom prst="roundRect">
            <a:avLst>
              <a:gd name="adj" fmla="val 4103"/>
            </a:avLst>
          </a:prstGeom>
          <a:solidFill>
            <a:srgbClr val="FFFFFF"/>
          </a:solidFill>
          <a:ln w="12700">
            <a:solidFill>
              <a:srgbClr val="D7E1E7"/>
            </a:solidFill>
            <a:prstDash val="solid"/>
          </a:ln>
          <a:effectLst>
            <a:outerShdw sx="100000" sy="100000" kx="0" ky="0" algn="bl" rotWithShape="0" blurRad="19050" dist="50800" dir="2700000">
              <a:srgbClr val="000000">
                <a:alpha val="12000"/>
              </a:srgbClr>
            </a:outerShdw>
          </a:effectLst>
        </p:spPr>
      </p:sp>
      <p:sp>
        <p:nvSpPr>
          <p:cNvPr id="9" name="Text 7"/>
          <p:cNvSpPr/>
          <p:nvPr/>
        </p:nvSpPr>
        <p:spPr>
          <a:xfrm>
            <a:off x="4709160" y="1618488"/>
            <a:ext cx="960120" cy="182880"/>
          </a:xfrm>
          <a:prstGeom prst="rect">
            <a:avLst/>
          </a:prstGeom>
          <a:noFill/>
          <a:ln/>
        </p:spPr>
        <p:txBody>
          <a:bodyPr wrap="square" lIns="0" tIns="0" rIns="0" bIns="0" rtlCol="0" anchor="ctr"/>
          <a:lstStyle/>
          <a:p>
            <a:pPr indent="0" marL="0">
              <a:buNone/>
            </a:pPr>
            <a:r>
              <a:rPr lang="en-US" sz="850" b="1" spc="100" kern="0" dirty="0">
                <a:solidFill>
                  <a:srgbClr val="E76F51"/>
                </a:solidFill>
                <a:latin typeface="Arial" pitchFamily="34" charset="0"/>
                <a:ea typeface="Arial" pitchFamily="34" charset="-122"/>
                <a:cs typeface="Arial" pitchFamily="34" charset="-120"/>
              </a:rPr>
              <a:t>INPUTS</a:t>
            </a:r>
            <a:endParaRPr lang="en-US" sz="850" dirty="0"/>
          </a:p>
        </p:txBody>
      </p:sp>
      <p:sp>
        <p:nvSpPr>
          <p:cNvPr id="10" name="Text 8"/>
          <p:cNvSpPr/>
          <p:nvPr/>
        </p:nvSpPr>
        <p:spPr>
          <a:xfrm>
            <a:off x="4709160" y="1984248"/>
            <a:ext cx="2926080" cy="347472"/>
          </a:xfrm>
          <a:prstGeom prst="rect">
            <a:avLst/>
          </a:prstGeom>
          <a:noFill/>
          <a:ln/>
        </p:spPr>
        <p:txBody>
          <a:bodyPr wrap="square" lIns="0" tIns="0" rIns="0" bIns="0" rtlCol="0" anchor="ctr">
            <a:normAutofit/>
          </a:bodyPr>
          <a:lstStyle/>
          <a:p>
            <a:pPr indent="0" marL="0">
              <a:buNone/>
            </a:pPr>
            <a:r>
              <a:rPr lang="en-US" sz="1700" b="1" dirty="0">
                <a:solidFill>
                  <a:srgbClr val="14213D"/>
                </a:solidFill>
                <a:latin typeface="Cambria" pitchFamily="34" charset="0"/>
                <a:ea typeface="Cambria" pitchFamily="34" charset="-122"/>
                <a:cs typeface="Cambria" pitchFamily="34" charset="-120"/>
              </a:rPr>
              <a:t>CGM-only forecasting</a:t>
            </a:r>
            <a:endParaRPr lang="en-US" sz="1700" dirty="0"/>
          </a:p>
        </p:txBody>
      </p:sp>
      <p:sp>
        <p:nvSpPr>
          <p:cNvPr id="11" name="Text 9"/>
          <p:cNvSpPr/>
          <p:nvPr/>
        </p:nvSpPr>
        <p:spPr>
          <a:xfrm>
            <a:off x="4709160" y="2450592"/>
            <a:ext cx="2926080" cy="475488"/>
          </a:xfrm>
          <a:prstGeom prst="rect">
            <a:avLst/>
          </a:prstGeom>
          <a:noFill/>
          <a:ln/>
        </p:spPr>
        <p:txBody>
          <a:bodyPr wrap="square" lIns="0" tIns="0" rIns="0" bIns="0" rtlCol="0" anchor="ctr">
            <a:normAutofit/>
          </a:bodyPr>
          <a:lstStyle/>
          <a:p>
            <a:pPr indent="0" marL="0">
              <a:buNone/>
            </a:pPr>
            <a:r>
              <a:rPr lang="en-US" sz="1000" dirty="0">
                <a:solidFill>
                  <a:srgbClr val="526477"/>
                </a:solidFill>
                <a:latin typeface="Arial" pitchFamily="34" charset="0"/>
                <a:ea typeface="Arial" pitchFamily="34" charset="-122"/>
                <a:cs typeface="Arial" pitchFamily="34" charset="-120"/>
              </a:rPr>
              <a:t>Meals, insulin, activity, and uncertainty are not integrated.</a:t>
            </a:r>
            <a:endParaRPr lang="en-US" sz="1000" dirty="0"/>
          </a:p>
        </p:txBody>
      </p:sp>
      <p:sp>
        <p:nvSpPr>
          <p:cNvPr id="12" name="Shape 10"/>
          <p:cNvSpPr/>
          <p:nvPr/>
        </p:nvSpPr>
        <p:spPr>
          <a:xfrm>
            <a:off x="8302752" y="1417320"/>
            <a:ext cx="3401568" cy="1783080"/>
          </a:xfrm>
          <a:prstGeom prst="roundRect">
            <a:avLst>
              <a:gd name="adj" fmla="val 4103"/>
            </a:avLst>
          </a:prstGeom>
          <a:solidFill>
            <a:srgbClr val="FFFFFF"/>
          </a:solidFill>
          <a:ln w="12700">
            <a:solidFill>
              <a:srgbClr val="D7E1E7"/>
            </a:solidFill>
            <a:prstDash val="solid"/>
          </a:ln>
          <a:effectLst>
            <a:outerShdw sx="100000" sy="100000" kx="0" ky="0" algn="bl" rotWithShape="0" blurRad="19050" dist="50800" dir="2700000">
              <a:srgbClr val="000000">
                <a:alpha val="12000"/>
              </a:srgbClr>
            </a:outerShdw>
          </a:effectLst>
        </p:spPr>
      </p:sp>
      <p:sp>
        <p:nvSpPr>
          <p:cNvPr id="13" name="Text 11"/>
          <p:cNvSpPr/>
          <p:nvPr/>
        </p:nvSpPr>
        <p:spPr>
          <a:xfrm>
            <a:off x="8531352" y="1618488"/>
            <a:ext cx="960120" cy="182880"/>
          </a:xfrm>
          <a:prstGeom prst="rect">
            <a:avLst/>
          </a:prstGeom>
          <a:noFill/>
          <a:ln/>
        </p:spPr>
        <p:txBody>
          <a:bodyPr wrap="square" lIns="0" tIns="0" rIns="0" bIns="0" rtlCol="0" anchor="ctr"/>
          <a:lstStyle/>
          <a:p>
            <a:pPr indent="0" marL="0">
              <a:buNone/>
            </a:pPr>
            <a:r>
              <a:rPr lang="en-US" sz="850" b="1" spc="100" kern="0" dirty="0">
                <a:solidFill>
                  <a:srgbClr val="8E6A98"/>
                </a:solidFill>
                <a:latin typeface="Arial" pitchFamily="34" charset="0"/>
                <a:ea typeface="Arial" pitchFamily="34" charset="-122"/>
                <a:cs typeface="Arial" pitchFamily="34" charset="-120"/>
              </a:rPr>
              <a:t>ROBUSTNESS</a:t>
            </a:r>
            <a:endParaRPr lang="en-US" sz="850" dirty="0"/>
          </a:p>
        </p:txBody>
      </p:sp>
      <p:sp>
        <p:nvSpPr>
          <p:cNvPr id="14" name="Text 12"/>
          <p:cNvSpPr/>
          <p:nvPr/>
        </p:nvSpPr>
        <p:spPr>
          <a:xfrm>
            <a:off x="8531352" y="1984248"/>
            <a:ext cx="2926080" cy="347472"/>
          </a:xfrm>
          <a:prstGeom prst="rect">
            <a:avLst/>
          </a:prstGeom>
          <a:noFill/>
          <a:ln/>
        </p:spPr>
        <p:txBody>
          <a:bodyPr wrap="square" lIns="0" tIns="0" rIns="0" bIns="0" rtlCol="0" anchor="ctr">
            <a:normAutofit/>
          </a:bodyPr>
          <a:lstStyle/>
          <a:p>
            <a:pPr indent="0" marL="0">
              <a:buNone/>
            </a:pPr>
            <a:r>
              <a:rPr lang="en-US" sz="1700" b="1" dirty="0">
                <a:solidFill>
                  <a:srgbClr val="14213D"/>
                </a:solidFill>
                <a:latin typeface="Cambria" pitchFamily="34" charset="0"/>
                <a:ea typeface="Cambria" pitchFamily="34" charset="-122"/>
                <a:cs typeface="Cambria" pitchFamily="34" charset="-120"/>
              </a:rPr>
              <a:t>Simulated corruption</a:t>
            </a:r>
            <a:endParaRPr lang="en-US" sz="1700" dirty="0"/>
          </a:p>
        </p:txBody>
      </p:sp>
      <p:sp>
        <p:nvSpPr>
          <p:cNvPr id="15" name="Text 13"/>
          <p:cNvSpPr/>
          <p:nvPr/>
        </p:nvSpPr>
        <p:spPr>
          <a:xfrm>
            <a:off x="8531352" y="2450592"/>
            <a:ext cx="2926080" cy="475488"/>
          </a:xfrm>
          <a:prstGeom prst="rect">
            <a:avLst/>
          </a:prstGeom>
          <a:noFill/>
          <a:ln/>
        </p:spPr>
        <p:txBody>
          <a:bodyPr wrap="square" lIns="0" tIns="0" rIns="0" bIns="0" rtlCol="0" anchor="ctr">
            <a:normAutofit/>
          </a:bodyPr>
          <a:lstStyle/>
          <a:p>
            <a:pPr indent="0" marL="0">
              <a:buNone/>
            </a:pPr>
            <a:r>
              <a:rPr lang="en-US" sz="1000" dirty="0">
                <a:solidFill>
                  <a:srgbClr val="526477"/>
                </a:solidFill>
                <a:latin typeface="Arial" pitchFamily="34" charset="0"/>
                <a:ea typeface="Arial" pitchFamily="34" charset="-122"/>
                <a:cs typeface="Arial" pitchFamily="34" charset="-120"/>
              </a:rPr>
              <a:t>Real sensor failures may differ from the gain, noise, and dropout model.</a:t>
            </a:r>
            <a:endParaRPr lang="en-US" sz="1000" dirty="0"/>
          </a:p>
        </p:txBody>
      </p:sp>
      <p:sp>
        <p:nvSpPr>
          <p:cNvPr id="16" name="Shape 14"/>
          <p:cNvSpPr/>
          <p:nvPr/>
        </p:nvSpPr>
        <p:spPr>
          <a:xfrm>
            <a:off x="658368" y="3566160"/>
            <a:ext cx="3401568" cy="1783080"/>
          </a:xfrm>
          <a:prstGeom prst="roundRect">
            <a:avLst>
              <a:gd name="adj" fmla="val 4103"/>
            </a:avLst>
          </a:prstGeom>
          <a:solidFill>
            <a:srgbClr val="EDF4F7"/>
          </a:solidFill>
          <a:ln w="12700">
            <a:solidFill>
              <a:srgbClr val="D7E1E7"/>
            </a:solidFill>
            <a:prstDash val="solid"/>
          </a:ln>
          <a:effectLst>
            <a:outerShdw sx="100000" sy="100000" kx="0" ky="0" algn="bl" rotWithShape="0" blurRad="19050" dist="50800" dir="2700000">
              <a:srgbClr val="000000">
                <a:alpha val="12000"/>
              </a:srgbClr>
            </a:outerShdw>
          </a:effectLst>
        </p:spPr>
      </p:sp>
      <p:sp>
        <p:nvSpPr>
          <p:cNvPr id="17" name="Text 15"/>
          <p:cNvSpPr/>
          <p:nvPr/>
        </p:nvSpPr>
        <p:spPr>
          <a:xfrm>
            <a:off x="886968" y="3767328"/>
            <a:ext cx="960120" cy="182880"/>
          </a:xfrm>
          <a:prstGeom prst="rect">
            <a:avLst/>
          </a:prstGeom>
          <a:noFill/>
          <a:ln/>
        </p:spPr>
        <p:txBody>
          <a:bodyPr wrap="square" lIns="0" tIns="0" rIns="0" bIns="0" rtlCol="0" anchor="ctr"/>
          <a:lstStyle/>
          <a:p>
            <a:pPr indent="0" marL="0">
              <a:buNone/>
            </a:pPr>
            <a:r>
              <a:rPr lang="en-US" sz="850" b="1" spc="100" kern="0" dirty="0">
                <a:solidFill>
                  <a:srgbClr val="E9C46A"/>
                </a:solidFill>
                <a:latin typeface="Arial" pitchFamily="34" charset="0"/>
                <a:ea typeface="Arial" pitchFamily="34" charset="-122"/>
                <a:cs typeface="Arial" pitchFamily="34" charset="-120"/>
              </a:rPr>
              <a:t>DEPLOYMENT</a:t>
            </a:r>
            <a:endParaRPr lang="en-US" sz="850" dirty="0"/>
          </a:p>
        </p:txBody>
      </p:sp>
      <p:sp>
        <p:nvSpPr>
          <p:cNvPr id="18" name="Text 16"/>
          <p:cNvSpPr/>
          <p:nvPr/>
        </p:nvSpPr>
        <p:spPr>
          <a:xfrm>
            <a:off x="886968" y="4133088"/>
            <a:ext cx="2926080" cy="347472"/>
          </a:xfrm>
          <a:prstGeom prst="rect">
            <a:avLst/>
          </a:prstGeom>
          <a:noFill/>
          <a:ln/>
        </p:spPr>
        <p:txBody>
          <a:bodyPr wrap="square" lIns="0" tIns="0" rIns="0" bIns="0" rtlCol="0" anchor="ctr">
            <a:normAutofit/>
          </a:bodyPr>
          <a:lstStyle/>
          <a:p>
            <a:pPr indent="0" marL="0">
              <a:buNone/>
            </a:pPr>
            <a:r>
              <a:rPr lang="en-US" sz="1700" b="1" dirty="0">
                <a:solidFill>
                  <a:srgbClr val="14213D"/>
                </a:solidFill>
                <a:latin typeface="Cambria" pitchFamily="34" charset="0"/>
                <a:ea typeface="Cambria" pitchFamily="34" charset="-122"/>
                <a:cs typeface="Cambria" pitchFamily="34" charset="-120"/>
              </a:rPr>
              <a:t>No physical edge validation</a:t>
            </a:r>
            <a:endParaRPr lang="en-US" sz="1700" dirty="0"/>
          </a:p>
        </p:txBody>
      </p:sp>
      <p:sp>
        <p:nvSpPr>
          <p:cNvPr id="19" name="Text 17"/>
          <p:cNvSpPr/>
          <p:nvPr/>
        </p:nvSpPr>
        <p:spPr>
          <a:xfrm>
            <a:off x="886968" y="4599432"/>
            <a:ext cx="2926080" cy="475488"/>
          </a:xfrm>
          <a:prstGeom prst="rect">
            <a:avLst/>
          </a:prstGeom>
          <a:noFill/>
          <a:ln/>
        </p:spPr>
        <p:txBody>
          <a:bodyPr wrap="square" lIns="0" tIns="0" rIns="0" bIns="0" rtlCol="0" anchor="ctr">
            <a:normAutofit/>
          </a:bodyPr>
          <a:lstStyle/>
          <a:p>
            <a:pPr indent="0" marL="0">
              <a:buNone/>
            </a:pPr>
            <a:r>
              <a:rPr lang="en-US" sz="1000" dirty="0">
                <a:solidFill>
                  <a:srgbClr val="526477"/>
                </a:solidFill>
                <a:latin typeface="Arial" pitchFamily="34" charset="0"/>
                <a:ea typeface="Arial" pitchFamily="34" charset="-122"/>
                <a:cs typeface="Arial" pitchFamily="34" charset="-120"/>
              </a:rPr>
              <a:t>Latency, energy, thermals, and reliability require hardware testing.</a:t>
            </a:r>
            <a:endParaRPr lang="en-US" sz="1000" dirty="0"/>
          </a:p>
        </p:txBody>
      </p:sp>
      <p:sp>
        <p:nvSpPr>
          <p:cNvPr id="20" name="Shape 18"/>
          <p:cNvSpPr/>
          <p:nvPr/>
        </p:nvSpPr>
        <p:spPr>
          <a:xfrm>
            <a:off x="4480560" y="3566160"/>
            <a:ext cx="3401568" cy="1783080"/>
          </a:xfrm>
          <a:prstGeom prst="roundRect">
            <a:avLst>
              <a:gd name="adj" fmla="val 4103"/>
            </a:avLst>
          </a:prstGeom>
          <a:solidFill>
            <a:srgbClr val="EDF4F7"/>
          </a:solidFill>
          <a:ln w="25400">
            <a:solidFill>
              <a:srgbClr val="E9B3A5"/>
            </a:solidFill>
            <a:prstDash val="solid"/>
          </a:ln>
          <a:effectLst>
            <a:outerShdw sx="100000" sy="100000" kx="0" ky="0" algn="bl" rotWithShape="0" blurRad="19050" dist="50800" dir="2700000">
              <a:srgbClr val="000000">
                <a:alpha val="12000"/>
              </a:srgbClr>
            </a:outerShdw>
          </a:effectLst>
        </p:spPr>
      </p:sp>
      <p:sp>
        <p:nvSpPr>
          <p:cNvPr id="21" name="Text 19"/>
          <p:cNvSpPr/>
          <p:nvPr/>
        </p:nvSpPr>
        <p:spPr>
          <a:xfrm>
            <a:off x="4709160" y="3767328"/>
            <a:ext cx="960120" cy="182880"/>
          </a:xfrm>
          <a:prstGeom prst="rect">
            <a:avLst/>
          </a:prstGeom>
          <a:noFill/>
          <a:ln/>
        </p:spPr>
        <p:txBody>
          <a:bodyPr wrap="square" lIns="0" tIns="0" rIns="0" bIns="0" rtlCol="0" anchor="ctr"/>
          <a:lstStyle/>
          <a:p>
            <a:pPr indent="0" marL="0">
              <a:buNone/>
            </a:pPr>
            <a:r>
              <a:rPr lang="en-US" sz="850" b="1" spc="100" kern="0" dirty="0">
                <a:solidFill>
                  <a:srgbClr val="C94747"/>
                </a:solidFill>
                <a:latin typeface="Arial" pitchFamily="34" charset="0"/>
                <a:ea typeface="Arial" pitchFamily="34" charset="-122"/>
                <a:cs typeface="Arial" pitchFamily="34" charset="-120"/>
              </a:rPr>
              <a:t>CLINICAL</a:t>
            </a:r>
            <a:endParaRPr lang="en-US" sz="850" dirty="0"/>
          </a:p>
        </p:txBody>
      </p:sp>
      <p:sp>
        <p:nvSpPr>
          <p:cNvPr id="22" name="Text 20"/>
          <p:cNvSpPr/>
          <p:nvPr/>
        </p:nvSpPr>
        <p:spPr>
          <a:xfrm>
            <a:off x="4709160" y="4133088"/>
            <a:ext cx="2926080" cy="347472"/>
          </a:xfrm>
          <a:prstGeom prst="rect">
            <a:avLst/>
          </a:prstGeom>
          <a:noFill/>
          <a:ln/>
        </p:spPr>
        <p:txBody>
          <a:bodyPr wrap="square" lIns="0" tIns="0" rIns="0" bIns="0" rtlCol="0" anchor="ctr">
            <a:normAutofit/>
          </a:bodyPr>
          <a:lstStyle/>
          <a:p>
            <a:pPr indent="0" marL="0">
              <a:buNone/>
            </a:pPr>
            <a:r>
              <a:rPr lang="en-US" sz="1700" b="1" dirty="0">
                <a:solidFill>
                  <a:srgbClr val="14213D"/>
                </a:solidFill>
                <a:latin typeface="Cambria" pitchFamily="34" charset="0"/>
                <a:ea typeface="Cambria" pitchFamily="34" charset="-122"/>
                <a:cs typeface="Cambria" pitchFamily="34" charset="-120"/>
              </a:rPr>
              <a:t>Retrospective error grids</a:t>
            </a:r>
            <a:endParaRPr lang="en-US" sz="1700" dirty="0"/>
          </a:p>
        </p:txBody>
      </p:sp>
      <p:sp>
        <p:nvSpPr>
          <p:cNvPr id="23" name="Text 21"/>
          <p:cNvSpPr/>
          <p:nvPr/>
        </p:nvSpPr>
        <p:spPr>
          <a:xfrm>
            <a:off x="4709160" y="4599432"/>
            <a:ext cx="2926080" cy="475488"/>
          </a:xfrm>
          <a:prstGeom prst="rect">
            <a:avLst/>
          </a:prstGeom>
          <a:noFill/>
          <a:ln/>
        </p:spPr>
        <p:txBody>
          <a:bodyPr wrap="square" lIns="0" tIns="0" rIns="0" bIns="0" rtlCol="0" anchor="ctr">
            <a:normAutofit/>
          </a:bodyPr>
          <a:lstStyle/>
          <a:p>
            <a:pPr indent="0" marL="0">
              <a:buNone/>
            </a:pPr>
            <a:r>
              <a:rPr lang="en-US" sz="1000" dirty="0">
                <a:solidFill>
                  <a:srgbClr val="526477"/>
                </a:solidFill>
                <a:latin typeface="Arial" pitchFamily="34" charset="0"/>
                <a:ea typeface="Arial" pitchFamily="34" charset="-122"/>
                <a:cs typeface="Arial" pitchFamily="34" charset="-120"/>
              </a:rPr>
              <a:t>No prospective trial or closed-loop dosing evaluation.</a:t>
            </a:r>
            <a:endParaRPr lang="en-US" sz="1000" dirty="0"/>
          </a:p>
        </p:txBody>
      </p:sp>
      <p:sp>
        <p:nvSpPr>
          <p:cNvPr id="24" name="Shape 22"/>
          <p:cNvSpPr/>
          <p:nvPr/>
        </p:nvSpPr>
        <p:spPr>
          <a:xfrm>
            <a:off x="8302752" y="3566160"/>
            <a:ext cx="3401568" cy="1783080"/>
          </a:xfrm>
          <a:prstGeom prst="roundRect">
            <a:avLst>
              <a:gd name="adj" fmla="val 4103"/>
            </a:avLst>
          </a:prstGeom>
          <a:solidFill>
            <a:srgbClr val="EDF4F7"/>
          </a:solidFill>
          <a:ln w="12700">
            <a:solidFill>
              <a:srgbClr val="D7E1E7"/>
            </a:solidFill>
            <a:prstDash val="solid"/>
          </a:ln>
          <a:effectLst>
            <a:outerShdw sx="100000" sy="100000" kx="0" ky="0" algn="bl" rotWithShape="0" blurRad="19050" dist="50800" dir="2700000">
              <a:srgbClr val="000000">
                <a:alpha val="12000"/>
              </a:srgbClr>
            </a:outerShdw>
          </a:effectLst>
        </p:spPr>
      </p:sp>
      <p:sp>
        <p:nvSpPr>
          <p:cNvPr id="25" name="Text 23"/>
          <p:cNvSpPr/>
          <p:nvPr/>
        </p:nvSpPr>
        <p:spPr>
          <a:xfrm>
            <a:off x="8531352" y="3767328"/>
            <a:ext cx="960120" cy="182880"/>
          </a:xfrm>
          <a:prstGeom prst="rect">
            <a:avLst/>
          </a:prstGeom>
          <a:noFill/>
          <a:ln/>
        </p:spPr>
        <p:txBody>
          <a:bodyPr wrap="square" lIns="0" tIns="0" rIns="0" bIns="0" rtlCol="0" anchor="ctr"/>
          <a:lstStyle/>
          <a:p>
            <a:pPr indent="0" marL="0">
              <a:buNone/>
            </a:pPr>
            <a:r>
              <a:rPr lang="en-US" sz="850" b="1" spc="100" kern="0" dirty="0">
                <a:solidFill>
                  <a:srgbClr val="2A9D8F"/>
                </a:solidFill>
                <a:latin typeface="Arial" pitchFamily="34" charset="0"/>
                <a:ea typeface="Arial" pitchFamily="34" charset="-122"/>
                <a:cs typeface="Arial" pitchFamily="34" charset="-120"/>
              </a:rPr>
              <a:t>TRUST</a:t>
            </a:r>
            <a:endParaRPr lang="en-US" sz="850" dirty="0"/>
          </a:p>
        </p:txBody>
      </p:sp>
      <p:sp>
        <p:nvSpPr>
          <p:cNvPr id="26" name="Text 24"/>
          <p:cNvSpPr/>
          <p:nvPr/>
        </p:nvSpPr>
        <p:spPr>
          <a:xfrm>
            <a:off x="8531352" y="4133088"/>
            <a:ext cx="2926080" cy="347472"/>
          </a:xfrm>
          <a:prstGeom prst="rect">
            <a:avLst/>
          </a:prstGeom>
          <a:noFill/>
          <a:ln/>
        </p:spPr>
        <p:txBody>
          <a:bodyPr wrap="square" lIns="0" tIns="0" rIns="0" bIns="0" rtlCol="0" anchor="ctr">
            <a:normAutofit/>
          </a:bodyPr>
          <a:lstStyle/>
          <a:p>
            <a:pPr indent="0" marL="0">
              <a:buNone/>
            </a:pPr>
            <a:r>
              <a:rPr lang="en-US" sz="1700" b="1" dirty="0">
                <a:solidFill>
                  <a:srgbClr val="14213D"/>
                </a:solidFill>
                <a:latin typeface="Cambria" pitchFamily="34" charset="0"/>
                <a:ea typeface="Cambria" pitchFamily="34" charset="-122"/>
                <a:cs typeface="Cambria" pitchFamily="34" charset="-120"/>
              </a:rPr>
              <a:t>Complex model representations</a:t>
            </a:r>
            <a:endParaRPr lang="en-US" sz="1700" dirty="0"/>
          </a:p>
        </p:txBody>
      </p:sp>
      <p:sp>
        <p:nvSpPr>
          <p:cNvPr id="27" name="Text 25"/>
          <p:cNvSpPr/>
          <p:nvPr/>
        </p:nvSpPr>
        <p:spPr>
          <a:xfrm>
            <a:off x="8531352" y="4599432"/>
            <a:ext cx="2926080" cy="475488"/>
          </a:xfrm>
          <a:prstGeom prst="rect">
            <a:avLst/>
          </a:prstGeom>
          <a:noFill/>
          <a:ln/>
        </p:spPr>
        <p:txBody>
          <a:bodyPr wrap="square" lIns="0" tIns="0" rIns="0" bIns="0" rtlCol="0" anchor="ctr">
            <a:normAutofit/>
          </a:bodyPr>
          <a:lstStyle/>
          <a:p>
            <a:pPr indent="0" marL="0">
              <a:buNone/>
            </a:pPr>
            <a:r>
              <a:rPr lang="en-US" sz="1000" dirty="0">
                <a:solidFill>
                  <a:srgbClr val="526477"/>
                </a:solidFill>
                <a:latin typeface="Arial" pitchFamily="34" charset="0"/>
                <a:ea typeface="Arial" pitchFamily="34" charset="-122"/>
                <a:cs typeface="Arial" pitchFamily="34" charset="-120"/>
              </a:rPr>
              <a:t>Interpretability, bias, privacy, and calibration remain open.</a:t>
            </a:r>
            <a:endParaRPr lang="en-US" sz="1000" dirty="0"/>
          </a:p>
        </p:txBody>
      </p:sp>
      <p:sp>
        <p:nvSpPr>
          <p:cNvPr id="28" name="Text 26"/>
          <p:cNvSpPr/>
          <p:nvPr/>
        </p:nvSpPr>
        <p:spPr>
          <a:xfrm>
            <a:off x="1143000" y="5870448"/>
            <a:ext cx="9921240" cy="320040"/>
          </a:xfrm>
          <a:prstGeom prst="rect">
            <a:avLst/>
          </a:prstGeom>
          <a:noFill/>
          <a:ln/>
        </p:spPr>
        <p:txBody>
          <a:bodyPr wrap="square" lIns="0" tIns="0" rIns="0" bIns="0" rtlCol="0" anchor="ctr">
            <a:normAutofit/>
          </a:bodyPr>
          <a:lstStyle/>
          <a:p>
            <a:pPr algn="ctr" indent="0" marL="0">
              <a:buNone/>
            </a:pPr>
            <a:r>
              <a:rPr lang="en-US" sz="1700" b="1" dirty="0">
                <a:solidFill>
                  <a:srgbClr val="007C83"/>
                </a:solidFill>
                <a:latin typeface="Cambria" pitchFamily="34" charset="0"/>
                <a:ea typeface="Cambria" pitchFamily="34" charset="-122"/>
                <a:cs typeface="Cambria" pitchFamily="34" charset="-120"/>
              </a:rPr>
              <a:t>The next milestone is not another retrospective benchmark - it is prospective, calibrated, hardware-validated evidence.</a:t>
            </a:r>
            <a:endParaRPr lang="en-US" sz="1700" dirty="0"/>
          </a:p>
        </p:txBody>
      </p:sp>
      <p:sp>
        <p:nvSpPr>
          <p:cNvPr id="29" name="Text 27"/>
          <p:cNvSpPr/>
          <p:nvPr/>
        </p:nvSpPr>
        <p:spPr>
          <a:xfrm>
            <a:off x="548640" y="6236208"/>
            <a:ext cx="10927080" cy="164592"/>
          </a:xfrm>
          <a:prstGeom prst="rect">
            <a:avLst/>
          </a:prstGeom>
          <a:noFill/>
          <a:ln/>
        </p:spPr>
        <p:txBody>
          <a:bodyPr wrap="square" lIns="0" tIns="0" rIns="0" bIns="0" rtlCol="0" anchor="ctr">
            <a:normAutofit/>
          </a:bodyPr>
          <a:lstStyle/>
          <a:p>
            <a:pPr indent="0" marL="0">
              <a:buNone/>
            </a:pPr>
            <a:r>
              <a:rPr lang="en-US" sz="750" i="1" dirty="0">
                <a:solidFill>
                  <a:srgbClr val="66788A"/>
                </a:solidFill>
                <a:latin typeface="Arial" pitchFamily="34" charset="0"/>
                <a:ea typeface="Arial" pitchFamily="34" charset="-122"/>
                <a:cs typeface="Arial" pitchFamily="34" charset="-120"/>
              </a:rPr>
              <a:t>Source: DiabLLM discussion, limitations, and conclusion.</a:t>
            </a:r>
            <a:endParaRPr lang="en-US" sz="750" dirty="0"/>
          </a:p>
        </p:txBody>
      </p:sp>
      <p:sp>
        <p:nvSpPr>
          <p:cNvPr id="25" name="Slide Number Placeholder 0"/>
          <p:cNvSpPr>
            <a:spLocks noGrp="1"/>
          </p:cNvSpPr>
          <p:nvPr>
            <p:ph type="sldNum" sz="quarter" idx="4294967295"/>
          </p:nvPr>
        </p:nvSpPr>
        <p:spPr>
          <a:xfrm>
            <a:off x="11686032" y="20116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658368" y="621792"/>
            <a:ext cx="10835640" cy="685800"/>
          </a:xfrm>
          <a:prstGeom prst="rect">
            <a:avLst/>
          </a:prstGeom>
          <a:noFill/>
          <a:ln/>
        </p:spPr>
        <p:txBody>
          <a:bodyPr wrap="square" lIns="0" tIns="0" rIns="0" bIns="0" rtlCol="0" anchor="ctr">
            <a:normAutofit/>
          </a:bodyPr>
          <a:lstStyle/>
          <a:p>
            <a:pPr algn="ctr" indent="0" marL="0">
              <a:buNone/>
            </a:pPr>
            <a:r>
              <a:rPr lang="en-US" sz="3000" b="1" dirty="0">
                <a:solidFill>
                  <a:srgbClr val="FFFFFF"/>
                </a:solidFill>
                <a:latin typeface="Cambria" pitchFamily="34" charset="0"/>
                <a:ea typeface="Cambria" pitchFamily="34" charset="-122"/>
                <a:cs typeface="Cambria" pitchFamily="34" charset="-120"/>
              </a:rPr>
              <a:t>DiabLLM establishes a promising but bounded foundation</a:t>
            </a:r>
            <a:endParaRPr lang="en-US" sz="3000" dirty="0"/>
          </a:p>
        </p:txBody>
      </p:sp>
      <p:sp>
        <p:nvSpPr>
          <p:cNvPr id="3" name="Shape 1"/>
          <p:cNvSpPr/>
          <p:nvPr/>
        </p:nvSpPr>
        <p:spPr>
          <a:xfrm>
            <a:off x="749808" y="1847088"/>
            <a:ext cx="3383280" cy="3108960"/>
          </a:xfrm>
          <a:prstGeom prst="roundRect">
            <a:avLst>
              <a:gd name="adj" fmla="val 2353"/>
            </a:avLst>
          </a:prstGeom>
          <a:solidFill>
            <a:srgbClr val="173149"/>
          </a:solidFill>
          <a:ln w="12700">
            <a:solidFill>
              <a:srgbClr val="2E536B"/>
            </a:solidFill>
            <a:prstDash val="solid"/>
          </a:ln>
          <a:effectLst>
            <a:outerShdw sx="100000" sy="100000" kx="0" ky="0" algn="bl" rotWithShape="0" blurRad="19050" dist="50800" dir="2700000">
              <a:srgbClr val="000000">
                <a:alpha val="12000"/>
              </a:srgbClr>
            </a:outerShdw>
          </a:effectLst>
        </p:spPr>
      </p:sp>
      <p:sp>
        <p:nvSpPr>
          <p:cNvPr id="4" name="Shape 2"/>
          <p:cNvSpPr/>
          <p:nvPr/>
        </p:nvSpPr>
        <p:spPr>
          <a:xfrm>
            <a:off x="2057400" y="2212848"/>
            <a:ext cx="768096" cy="768096"/>
          </a:xfrm>
          <a:prstGeom prst="ellipse">
            <a:avLst/>
          </a:prstGeom>
          <a:solidFill>
            <a:srgbClr val="007C83"/>
          </a:solidFill>
          <a:ln w="12700">
            <a:solidFill>
              <a:srgbClr val="007C83"/>
            </a:solidFill>
            <a:prstDash val="solid"/>
          </a:ln>
        </p:spPr>
      </p:sp>
      <p:sp>
        <p:nvSpPr>
          <p:cNvPr id="5" name="Text 3"/>
          <p:cNvSpPr/>
          <p:nvPr/>
        </p:nvSpPr>
        <p:spPr>
          <a:xfrm>
            <a:off x="2057400" y="2386584"/>
            <a:ext cx="768096" cy="21945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6" name="Text 4"/>
          <p:cNvSpPr/>
          <p:nvPr/>
        </p:nvSpPr>
        <p:spPr>
          <a:xfrm>
            <a:off x="1097280" y="3310128"/>
            <a:ext cx="2688336" cy="347472"/>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Architecture</a:t>
            </a:r>
            <a:endParaRPr lang="en-US" sz="2100" dirty="0"/>
          </a:p>
        </p:txBody>
      </p:sp>
      <p:sp>
        <p:nvSpPr>
          <p:cNvPr id="7" name="Text 5"/>
          <p:cNvSpPr/>
          <p:nvPr/>
        </p:nvSpPr>
        <p:spPr>
          <a:xfrm>
            <a:off x="1097280" y="3904488"/>
            <a:ext cx="2688336" cy="685800"/>
          </a:xfrm>
          <a:prstGeom prst="rect">
            <a:avLst/>
          </a:prstGeom>
          <a:noFill/>
          <a:ln/>
        </p:spPr>
        <p:txBody>
          <a:bodyPr wrap="square" lIns="508" tIns="508" rIns="508" bIns="508" rtlCol="0" anchor="ctr">
            <a:normAutofit/>
          </a:bodyPr>
          <a:lstStyle/>
          <a:p>
            <a:pPr algn="ctr" indent="0" marL="0">
              <a:buNone/>
            </a:pPr>
            <a:r>
              <a:rPr lang="en-US" sz="1150" dirty="0">
                <a:solidFill>
                  <a:srgbClr val="D3E0E7"/>
                </a:solidFill>
                <a:latin typeface="Arial" pitchFamily="34" charset="0"/>
                <a:ea typeface="Arial" pitchFamily="34" charset="-122"/>
                <a:cs typeface="Arial" pitchFamily="34" charset="-120"/>
              </a:rPr>
              <a:t>Chronos tokenizes glucose; Time-LLM reprograms patches for a frozen LLM.</a:t>
            </a:r>
            <a:endParaRPr lang="en-US" sz="1150" dirty="0"/>
          </a:p>
        </p:txBody>
      </p:sp>
      <p:sp>
        <p:nvSpPr>
          <p:cNvPr id="8" name="Shape 6"/>
          <p:cNvSpPr/>
          <p:nvPr/>
        </p:nvSpPr>
        <p:spPr>
          <a:xfrm>
            <a:off x="4544568" y="1847088"/>
            <a:ext cx="3383280" cy="3108960"/>
          </a:xfrm>
          <a:prstGeom prst="roundRect">
            <a:avLst>
              <a:gd name="adj" fmla="val 2353"/>
            </a:avLst>
          </a:prstGeom>
          <a:solidFill>
            <a:srgbClr val="123B42"/>
          </a:solidFill>
          <a:ln w="12700">
            <a:solidFill>
              <a:srgbClr val="2A6F73"/>
            </a:solidFill>
            <a:prstDash val="solid"/>
          </a:ln>
          <a:effectLst>
            <a:outerShdw sx="100000" sy="100000" kx="0" ky="0" algn="bl" rotWithShape="0" blurRad="19050" dist="50800" dir="2700000">
              <a:srgbClr val="000000">
                <a:alpha val="12000"/>
              </a:srgbClr>
            </a:outerShdw>
          </a:effectLst>
        </p:spPr>
      </p:sp>
      <p:sp>
        <p:nvSpPr>
          <p:cNvPr id="9" name="Shape 7"/>
          <p:cNvSpPr/>
          <p:nvPr/>
        </p:nvSpPr>
        <p:spPr>
          <a:xfrm>
            <a:off x="5852160" y="2212848"/>
            <a:ext cx="768096" cy="768096"/>
          </a:xfrm>
          <a:prstGeom prst="ellipse">
            <a:avLst/>
          </a:prstGeom>
          <a:solidFill>
            <a:srgbClr val="E76F51"/>
          </a:solidFill>
          <a:ln w="12700">
            <a:solidFill>
              <a:srgbClr val="E76F51"/>
            </a:solidFill>
            <a:prstDash val="solid"/>
          </a:ln>
        </p:spPr>
      </p:sp>
      <p:sp>
        <p:nvSpPr>
          <p:cNvPr id="10" name="Text 8"/>
          <p:cNvSpPr/>
          <p:nvPr/>
        </p:nvSpPr>
        <p:spPr>
          <a:xfrm>
            <a:off x="5852160" y="2386584"/>
            <a:ext cx="768096" cy="21945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1" name="Text 9"/>
          <p:cNvSpPr/>
          <p:nvPr/>
        </p:nvSpPr>
        <p:spPr>
          <a:xfrm>
            <a:off x="4892040" y="3310128"/>
            <a:ext cx="2688336" cy="347472"/>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Evidence</a:t>
            </a:r>
            <a:endParaRPr lang="en-US" sz="2100" dirty="0"/>
          </a:p>
        </p:txBody>
      </p:sp>
      <p:sp>
        <p:nvSpPr>
          <p:cNvPr id="12" name="Text 10"/>
          <p:cNvSpPr/>
          <p:nvPr/>
        </p:nvSpPr>
        <p:spPr>
          <a:xfrm>
            <a:off x="4892040" y="3904488"/>
            <a:ext cx="2688336" cy="685800"/>
          </a:xfrm>
          <a:prstGeom prst="rect">
            <a:avLst/>
          </a:prstGeom>
          <a:noFill/>
          <a:ln/>
        </p:spPr>
        <p:txBody>
          <a:bodyPr wrap="square" lIns="508" tIns="508" rIns="508" bIns="508" rtlCol="0" anchor="ctr">
            <a:normAutofit/>
          </a:bodyPr>
          <a:lstStyle/>
          <a:p>
            <a:pPr algn="ctr" indent="0" marL="0">
              <a:buNone/>
            </a:pPr>
            <a:r>
              <a:rPr lang="en-US" sz="1150" dirty="0">
                <a:solidFill>
                  <a:srgbClr val="D3E0E7"/>
                </a:solidFill>
                <a:latin typeface="Arial" pitchFamily="34" charset="0"/>
                <a:ea typeface="Arial" pitchFamily="34" charset="-122"/>
                <a:cs typeface="Arial" pitchFamily="34" charset="-120"/>
              </a:rPr>
              <a:t>Fine-tuned Time-LLM leads the tested 30-minute benchmark and error-grid outcomes.</a:t>
            </a:r>
            <a:endParaRPr lang="en-US" sz="1150" dirty="0"/>
          </a:p>
        </p:txBody>
      </p:sp>
      <p:sp>
        <p:nvSpPr>
          <p:cNvPr id="13" name="Shape 11"/>
          <p:cNvSpPr/>
          <p:nvPr/>
        </p:nvSpPr>
        <p:spPr>
          <a:xfrm>
            <a:off x="8339328" y="1847088"/>
            <a:ext cx="3383280" cy="3108960"/>
          </a:xfrm>
          <a:prstGeom prst="roundRect">
            <a:avLst>
              <a:gd name="adj" fmla="val 2353"/>
            </a:avLst>
          </a:prstGeom>
          <a:solidFill>
            <a:srgbClr val="3D2E27"/>
          </a:solidFill>
          <a:ln w="12700">
            <a:solidFill>
              <a:srgbClr val="735445"/>
            </a:solidFill>
            <a:prstDash val="solid"/>
          </a:ln>
          <a:effectLst>
            <a:outerShdw sx="100000" sy="100000" kx="0" ky="0" algn="bl" rotWithShape="0" blurRad="19050" dist="50800" dir="2700000">
              <a:srgbClr val="000000">
                <a:alpha val="12000"/>
              </a:srgbClr>
            </a:outerShdw>
          </a:effectLst>
        </p:spPr>
      </p:sp>
      <p:sp>
        <p:nvSpPr>
          <p:cNvPr id="14" name="Shape 12"/>
          <p:cNvSpPr/>
          <p:nvPr/>
        </p:nvSpPr>
        <p:spPr>
          <a:xfrm>
            <a:off x="9646920" y="2212848"/>
            <a:ext cx="768096" cy="768096"/>
          </a:xfrm>
          <a:prstGeom prst="ellipse">
            <a:avLst/>
          </a:prstGeom>
          <a:solidFill>
            <a:srgbClr val="E9C46A"/>
          </a:solidFill>
          <a:ln w="12700">
            <a:solidFill>
              <a:srgbClr val="E9C46A"/>
            </a:solidFill>
            <a:prstDash val="solid"/>
          </a:ln>
        </p:spPr>
      </p:sp>
      <p:sp>
        <p:nvSpPr>
          <p:cNvPr id="15" name="Text 13"/>
          <p:cNvSpPr/>
          <p:nvPr/>
        </p:nvSpPr>
        <p:spPr>
          <a:xfrm>
            <a:off x="9646920" y="2386584"/>
            <a:ext cx="768096" cy="219456"/>
          </a:xfrm>
          <a:prstGeom prst="rect">
            <a:avLst/>
          </a:prstGeom>
          <a:noFill/>
          <a:ln/>
        </p:spPr>
        <p:txBody>
          <a:bodyPr wrap="square" lIns="0" tIns="0" rIns="0" bIns="0" rtlCol="0" anchor="ctr"/>
          <a:lstStyle/>
          <a:p>
            <a:pPr algn="ctr" indent="0" marL="0">
              <a:buNone/>
            </a:pPr>
            <a:r>
              <a:rPr lang="en-US" sz="1700" b="1" dirty="0">
                <a:solidFill>
                  <a:srgbClr val="0B1F33"/>
                </a:solidFill>
                <a:latin typeface="Cambria" pitchFamily="34" charset="0"/>
                <a:ea typeface="Cambria" pitchFamily="34" charset="-122"/>
                <a:cs typeface="Cambria" pitchFamily="34" charset="-120"/>
              </a:rPr>
              <a:t>3</a:t>
            </a:r>
            <a:endParaRPr lang="en-US" sz="1700" dirty="0"/>
          </a:p>
        </p:txBody>
      </p:sp>
      <p:sp>
        <p:nvSpPr>
          <p:cNvPr id="16" name="Text 14"/>
          <p:cNvSpPr/>
          <p:nvPr/>
        </p:nvSpPr>
        <p:spPr>
          <a:xfrm>
            <a:off x="8686800" y="3310128"/>
            <a:ext cx="2688336" cy="347472"/>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Practicality</a:t>
            </a:r>
            <a:endParaRPr lang="en-US" sz="2100" dirty="0"/>
          </a:p>
        </p:txBody>
      </p:sp>
      <p:sp>
        <p:nvSpPr>
          <p:cNvPr id="17" name="Text 15"/>
          <p:cNvSpPr/>
          <p:nvPr/>
        </p:nvSpPr>
        <p:spPr>
          <a:xfrm>
            <a:off x="8686800" y="3904488"/>
            <a:ext cx="2688336" cy="685800"/>
          </a:xfrm>
          <a:prstGeom prst="rect">
            <a:avLst/>
          </a:prstGeom>
          <a:noFill/>
          <a:ln/>
        </p:spPr>
        <p:txBody>
          <a:bodyPr wrap="square" lIns="508" tIns="508" rIns="508" bIns="508" rtlCol="0" anchor="ctr">
            <a:normAutofit/>
          </a:bodyPr>
          <a:lstStyle/>
          <a:p>
            <a:pPr algn="ctr" indent="0" marL="0">
              <a:buNone/>
            </a:pPr>
            <a:r>
              <a:rPr lang="en-US" sz="1150" dirty="0">
                <a:solidFill>
                  <a:srgbClr val="D3E0E7"/>
                </a:solidFill>
                <a:latin typeface="Arial" pitchFamily="34" charset="0"/>
                <a:ea typeface="Arial" pitchFamily="34" charset="-122"/>
                <a:cs typeface="Arial" pitchFamily="34" charset="-120"/>
              </a:rPr>
              <a:t>Denoising and distillation address corrupted inputs and computational cost.</a:t>
            </a:r>
            <a:endParaRPr lang="en-US" sz="1150" dirty="0"/>
          </a:p>
        </p:txBody>
      </p:sp>
      <p:sp>
        <p:nvSpPr>
          <p:cNvPr id="18" name="Text 16"/>
          <p:cNvSpPr/>
          <p:nvPr/>
        </p:nvSpPr>
        <p:spPr>
          <a:xfrm>
            <a:off x="1051560" y="5715000"/>
            <a:ext cx="10058400" cy="320040"/>
          </a:xfrm>
          <a:prstGeom prst="rect">
            <a:avLst/>
          </a:prstGeom>
          <a:noFill/>
          <a:ln/>
        </p:spPr>
        <p:txBody>
          <a:bodyPr wrap="square" lIns="0" tIns="0" rIns="0" bIns="0" rtlCol="0" anchor="ctr"/>
          <a:lstStyle/>
          <a:p>
            <a:pPr algn="ctr" indent="0" marL="0">
              <a:buNone/>
            </a:pPr>
            <a:r>
              <a:rPr lang="en-US" sz="1300" b="1" dirty="0">
                <a:solidFill>
                  <a:srgbClr val="E9C46A"/>
                </a:solidFill>
                <a:latin typeface="Arial" pitchFamily="34" charset="0"/>
                <a:ea typeface="Arial" pitchFamily="34" charset="-122"/>
                <a:cs typeface="Arial" pitchFamily="34" charset="-120"/>
              </a:rPr>
              <a:t>Next: prospective evaluation • uncertainty calibration • multimodal context • real edge hardware</a:t>
            </a:r>
            <a:endParaRPr lang="en-US" sz="1300" dirty="0"/>
          </a:p>
        </p:txBody>
      </p:sp>
      <p:sp>
        <p:nvSpPr>
          <p:cNvPr id="19" name="Text 17"/>
          <p:cNvSpPr/>
          <p:nvPr/>
        </p:nvSpPr>
        <p:spPr>
          <a:xfrm>
            <a:off x="3337560" y="6291072"/>
            <a:ext cx="5532120" cy="182880"/>
          </a:xfrm>
          <a:prstGeom prst="rect">
            <a:avLst/>
          </a:prstGeom>
          <a:noFill/>
          <a:ln/>
        </p:spPr>
        <p:txBody>
          <a:bodyPr wrap="square" lIns="0" tIns="0" rIns="0" bIns="0" rtlCol="0" anchor="ctr"/>
          <a:lstStyle/>
          <a:p>
            <a:pPr algn="ctr" indent="0" marL="0">
              <a:buNone/>
            </a:pPr>
            <a:r>
              <a:rPr lang="en-US" sz="900" dirty="0">
                <a:solidFill>
                  <a:srgbClr val="AFC2CD"/>
                </a:solidFill>
                <a:latin typeface="Arial" pitchFamily="34" charset="0"/>
                <a:ea typeface="Arial" pitchFamily="34" charset="-122"/>
                <a:cs typeface="Arial" pitchFamily="34" charset="-120"/>
              </a:rPr>
              <a:t>Amirhossein Mahmoudi  |  github.com/ammahmoudi/diab-llm</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20040"/>
            <a:ext cx="4114800" cy="201168"/>
          </a:xfrm>
          <a:prstGeom prst="rect">
            <a:avLst/>
          </a:prstGeom>
          <a:noFill/>
          <a:ln/>
        </p:spPr>
        <p:txBody>
          <a:bodyPr wrap="square" lIns="0" tIns="0" rIns="0" bIns="0" rtlCol="0" anchor="ctr"/>
          <a:lstStyle/>
          <a:p>
            <a:pPr indent="0" marL="0">
              <a:buNone/>
            </a:pPr>
            <a:r>
              <a:rPr lang="en-US" sz="900" b="1" spc="120" kern="0" dirty="0">
                <a:solidFill>
                  <a:srgbClr val="007C83"/>
                </a:solidFill>
                <a:latin typeface="Arial" pitchFamily="34" charset="0"/>
                <a:ea typeface="Arial" pitchFamily="34" charset="-122"/>
                <a:cs typeface="Arial" pitchFamily="34" charset="-120"/>
              </a:rPr>
              <a:t>SELECTED SOURCES</a:t>
            </a:r>
            <a:endParaRPr lang="en-US" sz="900" dirty="0"/>
          </a:p>
        </p:txBody>
      </p:sp>
      <p:sp>
        <p:nvSpPr>
          <p:cNvPr id="3" name="Text 1"/>
          <p:cNvSpPr/>
          <p:nvPr/>
        </p:nvSpPr>
        <p:spPr>
          <a:xfrm>
            <a:off x="548640" y="594360"/>
            <a:ext cx="10789920" cy="621792"/>
          </a:xfrm>
          <a:prstGeom prst="rect">
            <a:avLst/>
          </a:prstGeom>
          <a:noFill/>
          <a:ln/>
        </p:spPr>
        <p:txBody>
          <a:bodyPr wrap="square" lIns="0" tIns="0" rIns="0" bIns="0" rtlCol="0" anchor="ctr">
            <a:normAutofit/>
          </a:bodyPr>
          <a:lstStyle/>
          <a:p>
            <a:pPr indent="0" marL="0">
              <a:buNone/>
            </a:pPr>
            <a:r>
              <a:rPr lang="en-US" sz="2600" b="1" dirty="0">
                <a:solidFill>
                  <a:srgbClr val="14213D"/>
                </a:solidFill>
                <a:latin typeface="Cambria" pitchFamily="34" charset="0"/>
                <a:ea typeface="Cambria" pitchFamily="34" charset="-122"/>
                <a:cs typeface="Cambria" pitchFamily="34" charset="-120"/>
              </a:rPr>
              <a:t>References and discussion</a:t>
            </a:r>
            <a:endParaRPr lang="en-US" sz="2600" dirty="0"/>
          </a:p>
        </p:txBody>
      </p:sp>
      <p:sp>
        <p:nvSpPr>
          <p:cNvPr id="4" name="Shape 2"/>
          <p:cNvSpPr/>
          <p:nvPr/>
        </p:nvSpPr>
        <p:spPr>
          <a:xfrm>
            <a:off x="658368" y="1353312"/>
            <a:ext cx="10835640" cy="621792"/>
          </a:xfrm>
          <a:prstGeom prst="roundRect">
            <a:avLst>
              <a:gd name="adj" fmla="val 7353"/>
            </a:avLst>
          </a:prstGeom>
          <a:solidFill>
            <a:srgbClr val="FFFFFF"/>
          </a:solidFill>
          <a:ln w="12700">
            <a:solidFill>
              <a:srgbClr val="D7E1E7"/>
            </a:solidFill>
            <a:prstDash val="solid"/>
          </a:ln>
        </p:spPr>
      </p:sp>
      <p:sp>
        <p:nvSpPr>
          <p:cNvPr id="5" name="Text 3"/>
          <p:cNvSpPr/>
          <p:nvPr/>
        </p:nvSpPr>
        <p:spPr>
          <a:xfrm>
            <a:off x="896112" y="1481328"/>
            <a:ext cx="1234440" cy="201168"/>
          </a:xfrm>
          <a:prstGeom prst="rect">
            <a:avLst/>
          </a:prstGeom>
          <a:noFill/>
          <a:ln/>
        </p:spPr>
        <p:txBody>
          <a:bodyPr wrap="square" lIns="0" tIns="0" rIns="0" bIns="0" rtlCol="0" anchor="ctr"/>
          <a:lstStyle/>
          <a:p>
            <a:pPr indent="0" marL="0">
              <a:buNone/>
            </a:pPr>
            <a:r>
              <a:rPr lang="en-US" sz="1100" b="1" dirty="0">
                <a:solidFill>
                  <a:srgbClr val="007C83"/>
                </a:solidFill>
                <a:latin typeface="Arial" pitchFamily="34" charset="0"/>
                <a:ea typeface="Arial" pitchFamily="34" charset="-122"/>
                <a:cs typeface="Arial" pitchFamily="34" charset="-120"/>
              </a:rPr>
              <a:t>DiabLLM</a:t>
            </a:r>
            <a:endParaRPr lang="en-US" sz="1100" dirty="0"/>
          </a:p>
        </p:txBody>
      </p:sp>
      <p:sp>
        <p:nvSpPr>
          <p:cNvPr id="6" name="Text 4"/>
          <p:cNvSpPr/>
          <p:nvPr/>
        </p:nvSpPr>
        <p:spPr>
          <a:xfrm>
            <a:off x="2148840" y="1444752"/>
            <a:ext cx="6720840" cy="320040"/>
          </a:xfrm>
          <a:prstGeom prst="rect">
            <a:avLst/>
          </a:prstGeom>
          <a:noFill/>
          <a:ln/>
        </p:spPr>
        <p:txBody>
          <a:bodyPr wrap="square" lIns="0" tIns="0" rIns="0" bIns="0" rtlCol="0" anchor="ctr">
            <a:normAutofit/>
          </a:bodyPr>
          <a:lstStyle/>
          <a:p>
            <a:pPr indent="0" marL="0">
              <a:buNone/>
            </a:pPr>
            <a:r>
              <a:rPr lang="en-US" sz="950" dirty="0">
                <a:solidFill>
                  <a:srgbClr val="334155"/>
                </a:solidFill>
                <a:latin typeface="Arial" pitchFamily="34" charset="0"/>
                <a:ea typeface="Arial" pitchFamily="34" charset="-122"/>
                <a:cs typeface="Arial" pitchFamily="34" charset="-120"/>
              </a:rPr>
              <a:t>A. Mahmoudi et al., IEEE Journal of Biomedical and Health Informatics, vol. 30, no. 8, 2026.</a:t>
            </a:r>
            <a:endParaRPr lang="en-US" sz="950" dirty="0"/>
          </a:p>
        </p:txBody>
      </p:sp>
      <p:sp>
        <p:nvSpPr>
          <p:cNvPr id="7" name="Text 5"/>
          <p:cNvSpPr/>
          <p:nvPr/>
        </p:nvSpPr>
        <p:spPr>
          <a:xfrm>
            <a:off x="9006840" y="1481328"/>
            <a:ext cx="2240280" cy="201168"/>
          </a:xfrm>
          <a:prstGeom prst="rect">
            <a:avLst/>
          </a:prstGeom>
          <a:noFill/>
          <a:ln/>
        </p:spPr>
        <p:txBody>
          <a:bodyPr wrap="square" lIns="0" tIns="0" rIns="0" bIns="0" rtlCol="0" anchor="ctr">
            <a:normAutofit/>
          </a:bodyPr>
          <a:lstStyle/>
          <a:p>
            <a:pPr algn="r" indent="0" marL="0">
              <a:buNone/>
            </a:pPr>
            <a:r>
              <a:rPr lang="en-US" sz="850" dirty="0">
                <a:solidFill>
                  <a:srgbClr val="526477"/>
                </a:solidFill>
                <a:latin typeface="Arial" pitchFamily="34" charset="0"/>
                <a:ea typeface="Arial" pitchFamily="34" charset="-122"/>
                <a:cs typeface="Arial" pitchFamily="34" charset="-120"/>
              </a:rPr>
              <a:t>doi.org/10.1109/JBHI.2026.3658588</a:t>
            </a:r>
            <a:endParaRPr lang="en-US" sz="850" dirty="0"/>
          </a:p>
        </p:txBody>
      </p:sp>
      <p:sp>
        <p:nvSpPr>
          <p:cNvPr id="8" name="Shape 6"/>
          <p:cNvSpPr/>
          <p:nvPr/>
        </p:nvSpPr>
        <p:spPr>
          <a:xfrm>
            <a:off x="658368" y="2148840"/>
            <a:ext cx="10835640" cy="621792"/>
          </a:xfrm>
          <a:prstGeom prst="roundRect">
            <a:avLst>
              <a:gd name="adj" fmla="val 7353"/>
            </a:avLst>
          </a:prstGeom>
          <a:solidFill>
            <a:srgbClr val="EDF4F7"/>
          </a:solidFill>
          <a:ln w="12700">
            <a:solidFill>
              <a:srgbClr val="D7E1E7"/>
            </a:solidFill>
            <a:prstDash val="solid"/>
          </a:ln>
        </p:spPr>
      </p:sp>
      <p:sp>
        <p:nvSpPr>
          <p:cNvPr id="9" name="Text 7"/>
          <p:cNvSpPr/>
          <p:nvPr/>
        </p:nvSpPr>
        <p:spPr>
          <a:xfrm>
            <a:off x="896112" y="2276856"/>
            <a:ext cx="1234440" cy="201168"/>
          </a:xfrm>
          <a:prstGeom prst="rect">
            <a:avLst/>
          </a:prstGeom>
          <a:noFill/>
          <a:ln/>
        </p:spPr>
        <p:txBody>
          <a:bodyPr wrap="square" lIns="0" tIns="0" rIns="0" bIns="0" rtlCol="0" anchor="ctr"/>
          <a:lstStyle/>
          <a:p>
            <a:pPr indent="0" marL="0">
              <a:buNone/>
            </a:pPr>
            <a:r>
              <a:rPr lang="en-US" sz="1100" b="1" dirty="0">
                <a:solidFill>
                  <a:srgbClr val="007C83"/>
                </a:solidFill>
                <a:latin typeface="Arial" pitchFamily="34" charset="0"/>
                <a:ea typeface="Arial" pitchFamily="34" charset="-122"/>
                <a:cs typeface="Arial" pitchFamily="34" charset="-120"/>
              </a:rPr>
              <a:t>Time-LLM</a:t>
            </a:r>
            <a:endParaRPr lang="en-US" sz="1100" dirty="0"/>
          </a:p>
        </p:txBody>
      </p:sp>
      <p:sp>
        <p:nvSpPr>
          <p:cNvPr id="10" name="Text 8"/>
          <p:cNvSpPr/>
          <p:nvPr/>
        </p:nvSpPr>
        <p:spPr>
          <a:xfrm>
            <a:off x="2148840" y="2240280"/>
            <a:ext cx="6720840" cy="320040"/>
          </a:xfrm>
          <a:prstGeom prst="rect">
            <a:avLst/>
          </a:prstGeom>
          <a:noFill/>
          <a:ln/>
        </p:spPr>
        <p:txBody>
          <a:bodyPr wrap="square" lIns="0" tIns="0" rIns="0" bIns="0" rtlCol="0" anchor="ctr">
            <a:normAutofit/>
          </a:bodyPr>
          <a:lstStyle/>
          <a:p>
            <a:pPr indent="0" marL="0">
              <a:buNone/>
            </a:pPr>
            <a:r>
              <a:rPr lang="en-US" sz="950" dirty="0">
                <a:solidFill>
                  <a:srgbClr val="334155"/>
                </a:solidFill>
                <a:latin typeface="Arial" pitchFamily="34" charset="0"/>
                <a:ea typeface="Arial" pitchFamily="34" charset="-122"/>
                <a:cs typeface="Arial" pitchFamily="34" charset="-120"/>
              </a:rPr>
              <a:t>M. Jin et al., Time Series Forecasting by Reprogramming Large Language Models, ICLR 2024.</a:t>
            </a:r>
            <a:endParaRPr lang="en-US" sz="950" dirty="0"/>
          </a:p>
        </p:txBody>
      </p:sp>
      <p:sp>
        <p:nvSpPr>
          <p:cNvPr id="11" name="Text 9"/>
          <p:cNvSpPr/>
          <p:nvPr/>
        </p:nvSpPr>
        <p:spPr>
          <a:xfrm>
            <a:off x="9006840" y="2276856"/>
            <a:ext cx="2240280" cy="201168"/>
          </a:xfrm>
          <a:prstGeom prst="rect">
            <a:avLst/>
          </a:prstGeom>
          <a:noFill/>
          <a:ln/>
        </p:spPr>
        <p:txBody>
          <a:bodyPr wrap="square" lIns="0" tIns="0" rIns="0" bIns="0" rtlCol="0" anchor="ctr">
            <a:normAutofit/>
          </a:bodyPr>
          <a:lstStyle/>
          <a:p>
            <a:pPr algn="r" indent="0" marL="0">
              <a:buNone/>
            </a:pPr>
            <a:r>
              <a:rPr lang="en-US" sz="850" dirty="0">
                <a:solidFill>
                  <a:srgbClr val="526477"/>
                </a:solidFill>
                <a:latin typeface="Arial" pitchFamily="34" charset="0"/>
                <a:ea typeface="Arial" pitchFamily="34" charset="-122"/>
                <a:cs typeface="Arial" pitchFamily="34" charset="-120"/>
              </a:rPr>
              <a:t>arXiv:2310.01728</a:t>
            </a:r>
            <a:endParaRPr lang="en-US" sz="850" dirty="0"/>
          </a:p>
        </p:txBody>
      </p:sp>
      <p:sp>
        <p:nvSpPr>
          <p:cNvPr id="12" name="Shape 10"/>
          <p:cNvSpPr/>
          <p:nvPr/>
        </p:nvSpPr>
        <p:spPr>
          <a:xfrm>
            <a:off x="658368" y="2944368"/>
            <a:ext cx="10835640" cy="621792"/>
          </a:xfrm>
          <a:prstGeom prst="roundRect">
            <a:avLst>
              <a:gd name="adj" fmla="val 7353"/>
            </a:avLst>
          </a:prstGeom>
          <a:solidFill>
            <a:srgbClr val="FFFFFF"/>
          </a:solidFill>
          <a:ln w="12700">
            <a:solidFill>
              <a:srgbClr val="D7E1E7"/>
            </a:solidFill>
            <a:prstDash val="solid"/>
          </a:ln>
        </p:spPr>
      </p:sp>
      <p:sp>
        <p:nvSpPr>
          <p:cNvPr id="13" name="Text 11"/>
          <p:cNvSpPr/>
          <p:nvPr/>
        </p:nvSpPr>
        <p:spPr>
          <a:xfrm>
            <a:off x="896112" y="3072384"/>
            <a:ext cx="1234440" cy="201168"/>
          </a:xfrm>
          <a:prstGeom prst="rect">
            <a:avLst/>
          </a:prstGeom>
          <a:noFill/>
          <a:ln/>
        </p:spPr>
        <p:txBody>
          <a:bodyPr wrap="square" lIns="0" tIns="0" rIns="0" bIns="0" rtlCol="0" anchor="ctr"/>
          <a:lstStyle/>
          <a:p>
            <a:pPr indent="0" marL="0">
              <a:buNone/>
            </a:pPr>
            <a:r>
              <a:rPr lang="en-US" sz="1100" b="1" dirty="0">
                <a:solidFill>
                  <a:srgbClr val="007C83"/>
                </a:solidFill>
                <a:latin typeface="Arial" pitchFamily="34" charset="0"/>
                <a:ea typeface="Arial" pitchFamily="34" charset="-122"/>
                <a:cs typeface="Arial" pitchFamily="34" charset="-120"/>
              </a:rPr>
              <a:t>Chronos</a:t>
            </a:r>
            <a:endParaRPr lang="en-US" sz="1100" dirty="0"/>
          </a:p>
        </p:txBody>
      </p:sp>
      <p:sp>
        <p:nvSpPr>
          <p:cNvPr id="14" name="Text 12"/>
          <p:cNvSpPr/>
          <p:nvPr/>
        </p:nvSpPr>
        <p:spPr>
          <a:xfrm>
            <a:off x="2148840" y="3035808"/>
            <a:ext cx="6720840" cy="320040"/>
          </a:xfrm>
          <a:prstGeom prst="rect">
            <a:avLst/>
          </a:prstGeom>
          <a:noFill/>
          <a:ln/>
        </p:spPr>
        <p:txBody>
          <a:bodyPr wrap="square" lIns="0" tIns="0" rIns="0" bIns="0" rtlCol="0" anchor="ctr">
            <a:normAutofit/>
          </a:bodyPr>
          <a:lstStyle/>
          <a:p>
            <a:pPr indent="0" marL="0">
              <a:buNone/>
            </a:pPr>
            <a:r>
              <a:rPr lang="en-US" sz="950" dirty="0">
                <a:solidFill>
                  <a:srgbClr val="334155"/>
                </a:solidFill>
                <a:latin typeface="Arial" pitchFamily="34" charset="0"/>
                <a:ea typeface="Arial" pitchFamily="34" charset="-122"/>
                <a:cs typeface="Arial" pitchFamily="34" charset="-120"/>
              </a:rPr>
              <a:t>A. F. Ansari et al., Learning the Language of Time Series, TMLR 2024.</a:t>
            </a:r>
            <a:endParaRPr lang="en-US" sz="950" dirty="0"/>
          </a:p>
        </p:txBody>
      </p:sp>
      <p:sp>
        <p:nvSpPr>
          <p:cNvPr id="15" name="Text 13"/>
          <p:cNvSpPr/>
          <p:nvPr/>
        </p:nvSpPr>
        <p:spPr>
          <a:xfrm>
            <a:off x="9006840" y="3072384"/>
            <a:ext cx="2240280" cy="201168"/>
          </a:xfrm>
          <a:prstGeom prst="rect">
            <a:avLst/>
          </a:prstGeom>
          <a:noFill/>
          <a:ln/>
        </p:spPr>
        <p:txBody>
          <a:bodyPr wrap="square" lIns="0" tIns="0" rIns="0" bIns="0" rtlCol="0" anchor="ctr">
            <a:normAutofit/>
          </a:bodyPr>
          <a:lstStyle/>
          <a:p>
            <a:pPr algn="r" indent="0" marL="0">
              <a:buNone/>
            </a:pPr>
            <a:r>
              <a:rPr lang="en-US" sz="850" dirty="0">
                <a:solidFill>
                  <a:srgbClr val="526477"/>
                </a:solidFill>
                <a:latin typeface="Arial" pitchFamily="34" charset="0"/>
                <a:ea typeface="Arial" pitchFamily="34" charset="-122"/>
                <a:cs typeface="Arial" pitchFamily="34" charset="-120"/>
              </a:rPr>
              <a:t>arXiv:2403.07815</a:t>
            </a:r>
            <a:endParaRPr lang="en-US" sz="850" dirty="0"/>
          </a:p>
        </p:txBody>
      </p:sp>
      <p:sp>
        <p:nvSpPr>
          <p:cNvPr id="16" name="Shape 14"/>
          <p:cNvSpPr/>
          <p:nvPr/>
        </p:nvSpPr>
        <p:spPr>
          <a:xfrm>
            <a:off x="658368" y="3739896"/>
            <a:ext cx="10835640" cy="621792"/>
          </a:xfrm>
          <a:prstGeom prst="roundRect">
            <a:avLst>
              <a:gd name="adj" fmla="val 7353"/>
            </a:avLst>
          </a:prstGeom>
          <a:solidFill>
            <a:srgbClr val="EDF4F7"/>
          </a:solidFill>
          <a:ln w="12700">
            <a:solidFill>
              <a:srgbClr val="D7E1E7"/>
            </a:solidFill>
            <a:prstDash val="solid"/>
          </a:ln>
        </p:spPr>
      </p:sp>
      <p:sp>
        <p:nvSpPr>
          <p:cNvPr id="17" name="Text 15"/>
          <p:cNvSpPr/>
          <p:nvPr/>
        </p:nvSpPr>
        <p:spPr>
          <a:xfrm>
            <a:off x="896112" y="3867912"/>
            <a:ext cx="1234440" cy="201168"/>
          </a:xfrm>
          <a:prstGeom prst="rect">
            <a:avLst/>
          </a:prstGeom>
          <a:noFill/>
          <a:ln/>
        </p:spPr>
        <p:txBody>
          <a:bodyPr wrap="square" lIns="0" tIns="0" rIns="0" bIns="0" rtlCol="0" anchor="ctr"/>
          <a:lstStyle/>
          <a:p>
            <a:pPr indent="0" marL="0">
              <a:buNone/>
            </a:pPr>
            <a:r>
              <a:rPr lang="en-US" sz="1100" b="1" dirty="0">
                <a:solidFill>
                  <a:srgbClr val="E76F51"/>
                </a:solidFill>
                <a:latin typeface="Arial" pitchFamily="34" charset="0"/>
                <a:ea typeface="Arial" pitchFamily="34" charset="-122"/>
                <a:cs typeface="Arial" pitchFamily="34" charset="-120"/>
              </a:rPr>
              <a:t>OhioT1DM</a:t>
            </a:r>
            <a:endParaRPr lang="en-US" sz="1100" dirty="0"/>
          </a:p>
        </p:txBody>
      </p:sp>
      <p:sp>
        <p:nvSpPr>
          <p:cNvPr id="18" name="Text 16"/>
          <p:cNvSpPr/>
          <p:nvPr/>
        </p:nvSpPr>
        <p:spPr>
          <a:xfrm>
            <a:off x="2148840" y="3831336"/>
            <a:ext cx="6720840" cy="320040"/>
          </a:xfrm>
          <a:prstGeom prst="rect">
            <a:avLst/>
          </a:prstGeom>
          <a:noFill/>
          <a:ln/>
        </p:spPr>
        <p:txBody>
          <a:bodyPr wrap="square" lIns="0" tIns="0" rIns="0" bIns="0" rtlCol="0" anchor="ctr">
            <a:normAutofit/>
          </a:bodyPr>
          <a:lstStyle/>
          <a:p>
            <a:pPr indent="0" marL="0">
              <a:buNone/>
            </a:pPr>
            <a:r>
              <a:rPr lang="en-US" sz="950" dirty="0">
                <a:solidFill>
                  <a:srgbClr val="334155"/>
                </a:solidFill>
                <a:latin typeface="Arial" pitchFamily="34" charset="0"/>
                <a:ea typeface="Arial" pitchFamily="34" charset="-122"/>
                <a:cs typeface="Arial" pitchFamily="34" charset="-120"/>
              </a:rPr>
              <a:t>C. Marling and R. Bunescu, The OhioT1DM Dataset for Blood Glucose Level Prediction: Update 2020.</a:t>
            </a:r>
            <a:endParaRPr lang="en-US" sz="950" dirty="0"/>
          </a:p>
        </p:txBody>
      </p:sp>
      <p:sp>
        <p:nvSpPr>
          <p:cNvPr id="19" name="Text 17"/>
          <p:cNvSpPr/>
          <p:nvPr/>
        </p:nvSpPr>
        <p:spPr>
          <a:xfrm>
            <a:off x="9006840" y="3867912"/>
            <a:ext cx="2240280" cy="201168"/>
          </a:xfrm>
          <a:prstGeom prst="rect">
            <a:avLst/>
          </a:prstGeom>
          <a:noFill/>
          <a:ln/>
        </p:spPr>
        <p:txBody>
          <a:bodyPr wrap="square" lIns="0" tIns="0" rIns="0" bIns="0" rtlCol="0" anchor="ctr">
            <a:normAutofit/>
          </a:bodyPr>
          <a:lstStyle/>
          <a:p>
            <a:pPr algn="r" indent="0" marL="0">
              <a:buNone/>
            </a:pPr>
            <a:r>
              <a:rPr lang="en-US" sz="850" dirty="0">
                <a:solidFill>
                  <a:srgbClr val="526477"/>
                </a:solidFill>
                <a:latin typeface="Arial" pitchFamily="34" charset="0"/>
                <a:ea typeface="Arial" pitchFamily="34" charset="-122"/>
                <a:cs typeface="Arial" pitchFamily="34" charset="-120"/>
              </a:rPr>
              <a:t>CEUR-WS Vol. 2675</a:t>
            </a:r>
            <a:endParaRPr lang="en-US" sz="850" dirty="0"/>
          </a:p>
        </p:txBody>
      </p:sp>
      <p:sp>
        <p:nvSpPr>
          <p:cNvPr id="20" name="Shape 18"/>
          <p:cNvSpPr/>
          <p:nvPr/>
        </p:nvSpPr>
        <p:spPr>
          <a:xfrm>
            <a:off x="658368" y="4535424"/>
            <a:ext cx="10835640" cy="621792"/>
          </a:xfrm>
          <a:prstGeom prst="roundRect">
            <a:avLst>
              <a:gd name="adj" fmla="val 7353"/>
            </a:avLst>
          </a:prstGeom>
          <a:solidFill>
            <a:srgbClr val="FFFFFF"/>
          </a:solidFill>
          <a:ln w="12700">
            <a:solidFill>
              <a:srgbClr val="D7E1E7"/>
            </a:solidFill>
            <a:prstDash val="solid"/>
          </a:ln>
        </p:spPr>
      </p:sp>
      <p:sp>
        <p:nvSpPr>
          <p:cNvPr id="21" name="Text 19"/>
          <p:cNvSpPr/>
          <p:nvPr/>
        </p:nvSpPr>
        <p:spPr>
          <a:xfrm>
            <a:off x="896112" y="4663440"/>
            <a:ext cx="1234440" cy="201168"/>
          </a:xfrm>
          <a:prstGeom prst="rect">
            <a:avLst/>
          </a:prstGeom>
          <a:noFill/>
          <a:ln/>
        </p:spPr>
        <p:txBody>
          <a:bodyPr wrap="square" lIns="0" tIns="0" rIns="0" bIns="0" rtlCol="0" anchor="ctr"/>
          <a:lstStyle/>
          <a:p>
            <a:pPr indent="0" marL="0">
              <a:buNone/>
            </a:pPr>
            <a:r>
              <a:rPr lang="en-US" sz="1100" b="1" dirty="0">
                <a:solidFill>
                  <a:srgbClr val="E76F51"/>
                </a:solidFill>
                <a:latin typeface="Arial" pitchFamily="34" charset="0"/>
                <a:ea typeface="Arial" pitchFamily="34" charset="-122"/>
                <a:cs typeface="Arial" pitchFamily="34" charset="-120"/>
              </a:rPr>
              <a:t>D1NAMO</a:t>
            </a:r>
            <a:endParaRPr lang="en-US" sz="1100" dirty="0"/>
          </a:p>
        </p:txBody>
      </p:sp>
      <p:sp>
        <p:nvSpPr>
          <p:cNvPr id="22" name="Text 20"/>
          <p:cNvSpPr/>
          <p:nvPr/>
        </p:nvSpPr>
        <p:spPr>
          <a:xfrm>
            <a:off x="2148840" y="4626864"/>
            <a:ext cx="6720840" cy="320040"/>
          </a:xfrm>
          <a:prstGeom prst="rect">
            <a:avLst/>
          </a:prstGeom>
          <a:noFill/>
          <a:ln/>
        </p:spPr>
        <p:txBody>
          <a:bodyPr wrap="square" lIns="0" tIns="0" rIns="0" bIns="0" rtlCol="0" anchor="ctr">
            <a:normAutofit/>
          </a:bodyPr>
          <a:lstStyle/>
          <a:p>
            <a:pPr indent="0" marL="0">
              <a:buNone/>
            </a:pPr>
            <a:r>
              <a:rPr lang="en-US" sz="950" dirty="0">
                <a:solidFill>
                  <a:srgbClr val="334155"/>
                </a:solidFill>
                <a:latin typeface="Arial" pitchFamily="34" charset="0"/>
                <a:ea typeface="Arial" pitchFamily="34" charset="-122"/>
                <a:cs typeface="Arial" pitchFamily="34" charset="-120"/>
              </a:rPr>
              <a:t>F. Dubosson et al., The D1NAMO dataset: a multi-modal dataset for research on non-invasive type 1 diabetes management.</a:t>
            </a:r>
            <a:endParaRPr lang="en-US" sz="950" dirty="0"/>
          </a:p>
        </p:txBody>
      </p:sp>
      <p:sp>
        <p:nvSpPr>
          <p:cNvPr id="23" name="Text 21"/>
          <p:cNvSpPr/>
          <p:nvPr/>
        </p:nvSpPr>
        <p:spPr>
          <a:xfrm>
            <a:off x="9006840" y="4663440"/>
            <a:ext cx="2240280" cy="201168"/>
          </a:xfrm>
          <a:prstGeom prst="rect">
            <a:avLst/>
          </a:prstGeom>
          <a:noFill/>
          <a:ln/>
        </p:spPr>
        <p:txBody>
          <a:bodyPr wrap="square" lIns="0" tIns="0" rIns="0" bIns="0" rtlCol="0" anchor="ctr">
            <a:normAutofit/>
          </a:bodyPr>
          <a:lstStyle/>
          <a:p>
            <a:pPr algn="r" indent="0" marL="0">
              <a:buNone/>
            </a:pPr>
            <a:r>
              <a:rPr lang="en-US" sz="850" dirty="0">
                <a:solidFill>
                  <a:srgbClr val="526477"/>
                </a:solidFill>
                <a:latin typeface="Arial" pitchFamily="34" charset="0"/>
                <a:ea typeface="Arial" pitchFamily="34" charset="-122"/>
                <a:cs typeface="Arial" pitchFamily="34" charset="-120"/>
              </a:rPr>
              <a:t>Informatics in Medicine Unlocked, 2018</a:t>
            </a:r>
            <a:endParaRPr lang="en-US" sz="850" dirty="0"/>
          </a:p>
        </p:txBody>
      </p:sp>
      <p:sp>
        <p:nvSpPr>
          <p:cNvPr id="24" name="Shape 22"/>
          <p:cNvSpPr/>
          <p:nvPr/>
        </p:nvSpPr>
        <p:spPr>
          <a:xfrm>
            <a:off x="658368" y="5330952"/>
            <a:ext cx="10835640" cy="621792"/>
          </a:xfrm>
          <a:prstGeom prst="roundRect">
            <a:avLst>
              <a:gd name="adj" fmla="val 7353"/>
            </a:avLst>
          </a:prstGeom>
          <a:solidFill>
            <a:srgbClr val="EDF4F7"/>
          </a:solidFill>
          <a:ln w="12700">
            <a:solidFill>
              <a:srgbClr val="D7E1E7"/>
            </a:solidFill>
            <a:prstDash val="solid"/>
          </a:ln>
        </p:spPr>
      </p:sp>
      <p:sp>
        <p:nvSpPr>
          <p:cNvPr id="25" name="Text 23"/>
          <p:cNvSpPr/>
          <p:nvPr/>
        </p:nvSpPr>
        <p:spPr>
          <a:xfrm>
            <a:off x="896112" y="5458968"/>
            <a:ext cx="1234440" cy="201168"/>
          </a:xfrm>
          <a:prstGeom prst="rect">
            <a:avLst/>
          </a:prstGeom>
          <a:noFill/>
          <a:ln/>
        </p:spPr>
        <p:txBody>
          <a:bodyPr wrap="square" lIns="0" tIns="0" rIns="0" bIns="0" rtlCol="0" anchor="ctr"/>
          <a:lstStyle/>
          <a:p>
            <a:pPr indent="0" marL="0">
              <a:buNone/>
            </a:pPr>
            <a:r>
              <a:rPr lang="en-US" sz="1100" b="1" dirty="0">
                <a:solidFill>
                  <a:srgbClr val="E76F51"/>
                </a:solidFill>
                <a:latin typeface="Arial" pitchFamily="34" charset="0"/>
                <a:ea typeface="Arial" pitchFamily="34" charset="-122"/>
                <a:cs typeface="Arial" pitchFamily="34" charset="-120"/>
              </a:rPr>
              <a:t>Code</a:t>
            </a:r>
            <a:endParaRPr lang="en-US" sz="1100" dirty="0"/>
          </a:p>
        </p:txBody>
      </p:sp>
      <p:sp>
        <p:nvSpPr>
          <p:cNvPr id="26" name="Text 24"/>
          <p:cNvSpPr/>
          <p:nvPr/>
        </p:nvSpPr>
        <p:spPr>
          <a:xfrm>
            <a:off x="2148840" y="5422392"/>
            <a:ext cx="6720840" cy="320040"/>
          </a:xfrm>
          <a:prstGeom prst="rect">
            <a:avLst/>
          </a:prstGeom>
          <a:noFill/>
          <a:ln/>
        </p:spPr>
        <p:txBody>
          <a:bodyPr wrap="square" lIns="0" tIns="0" rIns="0" bIns="0" rtlCol="0" anchor="ctr">
            <a:normAutofit/>
          </a:bodyPr>
          <a:lstStyle/>
          <a:p>
            <a:pPr indent="0" marL="0">
              <a:buNone/>
            </a:pPr>
            <a:r>
              <a:rPr lang="en-US" sz="950" dirty="0">
                <a:solidFill>
                  <a:srgbClr val="334155"/>
                </a:solidFill>
                <a:latin typeface="Arial" pitchFamily="34" charset="0"/>
                <a:ea typeface="Arial" pitchFamily="34" charset="-122"/>
                <a:cs typeface="Arial" pitchFamily="34" charset="-120"/>
              </a:rPr>
              <a:t>Official DiabLLM implementation and experiment pipeline.</a:t>
            </a:r>
            <a:endParaRPr lang="en-US" sz="950" dirty="0"/>
          </a:p>
        </p:txBody>
      </p:sp>
      <p:sp>
        <p:nvSpPr>
          <p:cNvPr id="27" name="Text 25"/>
          <p:cNvSpPr/>
          <p:nvPr/>
        </p:nvSpPr>
        <p:spPr>
          <a:xfrm>
            <a:off x="9006840" y="5458968"/>
            <a:ext cx="2240280" cy="201168"/>
          </a:xfrm>
          <a:prstGeom prst="rect">
            <a:avLst/>
          </a:prstGeom>
          <a:noFill/>
          <a:ln/>
        </p:spPr>
        <p:txBody>
          <a:bodyPr wrap="square" lIns="0" tIns="0" rIns="0" bIns="0" rtlCol="0" anchor="ctr">
            <a:normAutofit/>
          </a:bodyPr>
          <a:lstStyle/>
          <a:p>
            <a:pPr algn="r" indent="0" marL="0">
              <a:buNone/>
            </a:pPr>
            <a:r>
              <a:rPr lang="en-US" sz="850" dirty="0">
                <a:solidFill>
                  <a:srgbClr val="526477"/>
                </a:solidFill>
                <a:latin typeface="Arial" pitchFamily="34" charset="0"/>
                <a:ea typeface="Arial" pitchFamily="34" charset="-122"/>
                <a:cs typeface="Arial" pitchFamily="34" charset="-120"/>
              </a:rPr>
              <a:t>github.com/ammahmoudi/diab-llm</a:t>
            </a:r>
            <a:endParaRPr lang="en-US" sz="850" dirty="0"/>
          </a:p>
        </p:txBody>
      </p:sp>
      <p:sp>
        <p:nvSpPr>
          <p:cNvPr id="28" name="Shape 26"/>
          <p:cNvSpPr/>
          <p:nvPr/>
        </p:nvSpPr>
        <p:spPr>
          <a:xfrm>
            <a:off x="3611880" y="6144768"/>
            <a:ext cx="4937760" cy="365760"/>
          </a:xfrm>
          <a:prstGeom prst="roundRect">
            <a:avLst>
              <a:gd name="adj" fmla="val 15000"/>
            </a:avLst>
          </a:prstGeom>
          <a:solidFill>
            <a:srgbClr val="0B1F33"/>
          </a:solidFill>
          <a:ln w="12700">
            <a:solidFill>
              <a:srgbClr val="0B1F33"/>
            </a:solidFill>
            <a:prstDash val="solid"/>
          </a:ln>
        </p:spPr>
      </p:sp>
      <p:sp>
        <p:nvSpPr>
          <p:cNvPr id="29" name="Text 27"/>
          <p:cNvSpPr/>
          <p:nvPr/>
        </p:nvSpPr>
        <p:spPr>
          <a:xfrm>
            <a:off x="4800600" y="6217920"/>
            <a:ext cx="2560320" cy="1828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Questions?</a:t>
            </a:r>
            <a:endParaRPr lang="en-US" sz="1500" dirty="0"/>
          </a:p>
        </p:txBody>
      </p:sp>
      <p:sp>
        <p:nvSpPr>
          <p:cNvPr id="25" name="Slide Number Placeholder 0"/>
          <p:cNvSpPr>
            <a:spLocks noGrp="1"/>
          </p:cNvSpPr>
          <p:nvPr>
            <p:ph type="sldNum" sz="quarter" idx="4294967295"/>
          </p:nvPr>
        </p:nvSpPr>
        <p:spPr>
          <a:xfrm>
            <a:off x="11686032" y="20116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Sharif University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DiabLLM: An LLM-Based Framework for Blood Glucose Prediction in Type 1 Diabetes</dc:title>
  <dc:subject>DiabLLM paper presentation</dc:subject>
  <dc:creator>Amirhossein Mahmoudi</dc:creator>
  <cp:lastModifiedBy>Amirhossein Mahmoudi</cp:lastModifiedBy>
  <cp:revision>1</cp:revision>
  <dcterms:created xsi:type="dcterms:W3CDTF">2026-08-13T10:24:27Z</dcterms:created>
  <dcterms:modified xsi:type="dcterms:W3CDTF">2026-08-13T10:24:27Z</dcterms:modified>
</cp:coreProperties>
</file>